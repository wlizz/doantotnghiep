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71" r:id="rId8"/>
    <p:sldId id="272" r:id="rId9"/>
    <p:sldId id="273" r:id="rId10"/>
    <p:sldId id="270" r:id="rId11"/>
    <p:sldId id="262" r:id="rId12"/>
    <p:sldId id="269" r:id="rId13"/>
    <p:sldId id="263" r:id="rId14"/>
    <p:sldId id="274" r:id="rId15"/>
    <p:sldId id="276" r:id="rId16"/>
    <p:sldId id="275" r:id="rId17"/>
    <p:sldId id="264" r:id="rId18"/>
    <p:sldId id="265" r:id="rId19"/>
    <p:sldId id="266" r:id="rId20"/>
    <p:sldId id="277" r:id="rId21"/>
    <p:sldId id="280" r:id="rId22"/>
    <p:sldId id="267" r:id="rId23"/>
    <p:sldId id="278" r:id="rId24"/>
    <p:sldId id="268" r:id="rId25"/>
    <p:sldId id="279"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9063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80517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49564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26058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12269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01795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462797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358159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49640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559446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525914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8950028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347438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pic>
        <p:nvPicPr>
          <p:cNvPr id="14" name="Google Shape;472;p1">
            <a:extLst>
              <a:ext uri="{FF2B5EF4-FFF2-40B4-BE49-F238E27FC236}">
                <a16:creationId xmlns:a16="http://schemas.microsoft.com/office/drawing/2014/main" id="{862C2E0B-BC1D-B339-1192-A6003491AA39}"/>
              </a:ext>
            </a:extLst>
          </p:cNvPr>
          <p:cNvPicPr preferRelativeResize="0"/>
          <p:nvPr/>
        </p:nvPicPr>
        <p:blipFill rotWithShape="1">
          <a:blip r:embed="rId3">
            <a:alphaModFix/>
          </a:blip>
          <a:srcRect/>
          <a:stretch/>
        </p:blipFill>
        <p:spPr>
          <a:xfrm>
            <a:off x="7655442" y="274320"/>
            <a:ext cx="1209276" cy="1097280"/>
          </a:xfrm>
          <a:prstGeom prst="rect">
            <a:avLst/>
          </a:prstGeom>
          <a:noFill/>
          <a:ln>
            <a:noFill/>
          </a:ln>
        </p:spPr>
      </p:pic>
      <p:sp>
        <p:nvSpPr>
          <p:cNvPr id="6" name="Text 4"/>
          <p:cNvSpPr/>
          <p:nvPr/>
        </p:nvSpPr>
        <p:spPr>
          <a:xfrm>
            <a:off x="365760" y="749808"/>
            <a:ext cx="8412480" cy="640080"/>
          </a:xfrm>
          <a:prstGeom prst="rect">
            <a:avLst/>
          </a:prstGeom>
          <a:noFill/>
          <a:ln/>
        </p:spPr>
        <p:txBody>
          <a:bodyPr wrap="square" rtlCol="0" anchor="ctr"/>
          <a:lstStyle/>
          <a:p>
            <a:pPr marL="0" indent="0" algn="l">
              <a:buNone/>
            </a:pPr>
            <a:r>
              <a:rPr lang="en-US" sz="4000" b="1">
                <a:solidFill>
                  <a:srgbClr val="FFFFFF"/>
                </a:solidFill>
              </a:rPr>
              <a:t>XÂY DỰNG HỆ THỐNG WEBSITE</a:t>
            </a:r>
            <a:endParaRPr lang="en-US" sz="4000"/>
          </a:p>
        </p:txBody>
      </p:sp>
      <p:sp>
        <p:nvSpPr>
          <p:cNvPr id="2" name="Shape 0"/>
          <p:cNvSpPr/>
          <p:nvPr/>
        </p:nvSpPr>
        <p:spPr>
          <a:xfrm>
            <a:off x="0" y="0"/>
            <a:ext cx="164592" cy="5143500"/>
          </a:xfrm>
          <a:prstGeom prst="rect">
            <a:avLst/>
          </a:prstGeom>
          <a:solidFill>
            <a:srgbClr val="0D9488"/>
          </a:solidFill>
          <a:ln/>
        </p:spPr>
      </p:sp>
      <p:sp>
        <p:nvSpPr>
          <p:cNvPr id="5" name="Text 3"/>
          <p:cNvSpPr/>
          <p:nvPr/>
        </p:nvSpPr>
        <p:spPr>
          <a:xfrm>
            <a:off x="365760" y="141732"/>
            <a:ext cx="6190984" cy="576072"/>
          </a:xfrm>
          <a:prstGeom prst="rect">
            <a:avLst/>
          </a:prstGeom>
          <a:noFill/>
          <a:ln/>
        </p:spPr>
        <p:txBody>
          <a:bodyPr wrap="square" rtlCol="0" anchor="ctr"/>
          <a:lstStyle/>
          <a:p>
            <a:pPr marL="0" indent="0" algn="ctr">
              <a:buNone/>
            </a:pPr>
            <a:r>
              <a:rPr lang="en-US" sz="1400" b="1" kern="0" spc="200" err="1">
                <a:solidFill>
                  <a:schemeClr val="bg1"/>
                </a:solidFill>
              </a:rPr>
              <a:t>ĐẠI</a:t>
            </a:r>
            <a:r>
              <a:rPr lang="en-US" sz="1400" b="1" kern="0" spc="200">
                <a:solidFill>
                  <a:schemeClr val="bg1"/>
                </a:solidFill>
              </a:rPr>
              <a:t> HỌC CÔNG NGHIỆP HÀ </a:t>
            </a:r>
            <a:r>
              <a:rPr lang="en-US" sz="1400" b="1" kern="0" spc="200" err="1">
                <a:solidFill>
                  <a:schemeClr val="bg1"/>
                </a:solidFill>
              </a:rPr>
              <a:t>NỘI</a:t>
            </a:r>
            <a:endParaRPr lang="en-US" sz="1400" b="1" kern="0" spc="200">
              <a:solidFill>
                <a:schemeClr val="bg1"/>
              </a:solidFill>
            </a:endParaRPr>
          </a:p>
          <a:p>
            <a:r>
              <a:rPr lang="en-US" sz="1400">
                <a:solidFill>
                  <a:schemeClr val="bg1"/>
                </a:solidFill>
                <a:latin typeface="Cambria" panose="02040503050406030204" pitchFamily="18" charset="0"/>
                <a:ea typeface="Cambria" panose="02040503050406030204" pitchFamily="18" charset="0"/>
              </a:rPr>
              <a:t>	</a:t>
            </a:r>
            <a:r>
              <a:rPr lang="en-US" sz="1400" b="1" err="1">
                <a:solidFill>
                  <a:schemeClr val="bg1"/>
                </a:solidFill>
                <a:ea typeface="Cambria" panose="02040503050406030204" pitchFamily="18" charset="0"/>
              </a:rPr>
              <a:t>TRƯỜNG</a:t>
            </a:r>
            <a:r>
              <a:rPr lang="en-US" sz="1400" b="1">
                <a:solidFill>
                  <a:schemeClr val="bg1"/>
                </a:solidFill>
                <a:ea typeface="Cambria" panose="02040503050406030204" pitchFamily="18" charset="0"/>
              </a:rPr>
              <a:t> </a:t>
            </a:r>
            <a:r>
              <a:rPr lang="en-US" sz="1400" b="1" err="1">
                <a:solidFill>
                  <a:schemeClr val="bg1"/>
                </a:solidFill>
                <a:ea typeface="Cambria" panose="02040503050406030204" pitchFamily="18" charset="0"/>
              </a:rPr>
              <a:t>CÔNG</a:t>
            </a:r>
            <a:r>
              <a:rPr lang="en-US" sz="1400" b="1">
                <a:solidFill>
                  <a:schemeClr val="bg1"/>
                </a:solidFill>
                <a:ea typeface="Cambria" panose="02040503050406030204" pitchFamily="18" charset="0"/>
              </a:rPr>
              <a:t> </a:t>
            </a:r>
            <a:r>
              <a:rPr lang="en-US" sz="1400" b="1" err="1">
                <a:solidFill>
                  <a:schemeClr val="bg1"/>
                </a:solidFill>
                <a:ea typeface="Cambria" panose="02040503050406030204" pitchFamily="18" charset="0"/>
              </a:rPr>
              <a:t>NGHỆ</a:t>
            </a:r>
            <a:r>
              <a:rPr lang="en-US" sz="1400" b="1">
                <a:solidFill>
                  <a:schemeClr val="bg1"/>
                </a:solidFill>
                <a:ea typeface="Cambria" panose="02040503050406030204" pitchFamily="18" charset="0"/>
              </a:rPr>
              <a:t> THÔNG TIN </a:t>
            </a:r>
            <a:r>
              <a:rPr lang="en-US" sz="1400" b="1" err="1">
                <a:solidFill>
                  <a:schemeClr val="bg1"/>
                </a:solidFill>
                <a:ea typeface="Cambria" panose="02040503050406030204" pitchFamily="18" charset="0"/>
              </a:rPr>
              <a:t>VÀ</a:t>
            </a:r>
            <a:r>
              <a:rPr lang="en-US" sz="1400" b="1">
                <a:solidFill>
                  <a:schemeClr val="bg1"/>
                </a:solidFill>
                <a:ea typeface="Cambria" panose="02040503050406030204" pitchFamily="18" charset="0"/>
              </a:rPr>
              <a:t> </a:t>
            </a:r>
            <a:r>
              <a:rPr lang="en-US" sz="1400" b="1" err="1">
                <a:solidFill>
                  <a:schemeClr val="bg1"/>
                </a:solidFill>
                <a:ea typeface="Cambria" panose="02040503050406030204" pitchFamily="18" charset="0"/>
              </a:rPr>
              <a:t>TRUYỀN</a:t>
            </a:r>
            <a:r>
              <a:rPr lang="en-US" sz="1400" b="1">
                <a:solidFill>
                  <a:schemeClr val="bg1"/>
                </a:solidFill>
                <a:ea typeface="Cambria" panose="02040503050406030204" pitchFamily="18" charset="0"/>
              </a:rPr>
              <a:t> THÔNG</a:t>
            </a:r>
          </a:p>
        </p:txBody>
      </p:sp>
      <p:sp>
        <p:nvSpPr>
          <p:cNvPr id="7" name="Text 5"/>
          <p:cNvSpPr/>
          <p:nvPr/>
        </p:nvSpPr>
        <p:spPr>
          <a:xfrm>
            <a:off x="365760" y="1335024"/>
            <a:ext cx="8412480" cy="548640"/>
          </a:xfrm>
          <a:prstGeom prst="rect">
            <a:avLst/>
          </a:prstGeom>
          <a:noFill/>
          <a:ln/>
        </p:spPr>
        <p:txBody>
          <a:bodyPr wrap="square" rtlCol="0" anchor="ctr"/>
          <a:lstStyle/>
          <a:p>
            <a:pPr marL="0" indent="0" algn="l">
              <a:buNone/>
            </a:pPr>
            <a:r>
              <a:rPr lang="en-US" sz="4000" b="1">
                <a:solidFill>
                  <a:srgbClr val="FFFFFF"/>
                </a:solidFill>
              </a:rPr>
              <a:t>THƯƠNG MẠI ĐIỆN TỬ</a:t>
            </a:r>
            <a:endParaRPr lang="en-US" sz="4000"/>
          </a:p>
        </p:txBody>
      </p:sp>
      <p:sp>
        <p:nvSpPr>
          <p:cNvPr id="8" name="Text 6"/>
          <p:cNvSpPr/>
          <p:nvPr/>
        </p:nvSpPr>
        <p:spPr>
          <a:xfrm>
            <a:off x="365760" y="1847088"/>
            <a:ext cx="8412480" cy="548640"/>
          </a:xfrm>
          <a:prstGeom prst="rect">
            <a:avLst/>
          </a:prstGeom>
          <a:noFill/>
          <a:ln/>
        </p:spPr>
        <p:txBody>
          <a:bodyPr wrap="square" rtlCol="0" anchor="ctr"/>
          <a:lstStyle/>
          <a:p>
            <a:pPr marL="0" indent="0" algn="l">
              <a:buNone/>
            </a:pPr>
            <a:r>
              <a:rPr lang="en-US" sz="3600" b="1">
                <a:solidFill>
                  <a:schemeClr val="bg1"/>
                </a:solidFill>
              </a:rPr>
              <a:t>BÁN MÔ HÌNH GUNDAM &amp; FIGURE</a:t>
            </a:r>
            <a:endParaRPr lang="en-US" sz="3600">
              <a:solidFill>
                <a:schemeClr val="bg1"/>
              </a:solidFill>
            </a:endParaRPr>
          </a:p>
        </p:txBody>
      </p:sp>
      <p:sp>
        <p:nvSpPr>
          <p:cNvPr id="9" name="Text 7"/>
          <p:cNvSpPr/>
          <p:nvPr/>
        </p:nvSpPr>
        <p:spPr>
          <a:xfrm>
            <a:off x="365760" y="2359152"/>
            <a:ext cx="8412480" cy="411480"/>
          </a:xfrm>
          <a:prstGeom prst="rect">
            <a:avLst/>
          </a:prstGeom>
          <a:noFill/>
          <a:ln/>
        </p:spPr>
        <p:txBody>
          <a:bodyPr wrap="square" rtlCol="0" anchor="ctr"/>
          <a:lstStyle/>
          <a:p>
            <a:pPr marL="0" indent="0" algn="l">
              <a:buNone/>
            </a:pPr>
            <a:r>
              <a:rPr lang="en-US" sz="2400">
                <a:solidFill>
                  <a:schemeClr val="bg1"/>
                </a:solidFill>
              </a:rPr>
              <a:t>TÍCH HỢP GỢI Ý SẢN PHẨM THÔNG MINH</a:t>
            </a:r>
          </a:p>
        </p:txBody>
      </p:sp>
      <p:sp>
        <p:nvSpPr>
          <p:cNvPr id="10" name="Shape 8"/>
          <p:cNvSpPr/>
          <p:nvPr/>
        </p:nvSpPr>
        <p:spPr>
          <a:xfrm>
            <a:off x="365760" y="2926080"/>
            <a:ext cx="5029200" cy="36576"/>
          </a:xfrm>
          <a:prstGeom prst="rect">
            <a:avLst/>
          </a:prstGeom>
          <a:solidFill>
            <a:srgbClr val="0D9488"/>
          </a:solidFill>
          <a:ln/>
        </p:spPr>
      </p:sp>
      <p:sp>
        <p:nvSpPr>
          <p:cNvPr id="11" name="Text 9"/>
          <p:cNvSpPr/>
          <p:nvPr/>
        </p:nvSpPr>
        <p:spPr>
          <a:xfrm>
            <a:off x="365760" y="3090672"/>
            <a:ext cx="8229600" cy="320040"/>
          </a:xfrm>
          <a:prstGeom prst="rect">
            <a:avLst/>
          </a:prstGeom>
          <a:noFill/>
          <a:ln/>
        </p:spPr>
        <p:txBody>
          <a:bodyPr wrap="square" rtlCol="0" anchor="ctr"/>
          <a:lstStyle/>
          <a:p>
            <a:pPr marL="0" indent="0" algn="l">
              <a:buNone/>
            </a:pPr>
            <a:r>
              <a:rPr lang="en-US" sz="1300">
                <a:solidFill>
                  <a:srgbClr val="E2E8F0"/>
                </a:solidFill>
              </a:rPr>
              <a:t>Sinh viên: </a:t>
            </a:r>
            <a:r>
              <a:rPr lang="en-US" sz="1300" b="1">
                <a:solidFill>
                  <a:srgbClr val="FFFFFF"/>
                </a:solidFill>
              </a:rPr>
              <a:t>Nguyễn Công Nguyên</a:t>
            </a:r>
            <a:r>
              <a:rPr lang="en-US" sz="1300">
                <a:solidFill>
                  <a:srgbClr val="E2E8F0"/>
                </a:solidFill>
              </a:rPr>
              <a:t>   |   MSSV: </a:t>
            </a:r>
            <a:r>
              <a:rPr lang="en-US" sz="1300" b="1">
                <a:solidFill>
                  <a:srgbClr val="FFFFFF"/>
                </a:solidFill>
              </a:rPr>
              <a:t>2018605575</a:t>
            </a:r>
            <a:endParaRPr lang="en-US" sz="1300"/>
          </a:p>
        </p:txBody>
      </p:sp>
      <p:sp>
        <p:nvSpPr>
          <p:cNvPr id="12" name="Text 10"/>
          <p:cNvSpPr/>
          <p:nvPr/>
        </p:nvSpPr>
        <p:spPr>
          <a:xfrm>
            <a:off x="365760" y="3401568"/>
            <a:ext cx="8229600" cy="320040"/>
          </a:xfrm>
          <a:prstGeom prst="rect">
            <a:avLst/>
          </a:prstGeom>
          <a:noFill/>
          <a:ln/>
        </p:spPr>
        <p:txBody>
          <a:bodyPr wrap="square" rtlCol="0" anchor="ctr"/>
          <a:lstStyle/>
          <a:p>
            <a:pPr marL="0" indent="0" algn="l">
              <a:buNone/>
            </a:pPr>
            <a:r>
              <a:rPr lang="en-US" sz="1300">
                <a:solidFill>
                  <a:srgbClr val="E2E8F0"/>
                </a:solidFill>
              </a:rPr>
              <a:t>GVHD: </a:t>
            </a:r>
            <a:r>
              <a:rPr lang="en-US" sz="1300" b="1">
                <a:solidFill>
                  <a:srgbClr val="FFFFFF"/>
                </a:solidFill>
              </a:rPr>
              <a:t>TS. Phạm Đức Tĩnh</a:t>
            </a:r>
            <a:r>
              <a:rPr lang="en-US" sz="1300">
                <a:solidFill>
                  <a:srgbClr val="E2E8F0"/>
                </a:solidFill>
              </a:rPr>
              <a:t>   |   Hà Nội – 2026</a:t>
            </a:r>
            <a:endParaRPr lang="en-US" sz="1300"/>
          </a:p>
        </p:txBody>
      </p:sp>
      <p:sp>
        <p:nvSpPr>
          <p:cNvPr id="13" name="Text 11"/>
          <p:cNvSpPr/>
          <p:nvPr/>
        </p:nvSpPr>
        <p:spPr>
          <a:xfrm>
            <a:off x="365760" y="3840480"/>
            <a:ext cx="5486400" cy="274320"/>
          </a:xfrm>
          <a:prstGeom prst="rect">
            <a:avLst/>
          </a:prstGeom>
          <a:noFill/>
          <a:ln/>
        </p:spPr>
        <p:txBody>
          <a:bodyPr wrap="square" rtlCol="0" anchor="ctr"/>
          <a:lstStyle/>
          <a:p>
            <a:pPr marL="0" indent="0" algn="l">
              <a:buNone/>
            </a:pPr>
            <a:r>
              <a:rPr lang="en-US" sz="1100" kern="0" spc="100">
                <a:solidFill>
                  <a:srgbClr val="64748B"/>
                </a:solidFill>
              </a:rPr>
              <a:t>NGÀNH CÔNG NGHỆ THÔNG TIN</a:t>
            </a:r>
            <a:endParaRPr lang="en-US"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137160"/>
            <a:ext cx="8229600" cy="640080"/>
          </a:xfrm>
          <a:prstGeom prst="rect">
            <a:avLst/>
          </a:prstGeom>
          <a:noFill/>
          <a:ln/>
        </p:spPr>
        <p:txBody>
          <a:bodyPr wrap="square" rtlCol="0" anchor="ctr"/>
          <a:lstStyle/>
          <a:p>
            <a:pPr marL="0" indent="0" algn="l">
              <a:buNone/>
            </a:pPr>
            <a:r>
              <a:rPr lang="en-US" sz="2600" b="1">
                <a:solidFill>
                  <a:srgbClr val="FFFFFF"/>
                </a:solidFill>
              </a:rPr>
              <a:t>NỘI DUNG TRÌNH BÀY</a:t>
            </a:r>
            <a:endParaRPr lang="en-US" sz="2600"/>
          </a:p>
        </p:txBody>
      </p:sp>
      <p:sp>
        <p:nvSpPr>
          <p:cNvPr id="4" name="Shape 2"/>
          <p:cNvSpPr/>
          <p:nvPr/>
        </p:nvSpPr>
        <p:spPr>
          <a:xfrm>
            <a:off x="274320" y="1078992"/>
            <a:ext cx="4114800" cy="169164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5" name="Shape 3"/>
          <p:cNvSpPr/>
          <p:nvPr/>
        </p:nvSpPr>
        <p:spPr>
          <a:xfrm>
            <a:off x="274320" y="1078992"/>
            <a:ext cx="73152" cy="1691640"/>
          </a:xfrm>
          <a:prstGeom prst="rect">
            <a:avLst/>
          </a:prstGeom>
          <a:solidFill>
            <a:srgbClr val="0D9488"/>
          </a:solidFill>
          <a:ln/>
        </p:spPr>
      </p:sp>
      <p:sp>
        <p:nvSpPr>
          <p:cNvPr id="6" name="Text 4"/>
          <p:cNvSpPr/>
          <p:nvPr/>
        </p:nvSpPr>
        <p:spPr>
          <a:xfrm>
            <a:off x="438912" y="1188720"/>
            <a:ext cx="731520" cy="502920"/>
          </a:xfrm>
          <a:prstGeom prst="rect">
            <a:avLst/>
          </a:prstGeom>
          <a:noFill/>
          <a:ln/>
        </p:spPr>
        <p:txBody>
          <a:bodyPr wrap="square" rtlCol="0" anchor="ctr"/>
          <a:lstStyle/>
          <a:p>
            <a:pPr marL="0" indent="0" algn="l">
              <a:buNone/>
            </a:pPr>
            <a:r>
              <a:rPr lang="en-US" sz="3000" b="1">
                <a:solidFill>
                  <a:srgbClr val="0D9488"/>
                </a:solidFill>
              </a:rPr>
              <a:t>01</a:t>
            </a:r>
            <a:endParaRPr lang="en-US" sz="3000"/>
          </a:p>
        </p:txBody>
      </p:sp>
      <p:sp>
        <p:nvSpPr>
          <p:cNvPr id="7" name="Text 5"/>
          <p:cNvSpPr/>
          <p:nvPr/>
        </p:nvSpPr>
        <p:spPr>
          <a:xfrm>
            <a:off x="438912" y="1627632"/>
            <a:ext cx="3749040" cy="384048"/>
          </a:xfrm>
          <a:prstGeom prst="rect">
            <a:avLst/>
          </a:prstGeom>
          <a:noFill/>
          <a:ln/>
        </p:spPr>
        <p:txBody>
          <a:bodyPr wrap="square" rtlCol="0" anchor="ctr"/>
          <a:lstStyle/>
          <a:p>
            <a:pPr marL="0" indent="0" algn="l">
              <a:buNone/>
            </a:pPr>
            <a:r>
              <a:rPr lang="en-US" sz="1500" b="1">
                <a:solidFill>
                  <a:srgbClr val="1E293B"/>
                </a:solidFill>
              </a:rPr>
              <a:t>Phần Mở Đầu</a:t>
            </a:r>
            <a:endParaRPr lang="en-US" sz="1500"/>
          </a:p>
        </p:txBody>
      </p:sp>
      <p:sp>
        <p:nvSpPr>
          <p:cNvPr id="8" name="Text 6"/>
          <p:cNvSpPr/>
          <p:nvPr/>
        </p:nvSpPr>
        <p:spPr>
          <a:xfrm>
            <a:off x="438912" y="2011680"/>
            <a:ext cx="3749040" cy="594360"/>
          </a:xfrm>
          <a:prstGeom prst="rect">
            <a:avLst/>
          </a:prstGeom>
          <a:noFill/>
          <a:ln/>
        </p:spPr>
        <p:txBody>
          <a:bodyPr wrap="square" rtlCol="0" anchor="ctr"/>
          <a:lstStyle/>
          <a:p>
            <a:pPr marL="0" indent="0" algn="l">
              <a:buNone/>
            </a:pPr>
            <a:r>
              <a:rPr lang="en-US" sz="1100">
                <a:solidFill>
                  <a:srgbClr val="64748B"/>
                </a:solidFill>
              </a:rPr>
              <a:t>Lý do chọn đề tài • Mục tiêu • Phạm vi</a:t>
            </a:r>
            <a:endParaRPr lang="en-US" sz="1100"/>
          </a:p>
        </p:txBody>
      </p:sp>
      <p:sp>
        <p:nvSpPr>
          <p:cNvPr id="9" name="Shape 7"/>
          <p:cNvSpPr/>
          <p:nvPr/>
        </p:nvSpPr>
        <p:spPr>
          <a:xfrm>
            <a:off x="4709160" y="1078992"/>
            <a:ext cx="4114800" cy="169164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10" name="Shape 8"/>
          <p:cNvSpPr/>
          <p:nvPr/>
        </p:nvSpPr>
        <p:spPr>
          <a:xfrm>
            <a:off x="4709160" y="1078992"/>
            <a:ext cx="73152" cy="1691640"/>
          </a:xfrm>
          <a:prstGeom prst="rect">
            <a:avLst/>
          </a:prstGeom>
          <a:solidFill>
            <a:srgbClr val="0D9488"/>
          </a:solidFill>
          <a:ln/>
        </p:spPr>
      </p:sp>
      <p:sp>
        <p:nvSpPr>
          <p:cNvPr id="11" name="Text 9"/>
          <p:cNvSpPr/>
          <p:nvPr/>
        </p:nvSpPr>
        <p:spPr>
          <a:xfrm>
            <a:off x="4873752" y="1188720"/>
            <a:ext cx="731520" cy="502920"/>
          </a:xfrm>
          <a:prstGeom prst="rect">
            <a:avLst/>
          </a:prstGeom>
          <a:noFill/>
          <a:ln/>
        </p:spPr>
        <p:txBody>
          <a:bodyPr wrap="square" rtlCol="0" anchor="ctr"/>
          <a:lstStyle/>
          <a:p>
            <a:pPr marL="0" indent="0" algn="l">
              <a:buNone/>
            </a:pPr>
            <a:r>
              <a:rPr lang="en-US" sz="3000" b="1">
                <a:solidFill>
                  <a:srgbClr val="0D9488"/>
                </a:solidFill>
              </a:rPr>
              <a:t>02</a:t>
            </a:r>
            <a:endParaRPr lang="en-US" sz="3000"/>
          </a:p>
        </p:txBody>
      </p:sp>
      <p:sp>
        <p:nvSpPr>
          <p:cNvPr id="12" name="Text 10"/>
          <p:cNvSpPr/>
          <p:nvPr/>
        </p:nvSpPr>
        <p:spPr>
          <a:xfrm>
            <a:off x="4873752" y="1627632"/>
            <a:ext cx="3749040" cy="384048"/>
          </a:xfrm>
          <a:prstGeom prst="rect">
            <a:avLst/>
          </a:prstGeom>
          <a:noFill/>
          <a:ln/>
        </p:spPr>
        <p:txBody>
          <a:bodyPr wrap="square" rtlCol="0" anchor="ctr"/>
          <a:lstStyle/>
          <a:p>
            <a:pPr marL="0" indent="0" algn="l">
              <a:buNone/>
            </a:pPr>
            <a:r>
              <a:rPr lang="en-US" sz="1500" b="1">
                <a:solidFill>
                  <a:srgbClr val="1E293B"/>
                </a:solidFill>
              </a:rPr>
              <a:t>Cơ Sở Lý Thuyết</a:t>
            </a:r>
            <a:endParaRPr lang="en-US" sz="1500"/>
          </a:p>
        </p:txBody>
      </p:sp>
      <p:sp>
        <p:nvSpPr>
          <p:cNvPr id="13" name="Text 11"/>
          <p:cNvSpPr/>
          <p:nvPr/>
        </p:nvSpPr>
        <p:spPr>
          <a:xfrm>
            <a:off x="4873752" y="2011680"/>
            <a:ext cx="3749040" cy="594360"/>
          </a:xfrm>
          <a:prstGeom prst="rect">
            <a:avLst/>
          </a:prstGeom>
          <a:noFill/>
          <a:ln/>
        </p:spPr>
        <p:txBody>
          <a:bodyPr wrap="square" rtlCol="0" anchor="ctr"/>
          <a:lstStyle/>
          <a:p>
            <a:pPr marL="0" indent="0" algn="l">
              <a:buNone/>
            </a:pPr>
            <a:r>
              <a:rPr lang="en-US" sz="1100">
                <a:solidFill>
                  <a:srgbClr val="64748B"/>
                </a:solidFill>
              </a:rPr>
              <a:t>HTML/CSS • ReactJS • NodeJS • MySQL • Chatbot</a:t>
            </a:r>
            <a:endParaRPr lang="en-US" sz="1100"/>
          </a:p>
        </p:txBody>
      </p:sp>
      <p:sp>
        <p:nvSpPr>
          <p:cNvPr id="14" name="Shape 12"/>
          <p:cNvSpPr/>
          <p:nvPr/>
        </p:nvSpPr>
        <p:spPr>
          <a:xfrm>
            <a:off x="274320" y="2999232"/>
            <a:ext cx="4114800" cy="169164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15" name="Shape 13"/>
          <p:cNvSpPr/>
          <p:nvPr/>
        </p:nvSpPr>
        <p:spPr>
          <a:xfrm>
            <a:off x="274320" y="2999232"/>
            <a:ext cx="73152" cy="1691640"/>
          </a:xfrm>
          <a:prstGeom prst="rect">
            <a:avLst/>
          </a:prstGeom>
          <a:solidFill>
            <a:srgbClr val="0D9488"/>
          </a:solidFill>
          <a:ln/>
        </p:spPr>
      </p:sp>
      <p:sp>
        <p:nvSpPr>
          <p:cNvPr id="16" name="Text 14"/>
          <p:cNvSpPr/>
          <p:nvPr/>
        </p:nvSpPr>
        <p:spPr>
          <a:xfrm>
            <a:off x="438912" y="3108960"/>
            <a:ext cx="731520" cy="502920"/>
          </a:xfrm>
          <a:prstGeom prst="rect">
            <a:avLst/>
          </a:prstGeom>
          <a:noFill/>
          <a:ln/>
        </p:spPr>
        <p:txBody>
          <a:bodyPr wrap="square" rtlCol="0" anchor="ctr"/>
          <a:lstStyle/>
          <a:p>
            <a:pPr marL="0" indent="0" algn="l">
              <a:buNone/>
            </a:pPr>
            <a:r>
              <a:rPr lang="en-US" sz="3000" b="1">
                <a:solidFill>
                  <a:srgbClr val="0D9488"/>
                </a:solidFill>
              </a:rPr>
              <a:t>03</a:t>
            </a:r>
            <a:endParaRPr lang="en-US" sz="3000"/>
          </a:p>
        </p:txBody>
      </p:sp>
      <p:sp>
        <p:nvSpPr>
          <p:cNvPr id="17" name="Text 15"/>
          <p:cNvSpPr/>
          <p:nvPr/>
        </p:nvSpPr>
        <p:spPr>
          <a:xfrm>
            <a:off x="438912" y="3547872"/>
            <a:ext cx="3749040" cy="384048"/>
          </a:xfrm>
          <a:prstGeom prst="rect">
            <a:avLst/>
          </a:prstGeom>
          <a:noFill/>
          <a:ln/>
        </p:spPr>
        <p:txBody>
          <a:bodyPr wrap="square" rtlCol="0" anchor="ctr"/>
          <a:lstStyle/>
          <a:p>
            <a:pPr marL="0" indent="0" algn="l">
              <a:buNone/>
            </a:pPr>
            <a:r>
              <a:rPr lang="en-US" sz="1500" b="1" err="1">
                <a:solidFill>
                  <a:srgbClr val="1E293B"/>
                </a:solidFill>
              </a:rPr>
              <a:t>Phân</a:t>
            </a:r>
            <a:r>
              <a:rPr lang="en-US" sz="1500" b="1">
                <a:solidFill>
                  <a:srgbClr val="1E293B"/>
                </a:solidFill>
              </a:rPr>
              <a:t> </a:t>
            </a:r>
            <a:r>
              <a:rPr lang="en-US" sz="1500" b="1" err="1">
                <a:solidFill>
                  <a:srgbClr val="1E293B"/>
                </a:solidFill>
              </a:rPr>
              <a:t>Tích</a:t>
            </a:r>
            <a:r>
              <a:rPr lang="en-US" sz="1500" b="1">
                <a:solidFill>
                  <a:srgbClr val="1E293B"/>
                </a:solidFill>
              </a:rPr>
              <a:t> </a:t>
            </a:r>
            <a:r>
              <a:rPr lang="en-US" sz="1500" b="1" err="1">
                <a:solidFill>
                  <a:srgbClr val="1E293B"/>
                </a:solidFill>
              </a:rPr>
              <a:t>Và</a:t>
            </a:r>
            <a:r>
              <a:rPr lang="en-US" sz="1500" b="1">
                <a:solidFill>
                  <a:srgbClr val="1E293B"/>
                </a:solidFill>
              </a:rPr>
              <a:t> </a:t>
            </a:r>
            <a:r>
              <a:rPr lang="en-US" sz="1500" b="1" err="1">
                <a:solidFill>
                  <a:srgbClr val="1E293B"/>
                </a:solidFill>
              </a:rPr>
              <a:t>Thiết</a:t>
            </a:r>
            <a:r>
              <a:rPr lang="en-US" sz="1500" b="1">
                <a:solidFill>
                  <a:srgbClr val="1E293B"/>
                </a:solidFill>
              </a:rPr>
              <a:t> </a:t>
            </a:r>
            <a:r>
              <a:rPr lang="en-US" sz="1500" b="1" err="1">
                <a:solidFill>
                  <a:srgbClr val="1E293B"/>
                </a:solidFill>
              </a:rPr>
              <a:t>Kế</a:t>
            </a:r>
            <a:r>
              <a:rPr lang="en-US" sz="1500" b="1">
                <a:solidFill>
                  <a:srgbClr val="1E293B"/>
                </a:solidFill>
              </a:rPr>
              <a:t> Hệ Thống</a:t>
            </a:r>
            <a:endParaRPr lang="en-US" sz="1500"/>
          </a:p>
        </p:txBody>
      </p:sp>
      <p:sp>
        <p:nvSpPr>
          <p:cNvPr id="18" name="Text 16"/>
          <p:cNvSpPr/>
          <p:nvPr/>
        </p:nvSpPr>
        <p:spPr>
          <a:xfrm>
            <a:off x="438912" y="3931920"/>
            <a:ext cx="3749040" cy="594360"/>
          </a:xfrm>
          <a:prstGeom prst="rect">
            <a:avLst/>
          </a:prstGeom>
          <a:noFill/>
          <a:ln/>
        </p:spPr>
        <p:txBody>
          <a:bodyPr wrap="square" rtlCol="0" anchor="ctr"/>
          <a:lstStyle/>
          <a:p>
            <a:pPr marL="0" indent="0" algn="l">
              <a:buNone/>
            </a:pPr>
            <a:r>
              <a:rPr lang="en-US" sz="1100">
                <a:solidFill>
                  <a:srgbClr val="64748B"/>
                </a:solidFill>
              </a:rPr>
              <a:t>Use case • Biểu đồ lớp • CSDL • Thiết kế</a:t>
            </a:r>
            <a:endParaRPr lang="en-US" sz="1100"/>
          </a:p>
        </p:txBody>
      </p:sp>
      <p:sp>
        <p:nvSpPr>
          <p:cNvPr id="19" name="Shape 17"/>
          <p:cNvSpPr/>
          <p:nvPr/>
        </p:nvSpPr>
        <p:spPr>
          <a:xfrm>
            <a:off x="4709160" y="2999232"/>
            <a:ext cx="4114800" cy="169164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0" name="Shape 18"/>
          <p:cNvSpPr/>
          <p:nvPr/>
        </p:nvSpPr>
        <p:spPr>
          <a:xfrm>
            <a:off x="4709160" y="2999232"/>
            <a:ext cx="73152" cy="1691640"/>
          </a:xfrm>
          <a:prstGeom prst="rect">
            <a:avLst/>
          </a:prstGeom>
          <a:solidFill>
            <a:srgbClr val="0D9488"/>
          </a:solidFill>
          <a:ln/>
        </p:spPr>
      </p:sp>
      <p:sp>
        <p:nvSpPr>
          <p:cNvPr id="21" name="Text 19"/>
          <p:cNvSpPr/>
          <p:nvPr/>
        </p:nvSpPr>
        <p:spPr>
          <a:xfrm>
            <a:off x="4873752" y="3108960"/>
            <a:ext cx="731520" cy="502920"/>
          </a:xfrm>
          <a:prstGeom prst="rect">
            <a:avLst/>
          </a:prstGeom>
          <a:noFill/>
          <a:ln/>
        </p:spPr>
        <p:txBody>
          <a:bodyPr wrap="square" rtlCol="0" anchor="ctr"/>
          <a:lstStyle/>
          <a:p>
            <a:pPr marL="0" indent="0" algn="l">
              <a:buNone/>
            </a:pPr>
            <a:r>
              <a:rPr lang="en-US" sz="3000" b="1">
                <a:solidFill>
                  <a:srgbClr val="0D9488"/>
                </a:solidFill>
              </a:rPr>
              <a:t>04</a:t>
            </a:r>
            <a:endParaRPr lang="en-US" sz="3000"/>
          </a:p>
        </p:txBody>
      </p:sp>
      <p:sp>
        <p:nvSpPr>
          <p:cNvPr id="22" name="Text 20"/>
          <p:cNvSpPr/>
          <p:nvPr/>
        </p:nvSpPr>
        <p:spPr>
          <a:xfrm>
            <a:off x="4873752" y="3547872"/>
            <a:ext cx="3749040" cy="384048"/>
          </a:xfrm>
          <a:prstGeom prst="rect">
            <a:avLst/>
          </a:prstGeom>
          <a:noFill/>
          <a:ln/>
        </p:spPr>
        <p:txBody>
          <a:bodyPr wrap="square" rtlCol="0" anchor="ctr"/>
          <a:lstStyle/>
          <a:p>
            <a:pPr marL="0" indent="0" algn="l">
              <a:buNone/>
            </a:pPr>
            <a:r>
              <a:rPr lang="en-US" sz="1500" b="1">
                <a:solidFill>
                  <a:srgbClr val="1E293B"/>
                </a:solidFill>
              </a:rPr>
              <a:t>Xây Dựng ChatBot và Demo sản phẩm</a:t>
            </a:r>
            <a:endParaRPr lang="en-US" sz="1500"/>
          </a:p>
        </p:txBody>
      </p:sp>
      <p:sp>
        <p:nvSpPr>
          <p:cNvPr id="23" name="Text 21"/>
          <p:cNvSpPr/>
          <p:nvPr/>
        </p:nvSpPr>
        <p:spPr>
          <a:xfrm>
            <a:off x="4873752" y="3931920"/>
            <a:ext cx="3749040" cy="594360"/>
          </a:xfrm>
          <a:prstGeom prst="rect">
            <a:avLst/>
          </a:prstGeom>
          <a:noFill/>
          <a:ln/>
        </p:spPr>
        <p:txBody>
          <a:bodyPr wrap="square" rtlCol="0" anchor="ctr"/>
          <a:lstStyle/>
          <a:p>
            <a:pPr marL="0" indent="0" algn="l">
              <a:buNone/>
            </a:pPr>
            <a:r>
              <a:rPr lang="en-US" sz="1100">
                <a:solidFill>
                  <a:srgbClr val="64748B"/>
                </a:solidFill>
              </a:rPr>
              <a:t>Kiến trúc • Chức năng • Thuật toán • Đánh giá</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5486400" cy="365760"/>
          </a:xfrm>
          <a:prstGeom prst="rect">
            <a:avLst/>
          </a:prstGeom>
          <a:noFill/>
          <a:ln/>
        </p:spPr>
        <p:txBody>
          <a:bodyPr wrap="square" rtlCol="0" anchor="ctr"/>
          <a:lstStyle/>
          <a:p>
            <a:pPr marL="0" indent="0">
              <a:buNone/>
            </a:pPr>
            <a:r>
              <a:rPr lang="en-US" sz="1300" b="1">
                <a:solidFill>
                  <a:srgbClr val="14B8A6"/>
                </a:solidFill>
              </a:rPr>
              <a:t>01  |  PHẦN MỞ ĐẦU</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Lý Do Chọn Đề Tài</a:t>
            </a:r>
            <a:endParaRPr lang="en-US" sz="2200"/>
          </a:p>
        </p:txBody>
      </p:sp>
      <p:sp>
        <p:nvSpPr>
          <p:cNvPr id="5" name="Shape 3"/>
          <p:cNvSpPr/>
          <p:nvPr/>
        </p:nvSpPr>
        <p:spPr>
          <a:xfrm>
            <a:off x="274320" y="1051560"/>
            <a:ext cx="8595360" cy="841248"/>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6" name="Text 4"/>
          <p:cNvSpPr/>
          <p:nvPr/>
        </p:nvSpPr>
        <p:spPr>
          <a:xfrm>
            <a:off x="411480" y="1216152"/>
            <a:ext cx="548640" cy="502920"/>
          </a:xfrm>
          <a:prstGeom prst="rect">
            <a:avLst/>
          </a:prstGeom>
          <a:noFill/>
          <a:ln/>
        </p:spPr>
        <p:txBody>
          <a:bodyPr wrap="square" rtlCol="0" anchor="ctr"/>
          <a:lstStyle/>
          <a:p>
            <a:pPr marL="0" indent="0">
              <a:buNone/>
            </a:pPr>
            <a:r>
              <a:rPr lang="en-US" sz="2200">
                <a:solidFill>
                  <a:srgbClr val="000000"/>
                </a:solidFill>
              </a:rPr>
              <a:t>📈</a:t>
            </a:r>
            <a:endParaRPr lang="en-US" sz="2200"/>
          </a:p>
        </p:txBody>
      </p:sp>
      <p:sp>
        <p:nvSpPr>
          <p:cNvPr id="7" name="Text 5"/>
          <p:cNvSpPr/>
          <p:nvPr/>
        </p:nvSpPr>
        <p:spPr>
          <a:xfrm>
            <a:off x="1005840" y="1143000"/>
            <a:ext cx="3200400" cy="329184"/>
          </a:xfrm>
          <a:prstGeom prst="rect">
            <a:avLst/>
          </a:prstGeom>
          <a:noFill/>
          <a:ln/>
        </p:spPr>
        <p:txBody>
          <a:bodyPr wrap="square" rtlCol="0" anchor="ctr"/>
          <a:lstStyle/>
          <a:p>
            <a:pPr marL="0" indent="0">
              <a:buNone/>
            </a:pPr>
            <a:r>
              <a:rPr lang="en-US" sz="1300" b="1">
                <a:solidFill>
                  <a:srgbClr val="0D9488"/>
                </a:solidFill>
              </a:rPr>
              <a:t>Thị trường phát triển mạnh</a:t>
            </a:r>
            <a:endParaRPr lang="en-US" sz="1300"/>
          </a:p>
        </p:txBody>
      </p:sp>
      <p:sp>
        <p:nvSpPr>
          <p:cNvPr id="8" name="Text 6"/>
          <p:cNvSpPr/>
          <p:nvPr/>
        </p:nvSpPr>
        <p:spPr>
          <a:xfrm>
            <a:off x="1005840" y="1453896"/>
            <a:ext cx="7680960" cy="347472"/>
          </a:xfrm>
          <a:prstGeom prst="rect">
            <a:avLst/>
          </a:prstGeom>
          <a:noFill/>
          <a:ln/>
        </p:spPr>
        <p:txBody>
          <a:bodyPr wrap="square" rtlCol="0" anchor="ctr"/>
          <a:lstStyle/>
          <a:p>
            <a:pPr marL="0" indent="0">
              <a:buNone/>
            </a:pPr>
            <a:r>
              <a:rPr lang="en-US" sz="1100">
                <a:solidFill>
                  <a:srgbClr val="1E293B"/>
                </a:solidFill>
              </a:rPr>
              <a:t>Mô hình Gundam &amp; Figure ngày càng được ưa chuộng tại Việt Nam, nhu cầu mua sắm trực tuyến tăng cao.</a:t>
            </a:r>
            <a:endParaRPr lang="en-US" sz="1100"/>
          </a:p>
        </p:txBody>
      </p:sp>
      <p:sp>
        <p:nvSpPr>
          <p:cNvPr id="9" name="Shape 7"/>
          <p:cNvSpPr/>
          <p:nvPr/>
        </p:nvSpPr>
        <p:spPr>
          <a:xfrm>
            <a:off x="274320" y="2039112"/>
            <a:ext cx="8595360" cy="841248"/>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10" name="Text 8"/>
          <p:cNvSpPr/>
          <p:nvPr/>
        </p:nvSpPr>
        <p:spPr>
          <a:xfrm>
            <a:off x="411480" y="2203704"/>
            <a:ext cx="548640" cy="502920"/>
          </a:xfrm>
          <a:prstGeom prst="rect">
            <a:avLst/>
          </a:prstGeom>
          <a:noFill/>
          <a:ln/>
        </p:spPr>
        <p:txBody>
          <a:bodyPr wrap="square" rtlCol="0" anchor="ctr"/>
          <a:lstStyle/>
          <a:p>
            <a:pPr marL="0" indent="0">
              <a:buNone/>
            </a:pPr>
            <a:r>
              <a:rPr lang="en-US" sz="2200">
                <a:solidFill>
                  <a:srgbClr val="000000"/>
                </a:solidFill>
              </a:rPr>
              <a:t>🛒</a:t>
            </a:r>
            <a:endParaRPr lang="en-US" sz="2200"/>
          </a:p>
        </p:txBody>
      </p:sp>
      <p:sp>
        <p:nvSpPr>
          <p:cNvPr id="11" name="Text 9"/>
          <p:cNvSpPr/>
          <p:nvPr/>
        </p:nvSpPr>
        <p:spPr>
          <a:xfrm>
            <a:off x="1005840" y="2130552"/>
            <a:ext cx="3200400" cy="329184"/>
          </a:xfrm>
          <a:prstGeom prst="rect">
            <a:avLst/>
          </a:prstGeom>
          <a:noFill/>
          <a:ln/>
        </p:spPr>
        <p:txBody>
          <a:bodyPr wrap="square" rtlCol="0" anchor="ctr"/>
          <a:lstStyle/>
          <a:p>
            <a:pPr marL="0" indent="0">
              <a:buNone/>
            </a:pPr>
            <a:r>
              <a:rPr lang="en-US" sz="1300" b="1">
                <a:solidFill>
                  <a:srgbClr val="0D9488"/>
                </a:solidFill>
              </a:rPr>
              <a:t>Thiếu nền tảng chuyên biệt</a:t>
            </a:r>
            <a:endParaRPr lang="en-US" sz="1300"/>
          </a:p>
        </p:txBody>
      </p:sp>
      <p:sp>
        <p:nvSpPr>
          <p:cNvPr id="12" name="Text 10"/>
          <p:cNvSpPr/>
          <p:nvPr/>
        </p:nvSpPr>
        <p:spPr>
          <a:xfrm>
            <a:off x="1005840" y="2441448"/>
            <a:ext cx="7680960" cy="347472"/>
          </a:xfrm>
          <a:prstGeom prst="rect">
            <a:avLst/>
          </a:prstGeom>
          <a:noFill/>
          <a:ln/>
        </p:spPr>
        <p:txBody>
          <a:bodyPr wrap="square" rtlCol="0" anchor="ctr"/>
          <a:lstStyle/>
          <a:p>
            <a:pPr marL="0" indent="0">
              <a:buNone/>
            </a:pPr>
            <a:r>
              <a:rPr lang="en-US" sz="1100">
                <a:solidFill>
                  <a:srgbClr val="1E293B"/>
                </a:solidFill>
              </a:rPr>
              <a:t>Chưa có website TMĐT chuyên nghiệp phục vụ riêng cho phân khúc Gundam &amp; Figure tại thị trường nội địa.</a:t>
            </a:r>
            <a:endParaRPr lang="en-US" sz="1100"/>
          </a:p>
        </p:txBody>
      </p:sp>
      <p:sp>
        <p:nvSpPr>
          <p:cNvPr id="13" name="Shape 11"/>
          <p:cNvSpPr/>
          <p:nvPr/>
        </p:nvSpPr>
        <p:spPr>
          <a:xfrm>
            <a:off x="274320" y="3026664"/>
            <a:ext cx="8595360" cy="841248"/>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14" name="Text 12"/>
          <p:cNvSpPr/>
          <p:nvPr/>
        </p:nvSpPr>
        <p:spPr>
          <a:xfrm>
            <a:off x="411480" y="3191256"/>
            <a:ext cx="548640" cy="502920"/>
          </a:xfrm>
          <a:prstGeom prst="rect">
            <a:avLst/>
          </a:prstGeom>
          <a:noFill/>
          <a:ln/>
        </p:spPr>
        <p:txBody>
          <a:bodyPr wrap="square" rtlCol="0" anchor="ctr"/>
          <a:lstStyle/>
          <a:p>
            <a:pPr marL="0" indent="0">
              <a:buNone/>
            </a:pPr>
            <a:r>
              <a:rPr lang="en-US" sz="2200">
                <a:solidFill>
                  <a:srgbClr val="000000"/>
                </a:solidFill>
              </a:rPr>
              <a:t>🤖</a:t>
            </a:r>
            <a:endParaRPr lang="en-US" sz="2200"/>
          </a:p>
        </p:txBody>
      </p:sp>
      <p:sp>
        <p:nvSpPr>
          <p:cNvPr id="15" name="Text 13"/>
          <p:cNvSpPr/>
          <p:nvPr/>
        </p:nvSpPr>
        <p:spPr>
          <a:xfrm>
            <a:off x="1005840" y="3118104"/>
            <a:ext cx="3200400" cy="329184"/>
          </a:xfrm>
          <a:prstGeom prst="rect">
            <a:avLst/>
          </a:prstGeom>
          <a:noFill/>
          <a:ln/>
        </p:spPr>
        <p:txBody>
          <a:bodyPr wrap="square" rtlCol="0" anchor="ctr"/>
          <a:lstStyle/>
          <a:p>
            <a:pPr marL="0" indent="0">
              <a:buNone/>
            </a:pPr>
            <a:r>
              <a:rPr lang="en-US" sz="1300" b="1">
                <a:solidFill>
                  <a:srgbClr val="0D9488"/>
                </a:solidFill>
              </a:rPr>
              <a:t>Xu hướng AI &amp; Chatbot</a:t>
            </a:r>
            <a:endParaRPr lang="en-US" sz="1300"/>
          </a:p>
        </p:txBody>
      </p:sp>
      <p:sp>
        <p:nvSpPr>
          <p:cNvPr id="16" name="Text 14"/>
          <p:cNvSpPr/>
          <p:nvPr/>
        </p:nvSpPr>
        <p:spPr>
          <a:xfrm>
            <a:off x="1005840" y="3429000"/>
            <a:ext cx="7680960" cy="347472"/>
          </a:xfrm>
          <a:prstGeom prst="rect">
            <a:avLst/>
          </a:prstGeom>
          <a:noFill/>
          <a:ln/>
        </p:spPr>
        <p:txBody>
          <a:bodyPr wrap="square" rtlCol="0" anchor="ctr"/>
          <a:lstStyle/>
          <a:p>
            <a:pPr marL="0" indent="0">
              <a:buNone/>
            </a:pPr>
            <a:r>
              <a:rPr lang="en-US" sz="1100">
                <a:solidFill>
                  <a:srgbClr val="1E293B"/>
                </a:solidFill>
              </a:rPr>
              <a:t>Tích hợp chatbot thông minh và hệ thống gợi ý sản phẩm giúp nâng cao trải nghiệm người dùng.</a:t>
            </a:r>
            <a:endParaRPr lang="en-US" sz="1100"/>
          </a:p>
        </p:txBody>
      </p:sp>
      <p:sp>
        <p:nvSpPr>
          <p:cNvPr id="17" name="Shape 15"/>
          <p:cNvSpPr/>
          <p:nvPr/>
        </p:nvSpPr>
        <p:spPr>
          <a:xfrm>
            <a:off x="274320" y="4014216"/>
            <a:ext cx="8595360" cy="841248"/>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18" name="Text 16"/>
          <p:cNvSpPr/>
          <p:nvPr/>
        </p:nvSpPr>
        <p:spPr>
          <a:xfrm>
            <a:off x="411480" y="4178808"/>
            <a:ext cx="548640" cy="502920"/>
          </a:xfrm>
          <a:prstGeom prst="rect">
            <a:avLst/>
          </a:prstGeom>
          <a:noFill/>
          <a:ln/>
        </p:spPr>
        <p:txBody>
          <a:bodyPr wrap="square" rtlCol="0" anchor="ctr"/>
          <a:lstStyle/>
          <a:p>
            <a:pPr marL="0" indent="0">
              <a:buNone/>
            </a:pPr>
            <a:r>
              <a:rPr lang="en-US" sz="2200">
                <a:solidFill>
                  <a:srgbClr val="000000"/>
                </a:solidFill>
              </a:rPr>
              <a:t>💻</a:t>
            </a:r>
            <a:endParaRPr lang="en-US" sz="2200"/>
          </a:p>
        </p:txBody>
      </p:sp>
      <p:sp>
        <p:nvSpPr>
          <p:cNvPr id="19" name="Text 17"/>
          <p:cNvSpPr/>
          <p:nvPr/>
        </p:nvSpPr>
        <p:spPr>
          <a:xfrm>
            <a:off x="1005840" y="4105656"/>
            <a:ext cx="3200400" cy="329184"/>
          </a:xfrm>
          <a:prstGeom prst="rect">
            <a:avLst/>
          </a:prstGeom>
          <a:noFill/>
          <a:ln/>
        </p:spPr>
        <p:txBody>
          <a:bodyPr wrap="square" rtlCol="0" anchor="ctr"/>
          <a:lstStyle/>
          <a:p>
            <a:pPr marL="0" indent="0">
              <a:buNone/>
            </a:pPr>
            <a:r>
              <a:rPr lang="en-US" sz="1300" b="1">
                <a:solidFill>
                  <a:srgbClr val="0D9488"/>
                </a:solidFill>
              </a:rPr>
              <a:t>Ứng dụng công nghệ hiện đại</a:t>
            </a:r>
            <a:endParaRPr lang="en-US" sz="1300"/>
          </a:p>
        </p:txBody>
      </p:sp>
      <p:sp>
        <p:nvSpPr>
          <p:cNvPr id="20" name="Text 18"/>
          <p:cNvSpPr/>
          <p:nvPr/>
        </p:nvSpPr>
        <p:spPr>
          <a:xfrm>
            <a:off x="1005840" y="4416552"/>
            <a:ext cx="7680960" cy="347472"/>
          </a:xfrm>
          <a:prstGeom prst="rect">
            <a:avLst/>
          </a:prstGeom>
          <a:noFill/>
          <a:ln/>
        </p:spPr>
        <p:txBody>
          <a:bodyPr wrap="square" rtlCol="0" anchor="ctr"/>
          <a:lstStyle/>
          <a:p>
            <a:pPr marL="0" indent="0">
              <a:buNone/>
            </a:pPr>
            <a:r>
              <a:rPr lang="en-US" sz="1100">
                <a:solidFill>
                  <a:srgbClr val="1E293B"/>
                </a:solidFill>
              </a:rPr>
              <a:t>Áp dụng ReactJS, NestJS, MySQL – các công nghệ phổ biến trong phát triển web hiện đại.</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5486400" cy="365760"/>
          </a:xfrm>
          <a:prstGeom prst="rect">
            <a:avLst/>
          </a:prstGeom>
          <a:noFill/>
          <a:ln/>
        </p:spPr>
        <p:txBody>
          <a:bodyPr wrap="square" rtlCol="0" anchor="ctr"/>
          <a:lstStyle/>
          <a:p>
            <a:pPr marL="0" indent="0">
              <a:buNone/>
            </a:pPr>
            <a:r>
              <a:rPr lang="en-US" sz="1300" b="1">
                <a:solidFill>
                  <a:srgbClr val="14B8A6"/>
                </a:solidFill>
              </a:rPr>
              <a:t>01  |  PHẦN MỞ ĐẦU</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Mục Tiêu &amp; Phạm Vi Nghiên Cứu</a:t>
            </a:r>
            <a:endParaRPr lang="en-US" sz="2200"/>
          </a:p>
        </p:txBody>
      </p:sp>
      <p:sp>
        <p:nvSpPr>
          <p:cNvPr id="5" name="Shape 3"/>
          <p:cNvSpPr/>
          <p:nvPr/>
        </p:nvSpPr>
        <p:spPr>
          <a:xfrm>
            <a:off x="274320" y="1005840"/>
            <a:ext cx="4114800" cy="384048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274320" y="1005840"/>
            <a:ext cx="4114800" cy="411480"/>
          </a:xfrm>
          <a:prstGeom prst="rect">
            <a:avLst/>
          </a:prstGeom>
          <a:solidFill>
            <a:srgbClr val="0D9488"/>
          </a:solidFill>
          <a:ln/>
        </p:spPr>
      </p:sp>
      <p:sp>
        <p:nvSpPr>
          <p:cNvPr id="7" name="Text 5"/>
          <p:cNvSpPr/>
          <p:nvPr/>
        </p:nvSpPr>
        <p:spPr>
          <a:xfrm>
            <a:off x="365760" y="1051560"/>
            <a:ext cx="3840480" cy="320040"/>
          </a:xfrm>
          <a:prstGeom prst="rect">
            <a:avLst/>
          </a:prstGeom>
          <a:noFill/>
          <a:ln/>
        </p:spPr>
        <p:txBody>
          <a:bodyPr wrap="square" rtlCol="0" anchor="ctr"/>
          <a:lstStyle/>
          <a:p>
            <a:pPr marL="0" indent="0">
              <a:buNone/>
            </a:pPr>
            <a:r>
              <a:rPr lang="en-US" sz="1300" b="1">
                <a:solidFill>
                  <a:srgbClr val="FFFFFF"/>
                </a:solidFill>
              </a:rPr>
              <a:t>🎯  MỤC TIÊU</a:t>
            </a:r>
            <a:endParaRPr lang="en-US" sz="1300"/>
          </a:p>
        </p:txBody>
      </p:sp>
      <p:sp>
        <p:nvSpPr>
          <p:cNvPr id="8" name="Text 6"/>
          <p:cNvSpPr/>
          <p:nvPr/>
        </p:nvSpPr>
        <p:spPr>
          <a:xfrm>
            <a:off x="411480" y="1508760"/>
            <a:ext cx="3840480" cy="402336"/>
          </a:xfrm>
          <a:prstGeom prst="rect">
            <a:avLst/>
          </a:prstGeom>
          <a:noFill/>
          <a:ln/>
        </p:spPr>
        <p:txBody>
          <a:bodyPr wrap="square" rtlCol="0" anchor="ctr"/>
          <a:lstStyle/>
          <a:p>
            <a:pPr marL="0" indent="0">
              <a:buNone/>
            </a:pPr>
            <a:r>
              <a:rPr lang="en-US" sz="1400" err="1">
                <a:solidFill>
                  <a:srgbClr val="1E293B"/>
                </a:solidFill>
              </a:rPr>
              <a:t>Xây</a:t>
            </a:r>
            <a:r>
              <a:rPr lang="en-US" sz="1400">
                <a:solidFill>
                  <a:srgbClr val="1E293B"/>
                </a:solidFill>
              </a:rPr>
              <a:t> dựng website TMĐT hoàn chỉnh cho cửa hàng Gundam &amp; Figure </a:t>
            </a:r>
            <a:r>
              <a:rPr lang="en-US" sz="1400" err="1">
                <a:solidFill>
                  <a:srgbClr val="1E293B"/>
                </a:solidFill>
              </a:rPr>
              <a:t>với</a:t>
            </a:r>
            <a:r>
              <a:rPr lang="en-US" sz="1400">
                <a:solidFill>
                  <a:srgbClr val="1E293B"/>
                </a:solidFill>
              </a:rPr>
              <a:t> : </a:t>
            </a:r>
            <a:endParaRPr lang="en-US" sz="1400"/>
          </a:p>
        </p:txBody>
      </p:sp>
      <p:sp>
        <p:nvSpPr>
          <p:cNvPr id="9" name="Text 7"/>
          <p:cNvSpPr/>
          <p:nvPr/>
        </p:nvSpPr>
        <p:spPr>
          <a:xfrm>
            <a:off x="411480" y="1965960"/>
            <a:ext cx="3840480" cy="402336"/>
          </a:xfrm>
          <a:prstGeom prst="rect">
            <a:avLst/>
          </a:prstGeom>
          <a:noFill/>
          <a:ln/>
        </p:spPr>
        <p:txBody>
          <a:bodyPr wrap="square" rtlCol="0" anchor="ctr"/>
          <a:lstStyle/>
          <a:p>
            <a:pPr marL="285750" indent="-285750">
              <a:buFont typeface="Wingdings" panose="05000000000000000000" pitchFamily="2" charset="2"/>
              <a:buChar char="v"/>
            </a:pPr>
            <a:r>
              <a:rPr lang="en-US" sz="1400">
                <a:solidFill>
                  <a:srgbClr val="1E293B"/>
                </a:solidFill>
              </a:rPr>
              <a:t>Giao diện người dùng thân thiện, đa nền tảng</a:t>
            </a:r>
            <a:endParaRPr lang="en-US" sz="1400"/>
          </a:p>
        </p:txBody>
      </p:sp>
      <p:sp>
        <p:nvSpPr>
          <p:cNvPr id="10" name="Text 8"/>
          <p:cNvSpPr/>
          <p:nvPr/>
        </p:nvSpPr>
        <p:spPr>
          <a:xfrm>
            <a:off x="411480" y="2423160"/>
            <a:ext cx="3840480" cy="402336"/>
          </a:xfrm>
          <a:prstGeom prst="rect">
            <a:avLst/>
          </a:prstGeom>
          <a:noFill/>
          <a:ln/>
        </p:spPr>
        <p:txBody>
          <a:bodyPr wrap="square" rtlCol="0" anchor="ctr"/>
          <a:lstStyle/>
          <a:p>
            <a:pPr marL="285750" indent="-285750">
              <a:buFont typeface="Wingdings" panose="05000000000000000000" pitchFamily="2" charset="2"/>
              <a:buChar char="v"/>
            </a:pPr>
            <a:r>
              <a:rPr lang="en-US" sz="1400" err="1">
                <a:solidFill>
                  <a:srgbClr val="1E293B"/>
                </a:solidFill>
              </a:rPr>
              <a:t>Hệ</a:t>
            </a:r>
            <a:r>
              <a:rPr lang="en-US" sz="1400">
                <a:solidFill>
                  <a:srgbClr val="1E293B"/>
                </a:solidFill>
              </a:rPr>
              <a:t> thống quản trị dễ sử dụng cho admin</a:t>
            </a:r>
            <a:endParaRPr lang="en-US" sz="1400"/>
          </a:p>
        </p:txBody>
      </p:sp>
      <p:sp>
        <p:nvSpPr>
          <p:cNvPr id="11" name="Text 9"/>
          <p:cNvSpPr/>
          <p:nvPr/>
        </p:nvSpPr>
        <p:spPr>
          <a:xfrm>
            <a:off x="411480" y="2880360"/>
            <a:ext cx="3840480" cy="402336"/>
          </a:xfrm>
          <a:prstGeom prst="rect">
            <a:avLst/>
          </a:prstGeom>
          <a:noFill/>
          <a:ln/>
        </p:spPr>
        <p:txBody>
          <a:bodyPr wrap="square" rtlCol="0" anchor="ctr"/>
          <a:lstStyle/>
          <a:p>
            <a:pPr marL="285750" indent="-285750">
              <a:buFont typeface="Wingdings" panose="05000000000000000000" pitchFamily="2" charset="2"/>
              <a:buChar char="v"/>
            </a:pPr>
            <a:r>
              <a:rPr lang="en-US" sz="1400" err="1">
                <a:solidFill>
                  <a:srgbClr val="1E293B"/>
                </a:solidFill>
              </a:rPr>
              <a:t>Tích</a:t>
            </a:r>
            <a:r>
              <a:rPr lang="en-US" sz="1400">
                <a:solidFill>
                  <a:srgbClr val="1E293B"/>
                </a:solidFill>
              </a:rPr>
              <a:t> hợp Chatbot hỗ trợ tìm kiếm &amp; tư vấn</a:t>
            </a:r>
            <a:endParaRPr lang="en-US" sz="1200"/>
          </a:p>
        </p:txBody>
      </p:sp>
      <p:sp>
        <p:nvSpPr>
          <p:cNvPr id="12" name="Text 10"/>
          <p:cNvSpPr/>
          <p:nvPr/>
        </p:nvSpPr>
        <p:spPr>
          <a:xfrm>
            <a:off x="411480" y="3337560"/>
            <a:ext cx="3840480" cy="402336"/>
          </a:xfrm>
          <a:prstGeom prst="rect">
            <a:avLst/>
          </a:prstGeom>
          <a:noFill/>
          <a:ln/>
        </p:spPr>
        <p:txBody>
          <a:bodyPr wrap="square" rtlCol="0" anchor="ctr"/>
          <a:lstStyle/>
          <a:p>
            <a:pPr marL="285750" indent="-285750">
              <a:buFont typeface="Wingdings" panose="05000000000000000000" pitchFamily="2" charset="2"/>
              <a:buChar char="v"/>
            </a:pPr>
            <a:r>
              <a:rPr lang="en-US" sz="1400" err="1">
                <a:solidFill>
                  <a:srgbClr val="1E293B"/>
                </a:solidFill>
              </a:rPr>
              <a:t>Xây</a:t>
            </a:r>
            <a:r>
              <a:rPr lang="en-US" sz="1400">
                <a:solidFill>
                  <a:srgbClr val="1E293B"/>
                </a:solidFill>
              </a:rPr>
              <a:t> dựng hệ thống gợi ý sản phẩm thông minh</a:t>
            </a:r>
            <a:endParaRPr lang="en-US" sz="1400"/>
          </a:p>
        </p:txBody>
      </p:sp>
      <p:sp>
        <p:nvSpPr>
          <p:cNvPr id="13" name="Shape 11"/>
          <p:cNvSpPr/>
          <p:nvPr/>
        </p:nvSpPr>
        <p:spPr>
          <a:xfrm>
            <a:off x="4754880" y="1005840"/>
            <a:ext cx="4114800" cy="3840480"/>
          </a:xfrm>
          <a:prstGeom prst="rect">
            <a:avLst/>
          </a:prstGeom>
          <a:solidFill>
            <a:srgbClr val="FFFFFF"/>
          </a:solidFill>
          <a:ln/>
          <a:effectLst>
            <a:outerShdw blurRad="101600" dist="38100" dir="8100000" algn="bl" rotWithShape="0">
              <a:srgbClr val="000000">
                <a:alpha val="18000"/>
              </a:srgbClr>
            </a:outerShdw>
          </a:effectLst>
        </p:spPr>
      </p:sp>
      <p:sp>
        <p:nvSpPr>
          <p:cNvPr id="14" name="Shape 12"/>
          <p:cNvSpPr/>
          <p:nvPr/>
        </p:nvSpPr>
        <p:spPr>
          <a:xfrm>
            <a:off x="4754880" y="1005840"/>
            <a:ext cx="4114800" cy="411480"/>
          </a:xfrm>
          <a:prstGeom prst="rect">
            <a:avLst/>
          </a:prstGeom>
          <a:solidFill>
            <a:srgbClr val="0D1B2A"/>
          </a:solidFill>
          <a:ln/>
        </p:spPr>
      </p:sp>
      <p:sp>
        <p:nvSpPr>
          <p:cNvPr id="15" name="Text 13"/>
          <p:cNvSpPr/>
          <p:nvPr/>
        </p:nvSpPr>
        <p:spPr>
          <a:xfrm>
            <a:off x="4846320" y="1051560"/>
            <a:ext cx="3840480" cy="320040"/>
          </a:xfrm>
          <a:prstGeom prst="rect">
            <a:avLst/>
          </a:prstGeom>
          <a:noFill/>
          <a:ln/>
        </p:spPr>
        <p:txBody>
          <a:bodyPr wrap="square" rtlCol="0" anchor="ctr"/>
          <a:lstStyle/>
          <a:p>
            <a:pPr marL="0" indent="0">
              <a:buNone/>
            </a:pPr>
            <a:r>
              <a:rPr lang="en-US" sz="1300" b="1">
                <a:solidFill>
                  <a:srgbClr val="FFFFFF"/>
                </a:solidFill>
              </a:rPr>
              <a:t>📌  PHẠM VI NGHIÊN CỨU</a:t>
            </a:r>
            <a:endParaRPr lang="en-US" sz="1300"/>
          </a:p>
        </p:txBody>
      </p:sp>
      <p:sp>
        <p:nvSpPr>
          <p:cNvPr id="16" name="Text 14"/>
          <p:cNvSpPr/>
          <p:nvPr/>
        </p:nvSpPr>
        <p:spPr>
          <a:xfrm>
            <a:off x="4892040" y="1508760"/>
            <a:ext cx="3840480" cy="402336"/>
          </a:xfrm>
          <a:prstGeom prst="rect">
            <a:avLst/>
          </a:prstGeom>
          <a:noFill/>
          <a:ln/>
        </p:spPr>
        <p:txBody>
          <a:bodyPr wrap="square" rtlCol="0" anchor="ctr"/>
          <a:lstStyle/>
          <a:p>
            <a:pPr marL="0" indent="0">
              <a:buNone/>
            </a:pPr>
            <a:r>
              <a:rPr lang="en-US" sz="1200" b="1">
                <a:solidFill>
                  <a:srgbClr val="0D1B2A"/>
                </a:solidFill>
              </a:rPr>
              <a:t>Đối tượng:  </a:t>
            </a:r>
            <a:r>
              <a:rPr lang="en-US" sz="1200">
                <a:solidFill>
                  <a:srgbClr val="1E293B"/>
                </a:solidFill>
              </a:rPr>
              <a:t>Cửa hàng bán mô hình Gundam &amp; Figure</a:t>
            </a:r>
            <a:endParaRPr lang="en-US" sz="1200"/>
          </a:p>
        </p:txBody>
      </p:sp>
      <p:sp>
        <p:nvSpPr>
          <p:cNvPr id="17" name="Text 15"/>
          <p:cNvSpPr/>
          <p:nvPr/>
        </p:nvSpPr>
        <p:spPr>
          <a:xfrm>
            <a:off x="4892040" y="1965960"/>
            <a:ext cx="3840480" cy="402336"/>
          </a:xfrm>
          <a:prstGeom prst="rect">
            <a:avLst/>
          </a:prstGeom>
          <a:noFill/>
          <a:ln/>
        </p:spPr>
        <p:txBody>
          <a:bodyPr wrap="square" rtlCol="0" anchor="ctr"/>
          <a:lstStyle/>
          <a:p>
            <a:pPr marL="0" indent="0">
              <a:buNone/>
            </a:pPr>
            <a:r>
              <a:rPr lang="en-US" sz="1200" b="1">
                <a:solidFill>
                  <a:srgbClr val="0D1B2A"/>
                </a:solidFill>
              </a:rPr>
              <a:t>Frontend:  </a:t>
            </a:r>
            <a:r>
              <a:rPr lang="en-US" sz="1200">
                <a:solidFill>
                  <a:srgbClr val="1E293B"/>
                </a:solidFill>
              </a:rPr>
              <a:t>ReactJS + Ant Design</a:t>
            </a:r>
            <a:endParaRPr lang="en-US" sz="1200"/>
          </a:p>
        </p:txBody>
      </p:sp>
      <p:sp>
        <p:nvSpPr>
          <p:cNvPr id="18" name="Text 16"/>
          <p:cNvSpPr/>
          <p:nvPr/>
        </p:nvSpPr>
        <p:spPr>
          <a:xfrm>
            <a:off x="4892040" y="2423160"/>
            <a:ext cx="3840480" cy="402336"/>
          </a:xfrm>
          <a:prstGeom prst="rect">
            <a:avLst/>
          </a:prstGeom>
          <a:noFill/>
          <a:ln/>
        </p:spPr>
        <p:txBody>
          <a:bodyPr wrap="square" rtlCol="0" anchor="ctr"/>
          <a:lstStyle/>
          <a:p>
            <a:pPr marL="0" indent="0">
              <a:buNone/>
            </a:pPr>
            <a:r>
              <a:rPr lang="en-US" sz="1200" b="1">
                <a:solidFill>
                  <a:srgbClr val="0D1B2A"/>
                </a:solidFill>
              </a:rPr>
              <a:t>Backend:  </a:t>
            </a:r>
            <a:r>
              <a:rPr lang="en-US" sz="1200">
                <a:solidFill>
                  <a:srgbClr val="1E293B"/>
                </a:solidFill>
              </a:rPr>
              <a:t>NestJS (NodeJS framework)</a:t>
            </a:r>
            <a:endParaRPr lang="en-US" sz="1200"/>
          </a:p>
        </p:txBody>
      </p:sp>
      <p:sp>
        <p:nvSpPr>
          <p:cNvPr id="19" name="Text 17"/>
          <p:cNvSpPr/>
          <p:nvPr/>
        </p:nvSpPr>
        <p:spPr>
          <a:xfrm>
            <a:off x="4892040" y="2880360"/>
            <a:ext cx="3840480" cy="402336"/>
          </a:xfrm>
          <a:prstGeom prst="rect">
            <a:avLst/>
          </a:prstGeom>
          <a:noFill/>
          <a:ln/>
        </p:spPr>
        <p:txBody>
          <a:bodyPr wrap="square" rtlCol="0" anchor="ctr"/>
          <a:lstStyle/>
          <a:p>
            <a:pPr marL="0" indent="0">
              <a:buNone/>
            </a:pPr>
            <a:r>
              <a:rPr lang="en-US" sz="1200" b="1">
                <a:solidFill>
                  <a:srgbClr val="0D1B2A"/>
                </a:solidFill>
              </a:rPr>
              <a:t>Database:  </a:t>
            </a:r>
            <a:r>
              <a:rPr lang="en-US" sz="1200">
                <a:solidFill>
                  <a:srgbClr val="1E293B"/>
                </a:solidFill>
              </a:rPr>
              <a:t>MySQL</a:t>
            </a:r>
            <a:endParaRPr lang="en-US" sz="1200"/>
          </a:p>
        </p:txBody>
      </p:sp>
      <p:sp>
        <p:nvSpPr>
          <p:cNvPr id="20" name="Text 18"/>
          <p:cNvSpPr/>
          <p:nvPr/>
        </p:nvSpPr>
        <p:spPr>
          <a:xfrm>
            <a:off x="4892040" y="3337560"/>
            <a:ext cx="3840480" cy="402336"/>
          </a:xfrm>
          <a:prstGeom prst="rect">
            <a:avLst/>
          </a:prstGeom>
          <a:noFill/>
          <a:ln/>
        </p:spPr>
        <p:txBody>
          <a:bodyPr wrap="square" rtlCol="0" anchor="ctr"/>
          <a:lstStyle/>
          <a:p>
            <a:pPr marL="0" indent="0">
              <a:buNone/>
            </a:pPr>
            <a:r>
              <a:rPr lang="en-US" sz="1200" b="1">
                <a:solidFill>
                  <a:srgbClr val="0D1B2A"/>
                </a:solidFill>
              </a:rPr>
              <a:t>Chatbot:  </a:t>
            </a:r>
            <a:r>
              <a:rPr lang="en-US" sz="1200">
                <a:solidFill>
                  <a:srgbClr val="1E293B"/>
                </a:solidFill>
              </a:rPr>
              <a:t>Rule-based + Levenshtein + LocalStorage</a:t>
            </a:r>
            <a:endParaRPr lang="en-US" sz="1200"/>
          </a:p>
        </p:txBody>
      </p:sp>
      <p:sp>
        <p:nvSpPr>
          <p:cNvPr id="21" name="Text 19"/>
          <p:cNvSpPr/>
          <p:nvPr/>
        </p:nvSpPr>
        <p:spPr>
          <a:xfrm>
            <a:off x="4892040" y="3794760"/>
            <a:ext cx="3840480" cy="402336"/>
          </a:xfrm>
          <a:prstGeom prst="rect">
            <a:avLst/>
          </a:prstGeom>
          <a:noFill/>
          <a:ln/>
        </p:spPr>
        <p:txBody>
          <a:bodyPr wrap="square" rtlCol="0" anchor="ctr"/>
          <a:lstStyle/>
          <a:p>
            <a:pPr marL="0" indent="0">
              <a:buNone/>
            </a:pPr>
            <a:r>
              <a:rPr lang="en-US" sz="1200" b="1">
                <a:solidFill>
                  <a:srgbClr val="0D1B2A"/>
                </a:solidFill>
              </a:rPr>
              <a:t>Gợi ý:  </a:t>
            </a:r>
            <a:r>
              <a:rPr lang="en-US" sz="1200">
                <a:solidFill>
                  <a:srgbClr val="1E293B"/>
                </a:solidFill>
              </a:rPr>
              <a:t>Content-based Filtering</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02  |  CƠ SỞ LÝ THUYẾT</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Công Nghệ Sử Dụng</a:t>
            </a:r>
            <a:endParaRPr lang="en-US" sz="2200"/>
          </a:p>
        </p:txBody>
      </p:sp>
      <p:sp>
        <p:nvSpPr>
          <p:cNvPr id="5" name="Shape 3"/>
          <p:cNvSpPr/>
          <p:nvPr/>
        </p:nvSpPr>
        <p:spPr>
          <a:xfrm>
            <a:off x="228600" y="1005840"/>
            <a:ext cx="274320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6" name="Shape 4"/>
          <p:cNvSpPr/>
          <p:nvPr/>
        </p:nvSpPr>
        <p:spPr>
          <a:xfrm>
            <a:off x="228600" y="1005840"/>
            <a:ext cx="2743200" cy="73152"/>
          </a:xfrm>
          <a:prstGeom prst="rect">
            <a:avLst/>
          </a:prstGeom>
          <a:solidFill>
            <a:srgbClr val="0D9488"/>
          </a:solidFill>
          <a:ln/>
        </p:spPr>
      </p:sp>
      <p:sp>
        <p:nvSpPr>
          <p:cNvPr id="7" name="Text 5"/>
          <p:cNvSpPr/>
          <p:nvPr/>
        </p:nvSpPr>
        <p:spPr>
          <a:xfrm>
            <a:off x="338328" y="1152144"/>
            <a:ext cx="457200" cy="420624"/>
          </a:xfrm>
          <a:prstGeom prst="rect">
            <a:avLst/>
          </a:prstGeom>
          <a:noFill/>
          <a:ln/>
        </p:spPr>
        <p:txBody>
          <a:bodyPr wrap="square" rtlCol="0" anchor="ctr"/>
          <a:lstStyle/>
          <a:p>
            <a:pPr marL="0" indent="0">
              <a:buNone/>
            </a:pPr>
            <a:r>
              <a:rPr lang="en-US" sz="2000">
                <a:solidFill>
                  <a:srgbClr val="000000"/>
                </a:solidFill>
              </a:rPr>
              <a:t>🌐</a:t>
            </a:r>
            <a:endParaRPr lang="en-US" sz="2000"/>
          </a:p>
        </p:txBody>
      </p:sp>
      <p:sp>
        <p:nvSpPr>
          <p:cNvPr id="8" name="Text 6"/>
          <p:cNvSpPr/>
          <p:nvPr/>
        </p:nvSpPr>
        <p:spPr>
          <a:xfrm>
            <a:off x="822960" y="1152144"/>
            <a:ext cx="2011680" cy="420624"/>
          </a:xfrm>
          <a:prstGeom prst="rect">
            <a:avLst/>
          </a:prstGeom>
          <a:noFill/>
          <a:ln/>
        </p:spPr>
        <p:txBody>
          <a:bodyPr wrap="square" rtlCol="0" anchor="ctr"/>
          <a:lstStyle/>
          <a:p>
            <a:pPr marL="0" indent="0">
              <a:buNone/>
            </a:pPr>
            <a:r>
              <a:rPr lang="en-US" sz="1300" b="1">
                <a:solidFill>
                  <a:srgbClr val="0D9488"/>
                </a:solidFill>
              </a:rPr>
              <a:t>HTML / CSS</a:t>
            </a:r>
            <a:endParaRPr lang="en-US" sz="1300"/>
          </a:p>
        </p:txBody>
      </p:sp>
      <p:sp>
        <p:nvSpPr>
          <p:cNvPr id="9" name="Text 7"/>
          <p:cNvSpPr/>
          <p:nvPr/>
        </p:nvSpPr>
        <p:spPr>
          <a:xfrm>
            <a:off x="338328" y="1609344"/>
            <a:ext cx="2523744" cy="1024128"/>
          </a:xfrm>
          <a:prstGeom prst="rect">
            <a:avLst/>
          </a:prstGeom>
          <a:noFill/>
          <a:ln/>
        </p:spPr>
        <p:txBody>
          <a:bodyPr wrap="square" rtlCol="0" anchor="ctr"/>
          <a:lstStyle/>
          <a:p>
            <a:pPr marL="0" indent="0">
              <a:buNone/>
            </a:pPr>
            <a:r>
              <a:rPr lang="en-US" sz="1400">
                <a:solidFill>
                  <a:srgbClr val="1E293B"/>
                </a:solidFill>
              </a:rPr>
              <a:t>Ngôn ngữ đánh dấu và trình bày giao diện web cơ bản, đảm bảo hiển thị đúng trên mọi trình duyệt.</a:t>
            </a:r>
            <a:endParaRPr lang="en-US" sz="1400"/>
          </a:p>
        </p:txBody>
      </p:sp>
      <p:sp>
        <p:nvSpPr>
          <p:cNvPr id="10" name="Shape 8"/>
          <p:cNvSpPr/>
          <p:nvPr/>
        </p:nvSpPr>
        <p:spPr>
          <a:xfrm>
            <a:off x="3172968" y="1005840"/>
            <a:ext cx="274320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11" name="Shape 9"/>
          <p:cNvSpPr/>
          <p:nvPr/>
        </p:nvSpPr>
        <p:spPr>
          <a:xfrm>
            <a:off x="3172968" y="1005840"/>
            <a:ext cx="2743200" cy="73152"/>
          </a:xfrm>
          <a:prstGeom prst="rect">
            <a:avLst/>
          </a:prstGeom>
          <a:solidFill>
            <a:srgbClr val="0369A1"/>
          </a:solidFill>
          <a:ln/>
        </p:spPr>
      </p:sp>
      <p:sp>
        <p:nvSpPr>
          <p:cNvPr id="12" name="Text 10"/>
          <p:cNvSpPr/>
          <p:nvPr/>
        </p:nvSpPr>
        <p:spPr>
          <a:xfrm>
            <a:off x="3282696" y="1152144"/>
            <a:ext cx="457200" cy="420624"/>
          </a:xfrm>
          <a:prstGeom prst="rect">
            <a:avLst/>
          </a:prstGeom>
          <a:noFill/>
          <a:ln/>
        </p:spPr>
        <p:txBody>
          <a:bodyPr wrap="square" rtlCol="0" anchor="ctr"/>
          <a:lstStyle/>
          <a:p>
            <a:pPr marL="0" indent="0">
              <a:buNone/>
            </a:pPr>
            <a:r>
              <a:rPr lang="en-US" sz="2000">
                <a:solidFill>
                  <a:srgbClr val="000000"/>
                </a:solidFill>
              </a:rPr>
              <a:t>⚛️</a:t>
            </a:r>
            <a:endParaRPr lang="en-US" sz="2000"/>
          </a:p>
        </p:txBody>
      </p:sp>
      <p:sp>
        <p:nvSpPr>
          <p:cNvPr id="13" name="Text 11"/>
          <p:cNvSpPr/>
          <p:nvPr/>
        </p:nvSpPr>
        <p:spPr>
          <a:xfrm>
            <a:off x="3767328" y="1152144"/>
            <a:ext cx="2011680" cy="420624"/>
          </a:xfrm>
          <a:prstGeom prst="rect">
            <a:avLst/>
          </a:prstGeom>
          <a:noFill/>
          <a:ln/>
        </p:spPr>
        <p:txBody>
          <a:bodyPr wrap="square" rtlCol="0" anchor="ctr"/>
          <a:lstStyle/>
          <a:p>
            <a:pPr marL="0" indent="0">
              <a:buNone/>
            </a:pPr>
            <a:r>
              <a:rPr lang="en-US" sz="1300" b="1">
                <a:solidFill>
                  <a:srgbClr val="0369A1"/>
                </a:solidFill>
              </a:rPr>
              <a:t>ReactJS</a:t>
            </a:r>
            <a:endParaRPr lang="en-US" sz="1300"/>
          </a:p>
        </p:txBody>
      </p:sp>
      <p:sp>
        <p:nvSpPr>
          <p:cNvPr id="14" name="Text 12"/>
          <p:cNvSpPr/>
          <p:nvPr/>
        </p:nvSpPr>
        <p:spPr>
          <a:xfrm>
            <a:off x="3282696" y="1609344"/>
            <a:ext cx="2523744" cy="1024128"/>
          </a:xfrm>
          <a:prstGeom prst="rect">
            <a:avLst/>
          </a:prstGeom>
          <a:noFill/>
          <a:ln/>
        </p:spPr>
        <p:txBody>
          <a:bodyPr wrap="square" rtlCol="0" anchor="ctr"/>
          <a:lstStyle/>
          <a:p>
            <a:pPr marL="0" indent="0">
              <a:buNone/>
            </a:pPr>
            <a:r>
              <a:rPr lang="en-US" sz="1400">
                <a:solidFill>
                  <a:srgbClr val="1E293B"/>
                </a:solidFill>
              </a:rPr>
              <a:t>Thư viện JavaScript xây dựng UI dựa trên component, hỗ trợ Virtual DOM và React Router.</a:t>
            </a:r>
            <a:endParaRPr lang="en-US" sz="1400"/>
          </a:p>
        </p:txBody>
      </p:sp>
      <p:sp>
        <p:nvSpPr>
          <p:cNvPr id="15" name="Shape 13"/>
          <p:cNvSpPr/>
          <p:nvPr/>
        </p:nvSpPr>
        <p:spPr>
          <a:xfrm>
            <a:off x="6117336" y="1005840"/>
            <a:ext cx="274320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16" name="Shape 14"/>
          <p:cNvSpPr/>
          <p:nvPr/>
        </p:nvSpPr>
        <p:spPr>
          <a:xfrm>
            <a:off x="6117336" y="1005840"/>
            <a:ext cx="2743200" cy="73152"/>
          </a:xfrm>
          <a:prstGeom prst="rect">
            <a:avLst/>
          </a:prstGeom>
          <a:solidFill>
            <a:srgbClr val="16A34A"/>
          </a:solidFill>
          <a:ln/>
        </p:spPr>
      </p:sp>
      <p:sp>
        <p:nvSpPr>
          <p:cNvPr id="17" name="Text 15"/>
          <p:cNvSpPr/>
          <p:nvPr/>
        </p:nvSpPr>
        <p:spPr>
          <a:xfrm>
            <a:off x="6227064" y="1152144"/>
            <a:ext cx="457200" cy="420624"/>
          </a:xfrm>
          <a:prstGeom prst="rect">
            <a:avLst/>
          </a:prstGeom>
          <a:noFill/>
          <a:ln/>
        </p:spPr>
        <p:txBody>
          <a:bodyPr wrap="square" rtlCol="0" anchor="ctr"/>
          <a:lstStyle/>
          <a:p>
            <a:pPr marL="0" indent="0">
              <a:buNone/>
            </a:pPr>
            <a:r>
              <a:rPr lang="en-US" sz="2000">
                <a:solidFill>
                  <a:srgbClr val="000000"/>
                </a:solidFill>
              </a:rPr>
              <a:t>🟢</a:t>
            </a:r>
            <a:endParaRPr lang="en-US" sz="2000"/>
          </a:p>
        </p:txBody>
      </p:sp>
      <p:sp>
        <p:nvSpPr>
          <p:cNvPr id="18" name="Text 16"/>
          <p:cNvSpPr/>
          <p:nvPr/>
        </p:nvSpPr>
        <p:spPr>
          <a:xfrm>
            <a:off x="6711696" y="1152144"/>
            <a:ext cx="2011680" cy="420624"/>
          </a:xfrm>
          <a:prstGeom prst="rect">
            <a:avLst/>
          </a:prstGeom>
          <a:noFill/>
          <a:ln/>
        </p:spPr>
        <p:txBody>
          <a:bodyPr wrap="square" rtlCol="0" anchor="ctr"/>
          <a:lstStyle/>
          <a:p>
            <a:pPr marL="0" indent="0">
              <a:buNone/>
            </a:pPr>
            <a:r>
              <a:rPr lang="en-US" sz="1300" b="1">
                <a:solidFill>
                  <a:srgbClr val="16A34A"/>
                </a:solidFill>
              </a:rPr>
              <a:t>NodeJS / NestJS</a:t>
            </a:r>
            <a:endParaRPr lang="en-US" sz="1300"/>
          </a:p>
        </p:txBody>
      </p:sp>
      <p:sp>
        <p:nvSpPr>
          <p:cNvPr id="19" name="Text 17"/>
          <p:cNvSpPr/>
          <p:nvPr/>
        </p:nvSpPr>
        <p:spPr>
          <a:xfrm>
            <a:off x="6227064" y="1609344"/>
            <a:ext cx="2523744" cy="1024128"/>
          </a:xfrm>
          <a:prstGeom prst="rect">
            <a:avLst/>
          </a:prstGeom>
          <a:noFill/>
          <a:ln/>
        </p:spPr>
        <p:txBody>
          <a:bodyPr wrap="square" rtlCol="0" anchor="ctr"/>
          <a:lstStyle/>
          <a:p>
            <a:pPr marL="0" indent="0">
              <a:buNone/>
            </a:pPr>
            <a:r>
              <a:rPr lang="en-US" sz="1400">
                <a:solidFill>
                  <a:srgbClr val="1E293B"/>
                </a:solidFill>
              </a:rPr>
              <a:t>Runtime JavaScript phía server; NestJS cung cấp kiến trúc modular, TypeScript-first cho API.</a:t>
            </a:r>
            <a:endParaRPr lang="en-US" sz="1400"/>
          </a:p>
        </p:txBody>
      </p:sp>
      <p:sp>
        <p:nvSpPr>
          <p:cNvPr id="20" name="Shape 18"/>
          <p:cNvSpPr/>
          <p:nvPr/>
        </p:nvSpPr>
        <p:spPr>
          <a:xfrm>
            <a:off x="228600" y="2999232"/>
            <a:ext cx="274320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21" name="Shape 19"/>
          <p:cNvSpPr/>
          <p:nvPr/>
        </p:nvSpPr>
        <p:spPr>
          <a:xfrm>
            <a:off x="228600" y="2999232"/>
            <a:ext cx="2743200" cy="73152"/>
          </a:xfrm>
          <a:prstGeom prst="rect">
            <a:avLst/>
          </a:prstGeom>
          <a:solidFill>
            <a:srgbClr val="B45309"/>
          </a:solidFill>
          <a:ln/>
        </p:spPr>
      </p:sp>
      <p:sp>
        <p:nvSpPr>
          <p:cNvPr id="22" name="Text 20"/>
          <p:cNvSpPr/>
          <p:nvPr/>
        </p:nvSpPr>
        <p:spPr>
          <a:xfrm>
            <a:off x="338328" y="3145536"/>
            <a:ext cx="457200" cy="420624"/>
          </a:xfrm>
          <a:prstGeom prst="rect">
            <a:avLst/>
          </a:prstGeom>
          <a:noFill/>
          <a:ln/>
        </p:spPr>
        <p:txBody>
          <a:bodyPr wrap="square" rtlCol="0" anchor="ctr"/>
          <a:lstStyle/>
          <a:p>
            <a:pPr marL="0" indent="0">
              <a:buNone/>
            </a:pPr>
            <a:r>
              <a:rPr lang="en-US" sz="2000">
                <a:solidFill>
                  <a:srgbClr val="000000"/>
                </a:solidFill>
              </a:rPr>
              <a:t>🗄️</a:t>
            </a:r>
            <a:endParaRPr lang="en-US" sz="2000"/>
          </a:p>
        </p:txBody>
      </p:sp>
      <p:sp>
        <p:nvSpPr>
          <p:cNvPr id="23" name="Text 21"/>
          <p:cNvSpPr/>
          <p:nvPr/>
        </p:nvSpPr>
        <p:spPr>
          <a:xfrm>
            <a:off x="822960" y="3145536"/>
            <a:ext cx="2011680" cy="420624"/>
          </a:xfrm>
          <a:prstGeom prst="rect">
            <a:avLst/>
          </a:prstGeom>
          <a:noFill/>
          <a:ln/>
        </p:spPr>
        <p:txBody>
          <a:bodyPr wrap="square" rtlCol="0" anchor="ctr"/>
          <a:lstStyle/>
          <a:p>
            <a:pPr marL="0" indent="0">
              <a:buNone/>
            </a:pPr>
            <a:r>
              <a:rPr lang="en-US" sz="1300" b="1">
                <a:solidFill>
                  <a:srgbClr val="B45309"/>
                </a:solidFill>
              </a:rPr>
              <a:t>MySQL</a:t>
            </a:r>
            <a:endParaRPr lang="en-US" sz="1300"/>
          </a:p>
        </p:txBody>
      </p:sp>
      <p:sp>
        <p:nvSpPr>
          <p:cNvPr id="24" name="Text 22"/>
          <p:cNvSpPr/>
          <p:nvPr/>
        </p:nvSpPr>
        <p:spPr>
          <a:xfrm>
            <a:off x="338328" y="3602736"/>
            <a:ext cx="2523744" cy="1024128"/>
          </a:xfrm>
          <a:prstGeom prst="rect">
            <a:avLst/>
          </a:prstGeom>
          <a:noFill/>
          <a:ln/>
        </p:spPr>
        <p:txBody>
          <a:bodyPr wrap="square" rtlCol="0" anchor="ctr"/>
          <a:lstStyle/>
          <a:p>
            <a:pPr marL="0" indent="0">
              <a:buNone/>
            </a:pPr>
            <a:r>
              <a:rPr lang="en-US" sz="1400">
                <a:solidFill>
                  <a:srgbClr val="1E293B"/>
                </a:solidFill>
              </a:rPr>
              <a:t>Hệ quản trị CSDL quan hệ, lưu trữ dữ liệu User, Product, Category, Order.</a:t>
            </a:r>
            <a:endParaRPr lang="en-US" sz="1400"/>
          </a:p>
        </p:txBody>
      </p:sp>
      <p:sp>
        <p:nvSpPr>
          <p:cNvPr id="25" name="Shape 23"/>
          <p:cNvSpPr/>
          <p:nvPr/>
        </p:nvSpPr>
        <p:spPr>
          <a:xfrm>
            <a:off x="3172968" y="2999232"/>
            <a:ext cx="274320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26" name="Shape 24"/>
          <p:cNvSpPr/>
          <p:nvPr/>
        </p:nvSpPr>
        <p:spPr>
          <a:xfrm>
            <a:off x="3172968" y="2999232"/>
            <a:ext cx="2743200" cy="73152"/>
          </a:xfrm>
          <a:prstGeom prst="rect">
            <a:avLst/>
          </a:prstGeom>
          <a:solidFill>
            <a:srgbClr val="7C3AED"/>
          </a:solidFill>
          <a:ln/>
        </p:spPr>
      </p:sp>
      <p:sp>
        <p:nvSpPr>
          <p:cNvPr id="27" name="Text 25"/>
          <p:cNvSpPr/>
          <p:nvPr/>
        </p:nvSpPr>
        <p:spPr>
          <a:xfrm>
            <a:off x="3282696" y="3145536"/>
            <a:ext cx="457200" cy="420624"/>
          </a:xfrm>
          <a:prstGeom prst="rect">
            <a:avLst/>
          </a:prstGeom>
          <a:noFill/>
          <a:ln/>
        </p:spPr>
        <p:txBody>
          <a:bodyPr wrap="square" rtlCol="0" anchor="ctr"/>
          <a:lstStyle/>
          <a:p>
            <a:pPr marL="0" indent="0">
              <a:buNone/>
            </a:pPr>
            <a:r>
              <a:rPr lang="en-US" sz="2000">
                <a:solidFill>
                  <a:srgbClr val="000000"/>
                </a:solidFill>
              </a:rPr>
              <a:t>🤖</a:t>
            </a:r>
            <a:endParaRPr lang="en-US" sz="2000"/>
          </a:p>
        </p:txBody>
      </p:sp>
      <p:sp>
        <p:nvSpPr>
          <p:cNvPr id="28" name="Text 26"/>
          <p:cNvSpPr/>
          <p:nvPr/>
        </p:nvSpPr>
        <p:spPr>
          <a:xfrm>
            <a:off x="3767328" y="3145536"/>
            <a:ext cx="2011680" cy="420624"/>
          </a:xfrm>
          <a:prstGeom prst="rect">
            <a:avLst/>
          </a:prstGeom>
          <a:noFill/>
          <a:ln/>
        </p:spPr>
        <p:txBody>
          <a:bodyPr wrap="square" rtlCol="0" anchor="ctr"/>
          <a:lstStyle/>
          <a:p>
            <a:pPr marL="0" indent="0">
              <a:buNone/>
            </a:pPr>
            <a:r>
              <a:rPr lang="en-US" sz="1300" b="1">
                <a:solidFill>
                  <a:srgbClr val="7C3AED"/>
                </a:solidFill>
              </a:rPr>
              <a:t>Chatbot Engine</a:t>
            </a:r>
            <a:endParaRPr lang="en-US" sz="1300"/>
          </a:p>
        </p:txBody>
      </p:sp>
      <p:sp>
        <p:nvSpPr>
          <p:cNvPr id="29" name="Text 27"/>
          <p:cNvSpPr/>
          <p:nvPr/>
        </p:nvSpPr>
        <p:spPr>
          <a:xfrm>
            <a:off x="3282696" y="3602736"/>
            <a:ext cx="2523744" cy="1024128"/>
          </a:xfrm>
          <a:prstGeom prst="rect">
            <a:avLst/>
          </a:prstGeom>
          <a:noFill/>
          <a:ln/>
        </p:spPr>
        <p:txBody>
          <a:bodyPr wrap="square" rtlCol="0" anchor="ctr"/>
          <a:lstStyle/>
          <a:p>
            <a:pPr marL="0" indent="0">
              <a:buNone/>
            </a:pPr>
            <a:r>
              <a:rPr lang="en-US" sz="1400">
                <a:solidFill>
                  <a:srgbClr val="1E293B"/>
                </a:solidFill>
              </a:rPr>
              <a:t>Rule-based kết hợp Levenshtein distance để nhận diện ý định, lưu hành vi qua localStorage.</a:t>
            </a:r>
            <a:endParaRPr lang="en-US" sz="1400"/>
          </a:p>
        </p:txBody>
      </p:sp>
      <p:sp>
        <p:nvSpPr>
          <p:cNvPr id="30" name="Shape 28"/>
          <p:cNvSpPr/>
          <p:nvPr/>
        </p:nvSpPr>
        <p:spPr>
          <a:xfrm>
            <a:off x="6117336" y="2999232"/>
            <a:ext cx="274320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31" name="Shape 29"/>
          <p:cNvSpPr/>
          <p:nvPr/>
        </p:nvSpPr>
        <p:spPr>
          <a:xfrm>
            <a:off x="6117336" y="2999232"/>
            <a:ext cx="2743200" cy="73152"/>
          </a:xfrm>
          <a:prstGeom prst="rect">
            <a:avLst/>
          </a:prstGeom>
          <a:solidFill>
            <a:srgbClr val="DB2777"/>
          </a:solidFill>
          <a:ln/>
        </p:spPr>
      </p:sp>
      <p:sp>
        <p:nvSpPr>
          <p:cNvPr id="32" name="Text 30"/>
          <p:cNvSpPr/>
          <p:nvPr/>
        </p:nvSpPr>
        <p:spPr>
          <a:xfrm>
            <a:off x="6227064" y="3145536"/>
            <a:ext cx="457200" cy="420624"/>
          </a:xfrm>
          <a:prstGeom prst="rect">
            <a:avLst/>
          </a:prstGeom>
          <a:noFill/>
          <a:ln/>
        </p:spPr>
        <p:txBody>
          <a:bodyPr wrap="square" rtlCol="0" anchor="ctr"/>
          <a:lstStyle/>
          <a:p>
            <a:pPr marL="0" indent="0">
              <a:buNone/>
            </a:pPr>
            <a:r>
              <a:rPr lang="en-US" sz="2000">
                <a:solidFill>
                  <a:srgbClr val="000000"/>
                </a:solidFill>
              </a:rPr>
              <a:t>💡</a:t>
            </a:r>
            <a:endParaRPr lang="en-US" sz="2000"/>
          </a:p>
        </p:txBody>
      </p:sp>
      <p:sp>
        <p:nvSpPr>
          <p:cNvPr id="33" name="Text 31"/>
          <p:cNvSpPr/>
          <p:nvPr/>
        </p:nvSpPr>
        <p:spPr>
          <a:xfrm>
            <a:off x="6711696" y="3145536"/>
            <a:ext cx="2011680" cy="420624"/>
          </a:xfrm>
          <a:prstGeom prst="rect">
            <a:avLst/>
          </a:prstGeom>
          <a:noFill/>
          <a:ln/>
        </p:spPr>
        <p:txBody>
          <a:bodyPr wrap="square" rtlCol="0" anchor="ctr"/>
          <a:lstStyle/>
          <a:p>
            <a:pPr marL="0" indent="0">
              <a:buNone/>
            </a:pPr>
            <a:r>
              <a:rPr lang="en-US" sz="1300" b="1">
                <a:solidFill>
                  <a:srgbClr val="DB2777"/>
                </a:solidFill>
              </a:rPr>
              <a:t>Recommendation</a:t>
            </a:r>
            <a:endParaRPr lang="en-US" sz="1300"/>
          </a:p>
        </p:txBody>
      </p:sp>
      <p:sp>
        <p:nvSpPr>
          <p:cNvPr id="34" name="Text 32"/>
          <p:cNvSpPr/>
          <p:nvPr/>
        </p:nvSpPr>
        <p:spPr>
          <a:xfrm>
            <a:off x="6227064" y="3602736"/>
            <a:ext cx="2523744" cy="1024128"/>
          </a:xfrm>
          <a:prstGeom prst="rect">
            <a:avLst/>
          </a:prstGeom>
          <a:noFill/>
          <a:ln/>
        </p:spPr>
        <p:txBody>
          <a:bodyPr wrap="square" rtlCol="0" anchor="ctr"/>
          <a:lstStyle/>
          <a:p>
            <a:pPr marL="0" indent="0">
              <a:buNone/>
            </a:pPr>
            <a:r>
              <a:rPr lang="en-US" sz="1400">
                <a:solidFill>
                  <a:srgbClr val="1E293B"/>
                </a:solidFill>
              </a:rPr>
              <a:t>Content-based filtering + hành vi người dùng để gợi ý sản phẩm phù hợp.</a:t>
            </a:r>
            <a:endParaRPr 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PHÂN TÍCH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Biểu Đồ Use Case &amp; Yêu Cầu Hệ Thống</a:t>
            </a:r>
            <a:endParaRPr lang="en-US" sz="2200"/>
          </a:p>
        </p:txBody>
      </p:sp>
      <p:pic>
        <p:nvPicPr>
          <p:cNvPr id="33" name="image29.png">
            <a:extLst>
              <a:ext uri="{FF2B5EF4-FFF2-40B4-BE49-F238E27FC236}">
                <a16:creationId xmlns:a16="http://schemas.microsoft.com/office/drawing/2014/main" id="{9841A8AE-DB02-55A0-41AA-8CA475283236}"/>
              </a:ext>
            </a:extLst>
          </p:cNvPr>
          <p:cNvPicPr/>
          <p:nvPr/>
        </p:nvPicPr>
        <p:blipFill>
          <a:blip r:embed="rId3"/>
          <a:srcRect/>
          <a:stretch>
            <a:fillRect/>
          </a:stretch>
        </p:blipFill>
        <p:spPr>
          <a:xfrm>
            <a:off x="365760" y="1161288"/>
            <a:ext cx="8412480" cy="3363686"/>
          </a:xfrm>
          <a:prstGeom prst="rect">
            <a:avLst/>
          </a:prstGeom>
          <a:ln/>
        </p:spPr>
      </p:pic>
      <p:sp>
        <p:nvSpPr>
          <p:cNvPr id="34" name="TextBox 33">
            <a:extLst>
              <a:ext uri="{FF2B5EF4-FFF2-40B4-BE49-F238E27FC236}">
                <a16:creationId xmlns:a16="http://schemas.microsoft.com/office/drawing/2014/main" id="{E72CEFE1-62EB-D7D6-8D65-F5F79E041FFE}"/>
              </a:ext>
            </a:extLst>
          </p:cNvPr>
          <p:cNvSpPr txBox="1"/>
          <p:nvPr/>
        </p:nvSpPr>
        <p:spPr>
          <a:xfrm>
            <a:off x="3020369" y="4587196"/>
            <a:ext cx="2920382" cy="369332"/>
          </a:xfrm>
          <a:prstGeom prst="rect">
            <a:avLst/>
          </a:prstGeom>
          <a:noFill/>
        </p:spPr>
        <p:txBody>
          <a:bodyPr wrap="square" rtlCol="0">
            <a:spAutoFit/>
          </a:bodyPr>
          <a:lstStyle/>
          <a:p>
            <a:r>
              <a:rPr lang="en-US" err="1"/>
              <a:t>Biểu</a:t>
            </a:r>
            <a:r>
              <a:rPr lang="en-US"/>
              <a:t> </a:t>
            </a:r>
            <a:r>
              <a:rPr lang="en-US" err="1"/>
              <a:t>đồ</a:t>
            </a:r>
            <a:r>
              <a:rPr lang="en-US"/>
              <a:t> Use case </a:t>
            </a:r>
            <a:r>
              <a:rPr lang="en-US" err="1"/>
              <a:t>tổng</a:t>
            </a:r>
            <a:r>
              <a:rPr lang="en-US"/>
              <a:t> </a:t>
            </a:r>
            <a:r>
              <a:rPr lang="en-US" err="1"/>
              <a:t>quát</a:t>
            </a:r>
            <a:r>
              <a:rPr lang="en-US"/>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PHÂN TÍCH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Biểu Đồ Use Case &amp; Yêu Cầu Hệ Thống</a:t>
            </a:r>
            <a:endParaRPr lang="en-US" sz="2200"/>
          </a:p>
        </p:txBody>
      </p:sp>
      <p:pic>
        <p:nvPicPr>
          <p:cNvPr id="34" name="image31.png">
            <a:extLst>
              <a:ext uri="{FF2B5EF4-FFF2-40B4-BE49-F238E27FC236}">
                <a16:creationId xmlns:a16="http://schemas.microsoft.com/office/drawing/2014/main" id="{05A1F6C5-9B8C-5916-C729-E02BE75AA2F4}"/>
              </a:ext>
            </a:extLst>
          </p:cNvPr>
          <p:cNvPicPr/>
          <p:nvPr/>
        </p:nvPicPr>
        <p:blipFill>
          <a:blip r:embed="rId3"/>
          <a:srcRect/>
          <a:stretch>
            <a:fillRect/>
          </a:stretch>
        </p:blipFill>
        <p:spPr>
          <a:xfrm>
            <a:off x="365760" y="1335024"/>
            <a:ext cx="3740150" cy="2805430"/>
          </a:xfrm>
          <a:prstGeom prst="rect">
            <a:avLst/>
          </a:prstGeom>
          <a:ln/>
        </p:spPr>
      </p:pic>
      <p:pic>
        <p:nvPicPr>
          <p:cNvPr id="35" name="image28.png">
            <a:extLst>
              <a:ext uri="{FF2B5EF4-FFF2-40B4-BE49-F238E27FC236}">
                <a16:creationId xmlns:a16="http://schemas.microsoft.com/office/drawing/2014/main" id="{AA210DEB-CB30-AF1E-E8CD-3DCAA3B7D7F9}"/>
              </a:ext>
            </a:extLst>
          </p:cNvPr>
          <p:cNvPicPr/>
          <p:nvPr/>
        </p:nvPicPr>
        <p:blipFill>
          <a:blip r:embed="rId4"/>
          <a:srcRect/>
          <a:stretch>
            <a:fillRect/>
          </a:stretch>
        </p:blipFill>
        <p:spPr>
          <a:xfrm>
            <a:off x="4480560" y="1335024"/>
            <a:ext cx="4225834" cy="2805430"/>
          </a:xfrm>
          <a:prstGeom prst="rect">
            <a:avLst/>
          </a:prstGeom>
          <a:ln/>
        </p:spPr>
      </p:pic>
      <p:sp>
        <p:nvSpPr>
          <p:cNvPr id="36" name="TextBox 35">
            <a:extLst>
              <a:ext uri="{FF2B5EF4-FFF2-40B4-BE49-F238E27FC236}">
                <a16:creationId xmlns:a16="http://schemas.microsoft.com/office/drawing/2014/main" id="{DAEF917C-1E0B-4BC4-A3D7-56A4FBC7625F}"/>
              </a:ext>
            </a:extLst>
          </p:cNvPr>
          <p:cNvSpPr txBox="1"/>
          <p:nvPr/>
        </p:nvSpPr>
        <p:spPr>
          <a:xfrm>
            <a:off x="782752" y="4376412"/>
            <a:ext cx="2906165" cy="369332"/>
          </a:xfrm>
          <a:prstGeom prst="rect">
            <a:avLst/>
          </a:prstGeom>
          <a:noFill/>
        </p:spPr>
        <p:txBody>
          <a:bodyPr wrap="square" rtlCol="0">
            <a:spAutoFit/>
          </a:bodyPr>
          <a:lstStyle/>
          <a:p>
            <a:r>
              <a:rPr lang="en-US" err="1"/>
              <a:t>Biểu</a:t>
            </a:r>
            <a:r>
              <a:rPr lang="en-US"/>
              <a:t> </a:t>
            </a:r>
            <a:r>
              <a:rPr lang="en-US" err="1"/>
              <a:t>đồ</a:t>
            </a:r>
            <a:r>
              <a:rPr lang="en-US"/>
              <a:t> Use Case </a:t>
            </a:r>
            <a:r>
              <a:rPr lang="en-US" err="1"/>
              <a:t>Chính</a:t>
            </a:r>
            <a:endParaRPr lang="en-US"/>
          </a:p>
        </p:txBody>
      </p:sp>
      <p:sp>
        <p:nvSpPr>
          <p:cNvPr id="37" name="TextBox 36">
            <a:extLst>
              <a:ext uri="{FF2B5EF4-FFF2-40B4-BE49-F238E27FC236}">
                <a16:creationId xmlns:a16="http://schemas.microsoft.com/office/drawing/2014/main" id="{031EE52C-8E22-3807-5C1F-91E7D6AE9CF8}"/>
              </a:ext>
            </a:extLst>
          </p:cNvPr>
          <p:cNvSpPr txBox="1"/>
          <p:nvPr/>
        </p:nvSpPr>
        <p:spPr>
          <a:xfrm>
            <a:off x="5313477" y="4344146"/>
            <a:ext cx="2906165" cy="369332"/>
          </a:xfrm>
          <a:prstGeom prst="rect">
            <a:avLst/>
          </a:prstGeom>
          <a:noFill/>
        </p:spPr>
        <p:txBody>
          <a:bodyPr wrap="square" rtlCol="0">
            <a:spAutoFit/>
          </a:bodyPr>
          <a:lstStyle/>
          <a:p>
            <a:r>
              <a:rPr lang="en-US" err="1"/>
              <a:t>Biểu</a:t>
            </a:r>
            <a:r>
              <a:rPr lang="en-US"/>
              <a:t> </a:t>
            </a:r>
            <a:r>
              <a:rPr lang="en-US" err="1"/>
              <a:t>đồ</a:t>
            </a:r>
            <a:r>
              <a:rPr lang="en-US"/>
              <a:t> Use Case </a:t>
            </a:r>
            <a:r>
              <a:rPr lang="en-US" err="1"/>
              <a:t>thứ</a:t>
            </a:r>
            <a:r>
              <a:rPr lang="en-US"/>
              <a:t> </a:t>
            </a:r>
            <a:r>
              <a:rPr lang="en-US" err="1"/>
              <a:t>cấp</a:t>
            </a:r>
            <a:endParaRPr lang="en-US"/>
          </a:p>
        </p:txBody>
      </p:sp>
    </p:spTree>
    <p:extLst>
      <p:ext uri="{BB962C8B-B14F-4D97-AF65-F5344CB8AC3E}">
        <p14:creationId xmlns:p14="http://schemas.microsoft.com/office/powerpoint/2010/main" val="126801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PHÂN TÍCH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Biểu Đồ Use Case &amp; Yêu Cầu Hệ Thống</a:t>
            </a:r>
            <a:endParaRPr lang="en-US" sz="2200"/>
          </a:p>
        </p:txBody>
      </p:sp>
      <p:sp>
        <p:nvSpPr>
          <p:cNvPr id="5" name="Shape 3"/>
          <p:cNvSpPr/>
          <p:nvPr/>
        </p:nvSpPr>
        <p:spPr>
          <a:xfrm>
            <a:off x="274320" y="1005840"/>
            <a:ext cx="2743200" cy="384048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74320" y="1005840"/>
            <a:ext cx="2743200" cy="365760"/>
          </a:xfrm>
          <a:prstGeom prst="rect">
            <a:avLst/>
          </a:prstGeom>
          <a:solidFill>
            <a:srgbClr val="0D9488"/>
          </a:solidFill>
          <a:ln/>
        </p:spPr>
      </p:sp>
      <p:sp>
        <p:nvSpPr>
          <p:cNvPr id="7" name="Text 5"/>
          <p:cNvSpPr/>
          <p:nvPr/>
        </p:nvSpPr>
        <p:spPr>
          <a:xfrm>
            <a:off x="384048" y="1051560"/>
            <a:ext cx="2560320" cy="274320"/>
          </a:xfrm>
          <a:prstGeom prst="rect">
            <a:avLst/>
          </a:prstGeom>
          <a:noFill/>
          <a:ln/>
        </p:spPr>
        <p:txBody>
          <a:bodyPr wrap="square" rtlCol="0" anchor="ctr"/>
          <a:lstStyle/>
          <a:p>
            <a:pPr marL="0" indent="0">
              <a:buNone/>
            </a:pPr>
            <a:r>
              <a:rPr lang="en-US" sz="1200" b="1">
                <a:solidFill>
                  <a:srgbClr val="FFFFFF"/>
                </a:solidFill>
              </a:rPr>
              <a:t>👥  TÁC NHÂN</a:t>
            </a:r>
            <a:endParaRPr lang="en-US" sz="1200"/>
          </a:p>
        </p:txBody>
      </p:sp>
      <p:sp>
        <p:nvSpPr>
          <p:cNvPr id="8" name="Text 6"/>
          <p:cNvSpPr/>
          <p:nvPr/>
        </p:nvSpPr>
        <p:spPr>
          <a:xfrm>
            <a:off x="411480" y="1463040"/>
            <a:ext cx="2468880" cy="274320"/>
          </a:xfrm>
          <a:prstGeom prst="rect">
            <a:avLst/>
          </a:prstGeom>
          <a:noFill/>
          <a:ln/>
        </p:spPr>
        <p:txBody>
          <a:bodyPr wrap="square" rtlCol="0" anchor="ctr"/>
          <a:lstStyle/>
          <a:p>
            <a:pPr marL="0" indent="0">
              <a:buNone/>
            </a:pPr>
            <a:r>
              <a:rPr lang="en-US" sz="1200" b="1">
                <a:solidFill>
                  <a:srgbClr val="0D1B2A"/>
                </a:solidFill>
              </a:rPr>
              <a:t>▶  Khách hàng</a:t>
            </a:r>
            <a:endParaRPr lang="en-US" sz="1200"/>
          </a:p>
        </p:txBody>
      </p:sp>
      <p:sp>
        <p:nvSpPr>
          <p:cNvPr id="9" name="Text 7"/>
          <p:cNvSpPr/>
          <p:nvPr/>
        </p:nvSpPr>
        <p:spPr>
          <a:xfrm>
            <a:off x="411480" y="1737360"/>
            <a:ext cx="2468880" cy="256032"/>
          </a:xfrm>
          <a:prstGeom prst="rect">
            <a:avLst/>
          </a:prstGeom>
          <a:noFill/>
          <a:ln/>
        </p:spPr>
        <p:txBody>
          <a:bodyPr wrap="square" rtlCol="0" anchor="ctr"/>
          <a:lstStyle/>
          <a:p>
            <a:pPr marL="0" indent="0">
              <a:buNone/>
            </a:pPr>
            <a:r>
              <a:rPr lang="en-US" sz="1100">
                <a:solidFill>
                  <a:srgbClr val="1E293B"/>
                </a:solidFill>
              </a:rPr>
              <a:t>   • Xem sản phẩm</a:t>
            </a:r>
            <a:endParaRPr lang="en-US" sz="1100"/>
          </a:p>
        </p:txBody>
      </p:sp>
      <p:sp>
        <p:nvSpPr>
          <p:cNvPr id="10" name="Text 8"/>
          <p:cNvSpPr/>
          <p:nvPr/>
        </p:nvSpPr>
        <p:spPr>
          <a:xfrm>
            <a:off x="411480" y="1993392"/>
            <a:ext cx="2468880" cy="256032"/>
          </a:xfrm>
          <a:prstGeom prst="rect">
            <a:avLst/>
          </a:prstGeom>
          <a:noFill/>
          <a:ln/>
        </p:spPr>
        <p:txBody>
          <a:bodyPr wrap="square" rtlCol="0" anchor="ctr"/>
          <a:lstStyle/>
          <a:p>
            <a:pPr marL="0" indent="0">
              <a:buNone/>
            </a:pPr>
            <a:r>
              <a:rPr lang="en-US" sz="1100">
                <a:solidFill>
                  <a:srgbClr val="1E293B"/>
                </a:solidFill>
              </a:rPr>
              <a:t>   • Đặt hàng</a:t>
            </a:r>
            <a:endParaRPr lang="en-US" sz="1100"/>
          </a:p>
        </p:txBody>
      </p:sp>
      <p:sp>
        <p:nvSpPr>
          <p:cNvPr id="11" name="Text 9"/>
          <p:cNvSpPr/>
          <p:nvPr/>
        </p:nvSpPr>
        <p:spPr>
          <a:xfrm>
            <a:off x="411480" y="2249424"/>
            <a:ext cx="2468880" cy="256032"/>
          </a:xfrm>
          <a:prstGeom prst="rect">
            <a:avLst/>
          </a:prstGeom>
          <a:noFill/>
          <a:ln/>
        </p:spPr>
        <p:txBody>
          <a:bodyPr wrap="square" rtlCol="0" anchor="ctr"/>
          <a:lstStyle/>
          <a:p>
            <a:pPr marL="0" indent="0">
              <a:buNone/>
            </a:pPr>
            <a:r>
              <a:rPr lang="en-US" sz="1100">
                <a:solidFill>
                  <a:srgbClr val="1E293B"/>
                </a:solidFill>
              </a:rPr>
              <a:t>   • Đăng nhập/Đăng ký</a:t>
            </a:r>
            <a:endParaRPr lang="en-US" sz="1100"/>
          </a:p>
        </p:txBody>
      </p:sp>
      <p:sp>
        <p:nvSpPr>
          <p:cNvPr id="12" name="Text 10"/>
          <p:cNvSpPr/>
          <p:nvPr/>
        </p:nvSpPr>
        <p:spPr>
          <a:xfrm>
            <a:off x="411480" y="2505456"/>
            <a:ext cx="2468880" cy="256032"/>
          </a:xfrm>
          <a:prstGeom prst="rect">
            <a:avLst/>
          </a:prstGeom>
          <a:noFill/>
          <a:ln/>
        </p:spPr>
        <p:txBody>
          <a:bodyPr wrap="square" rtlCol="0" anchor="ctr"/>
          <a:lstStyle/>
          <a:p>
            <a:pPr marL="0" indent="0">
              <a:buNone/>
            </a:pPr>
            <a:r>
              <a:rPr lang="en-US" sz="1100">
                <a:solidFill>
                  <a:srgbClr val="1E293B"/>
                </a:solidFill>
              </a:rPr>
              <a:t>   • Hỏi Chatbot</a:t>
            </a:r>
            <a:endParaRPr lang="en-US" sz="1100"/>
          </a:p>
        </p:txBody>
      </p:sp>
      <p:sp>
        <p:nvSpPr>
          <p:cNvPr id="13" name="Text 11"/>
          <p:cNvSpPr/>
          <p:nvPr/>
        </p:nvSpPr>
        <p:spPr>
          <a:xfrm>
            <a:off x="411480" y="2852928"/>
            <a:ext cx="2468880" cy="274320"/>
          </a:xfrm>
          <a:prstGeom prst="rect">
            <a:avLst/>
          </a:prstGeom>
          <a:noFill/>
          <a:ln/>
        </p:spPr>
        <p:txBody>
          <a:bodyPr wrap="square" rtlCol="0" anchor="ctr"/>
          <a:lstStyle/>
          <a:p>
            <a:pPr marL="0" indent="0">
              <a:buNone/>
            </a:pPr>
            <a:r>
              <a:rPr lang="en-US" sz="1200" b="1">
                <a:solidFill>
                  <a:srgbClr val="0D1B2A"/>
                </a:solidFill>
              </a:rPr>
              <a:t>▶  Admin</a:t>
            </a:r>
            <a:endParaRPr lang="en-US" sz="1200"/>
          </a:p>
        </p:txBody>
      </p:sp>
      <p:sp>
        <p:nvSpPr>
          <p:cNvPr id="14" name="Text 12"/>
          <p:cNvSpPr/>
          <p:nvPr/>
        </p:nvSpPr>
        <p:spPr>
          <a:xfrm>
            <a:off x="411480" y="3127248"/>
            <a:ext cx="2468880" cy="256032"/>
          </a:xfrm>
          <a:prstGeom prst="rect">
            <a:avLst/>
          </a:prstGeom>
          <a:noFill/>
          <a:ln/>
        </p:spPr>
        <p:txBody>
          <a:bodyPr wrap="square" rtlCol="0" anchor="ctr"/>
          <a:lstStyle/>
          <a:p>
            <a:pPr marL="0" indent="0">
              <a:buNone/>
            </a:pPr>
            <a:r>
              <a:rPr lang="en-US" sz="1100">
                <a:solidFill>
                  <a:srgbClr val="1E293B"/>
                </a:solidFill>
              </a:rPr>
              <a:t>   • Quản lý sản phẩm</a:t>
            </a:r>
            <a:endParaRPr lang="en-US" sz="1100"/>
          </a:p>
        </p:txBody>
      </p:sp>
      <p:sp>
        <p:nvSpPr>
          <p:cNvPr id="15" name="Text 13"/>
          <p:cNvSpPr/>
          <p:nvPr/>
        </p:nvSpPr>
        <p:spPr>
          <a:xfrm>
            <a:off x="411480" y="3383280"/>
            <a:ext cx="2468880" cy="256032"/>
          </a:xfrm>
          <a:prstGeom prst="rect">
            <a:avLst/>
          </a:prstGeom>
          <a:noFill/>
          <a:ln/>
        </p:spPr>
        <p:txBody>
          <a:bodyPr wrap="square" rtlCol="0" anchor="ctr"/>
          <a:lstStyle/>
          <a:p>
            <a:pPr marL="0" indent="0">
              <a:buNone/>
            </a:pPr>
            <a:r>
              <a:rPr lang="en-US" sz="1100">
                <a:solidFill>
                  <a:srgbClr val="1E293B"/>
                </a:solidFill>
              </a:rPr>
              <a:t>   • Quản lý đơn hàng</a:t>
            </a:r>
            <a:endParaRPr lang="en-US" sz="1100"/>
          </a:p>
        </p:txBody>
      </p:sp>
      <p:sp>
        <p:nvSpPr>
          <p:cNvPr id="16" name="Text 14"/>
          <p:cNvSpPr/>
          <p:nvPr/>
        </p:nvSpPr>
        <p:spPr>
          <a:xfrm>
            <a:off x="411480" y="3639312"/>
            <a:ext cx="2468880" cy="256032"/>
          </a:xfrm>
          <a:prstGeom prst="rect">
            <a:avLst/>
          </a:prstGeom>
          <a:noFill/>
          <a:ln/>
        </p:spPr>
        <p:txBody>
          <a:bodyPr wrap="square" rtlCol="0" anchor="ctr"/>
          <a:lstStyle/>
          <a:p>
            <a:pPr marL="0" indent="0">
              <a:buNone/>
            </a:pPr>
            <a:r>
              <a:rPr lang="en-US" sz="1100">
                <a:solidFill>
                  <a:srgbClr val="1E293B"/>
                </a:solidFill>
              </a:rPr>
              <a:t>   • Quản lý người dùng</a:t>
            </a:r>
            <a:endParaRPr lang="en-US" sz="1100"/>
          </a:p>
        </p:txBody>
      </p:sp>
      <p:sp>
        <p:nvSpPr>
          <p:cNvPr id="17" name="Text 15"/>
          <p:cNvSpPr/>
          <p:nvPr/>
        </p:nvSpPr>
        <p:spPr>
          <a:xfrm>
            <a:off x="411480" y="3895344"/>
            <a:ext cx="2468880" cy="256032"/>
          </a:xfrm>
          <a:prstGeom prst="rect">
            <a:avLst/>
          </a:prstGeom>
          <a:noFill/>
          <a:ln/>
        </p:spPr>
        <p:txBody>
          <a:bodyPr wrap="square" rtlCol="0" anchor="ctr"/>
          <a:lstStyle/>
          <a:p>
            <a:pPr marL="0" indent="0">
              <a:buNone/>
            </a:pPr>
            <a:r>
              <a:rPr lang="en-US" sz="1100">
                <a:solidFill>
                  <a:srgbClr val="1E293B"/>
                </a:solidFill>
              </a:rPr>
              <a:t>   • Quản lý danh mục</a:t>
            </a:r>
            <a:endParaRPr lang="en-US" sz="1100"/>
          </a:p>
        </p:txBody>
      </p:sp>
      <p:sp>
        <p:nvSpPr>
          <p:cNvPr id="18" name="Shape 16"/>
          <p:cNvSpPr/>
          <p:nvPr/>
        </p:nvSpPr>
        <p:spPr>
          <a:xfrm>
            <a:off x="3291840" y="1005840"/>
            <a:ext cx="5577840" cy="3840480"/>
          </a:xfrm>
          <a:prstGeom prst="rect">
            <a:avLst/>
          </a:prstGeom>
          <a:solidFill>
            <a:srgbClr val="FFFFFF"/>
          </a:solidFill>
          <a:ln/>
          <a:effectLst>
            <a:outerShdw blurRad="101600" dist="38100" dir="8100000" algn="bl" rotWithShape="0">
              <a:srgbClr val="000000">
                <a:alpha val="18000"/>
              </a:srgbClr>
            </a:outerShdw>
          </a:effectLst>
        </p:spPr>
      </p:sp>
      <p:sp>
        <p:nvSpPr>
          <p:cNvPr id="19" name="Shape 17"/>
          <p:cNvSpPr/>
          <p:nvPr/>
        </p:nvSpPr>
        <p:spPr>
          <a:xfrm>
            <a:off x="3291840" y="1005840"/>
            <a:ext cx="5577840" cy="365760"/>
          </a:xfrm>
          <a:prstGeom prst="rect">
            <a:avLst/>
          </a:prstGeom>
          <a:solidFill>
            <a:srgbClr val="0D1B2A"/>
          </a:solidFill>
          <a:ln/>
        </p:spPr>
      </p:sp>
      <p:sp>
        <p:nvSpPr>
          <p:cNvPr id="20" name="Text 18"/>
          <p:cNvSpPr/>
          <p:nvPr/>
        </p:nvSpPr>
        <p:spPr>
          <a:xfrm>
            <a:off x="3401568" y="1051560"/>
            <a:ext cx="5303520" cy="274320"/>
          </a:xfrm>
          <a:prstGeom prst="rect">
            <a:avLst/>
          </a:prstGeom>
          <a:noFill/>
          <a:ln/>
        </p:spPr>
        <p:txBody>
          <a:bodyPr wrap="square" rtlCol="0" anchor="ctr"/>
          <a:lstStyle/>
          <a:p>
            <a:pPr marL="0" indent="0">
              <a:buNone/>
            </a:pPr>
            <a:r>
              <a:rPr lang="en-US" sz="1200" b="1">
                <a:solidFill>
                  <a:srgbClr val="FFFFFF"/>
                </a:solidFill>
              </a:rPr>
              <a:t>📋  MÔ TẢ USE CASE CHÍNH</a:t>
            </a:r>
            <a:endParaRPr lang="en-US" sz="1200"/>
          </a:p>
        </p:txBody>
      </p:sp>
      <p:sp>
        <p:nvSpPr>
          <p:cNvPr id="21" name="Shape 19"/>
          <p:cNvSpPr/>
          <p:nvPr/>
        </p:nvSpPr>
        <p:spPr>
          <a:xfrm>
            <a:off x="3429000" y="1463040"/>
            <a:ext cx="5303520" cy="3259836"/>
          </a:xfrm>
          <a:prstGeom prst="rect">
            <a:avLst/>
          </a:prstGeom>
          <a:solidFill>
            <a:srgbClr val="F0F9FF"/>
          </a:solidFill>
          <a:ln w="3810">
            <a:solidFill>
              <a:srgbClr val="E2E8F0"/>
            </a:solidFill>
            <a:prstDash val="solid"/>
          </a:ln>
        </p:spPr>
      </p:sp>
      <p:sp>
        <p:nvSpPr>
          <p:cNvPr id="22" name="Shape 20"/>
          <p:cNvSpPr/>
          <p:nvPr/>
        </p:nvSpPr>
        <p:spPr>
          <a:xfrm>
            <a:off x="3429000" y="1463040"/>
            <a:ext cx="52251" cy="3259836"/>
          </a:xfrm>
          <a:prstGeom prst="rect">
            <a:avLst/>
          </a:prstGeom>
          <a:solidFill>
            <a:srgbClr val="0D9488"/>
          </a:solidFill>
          <a:ln/>
        </p:spPr>
      </p:sp>
      <p:sp>
        <p:nvSpPr>
          <p:cNvPr id="23" name="Text 21"/>
          <p:cNvSpPr/>
          <p:nvPr/>
        </p:nvSpPr>
        <p:spPr>
          <a:xfrm>
            <a:off x="3566160" y="1508760"/>
            <a:ext cx="5029200" cy="274320"/>
          </a:xfrm>
          <a:prstGeom prst="rect">
            <a:avLst/>
          </a:prstGeom>
          <a:noFill/>
          <a:ln/>
        </p:spPr>
        <p:txBody>
          <a:bodyPr wrap="square" rtlCol="0" anchor="ctr"/>
          <a:lstStyle/>
          <a:p>
            <a:pPr marL="0" indent="0">
              <a:buNone/>
            </a:pPr>
            <a:r>
              <a:rPr lang="en-US" sz="1200" b="1">
                <a:solidFill>
                  <a:srgbClr val="0D9488"/>
                </a:solidFill>
              </a:rPr>
              <a:t>Đặt hàng</a:t>
            </a:r>
            <a:endParaRPr lang="en-US" sz="1200"/>
          </a:p>
        </p:txBody>
      </p:sp>
      <p:sp>
        <p:nvSpPr>
          <p:cNvPr id="24" name="Text 22"/>
          <p:cNvSpPr/>
          <p:nvPr/>
        </p:nvSpPr>
        <p:spPr>
          <a:xfrm>
            <a:off x="3566160" y="1677925"/>
            <a:ext cx="5029200" cy="3259836"/>
          </a:xfrm>
          <a:prstGeom prst="rect">
            <a:avLst/>
          </a:prstGeom>
          <a:noFill/>
          <a:ln/>
        </p:spPr>
        <p:txBody>
          <a:bodyPr wrap="square" rtlCol="0" anchor="ctr"/>
          <a:lstStyle/>
          <a:p>
            <a:pPr marL="0" indent="0">
              <a:buNone/>
            </a:pPr>
            <a:r>
              <a:rPr lang="en-US" sz="1050" kern="100" err="1">
                <a:effectLst/>
                <a:ea typeface="Aptos" panose="020B0004020202020204" pitchFamily="34" charset="0"/>
                <a:cs typeface="Times New Roman" panose="02020603050405020304" pitchFamily="18" charset="0"/>
              </a:rPr>
              <a:t>Người</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dùng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chọn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sản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phẩm</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và</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thêm</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vào</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giỏ</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hàng</a:t>
            </a:r>
            <a:r>
              <a:rPr lang="en-US" sz="1050" kern="100">
                <a:effectLst/>
                <a:ea typeface="Aptos" panose="020B0004020202020204" pitchFamily="34" charset="0"/>
                <a:cs typeface="Times New Roman" panose="02020603050405020304" pitchFamily="18" charset="0"/>
              </a:rPr>
              <a:t>.</a:t>
            </a:r>
          </a:p>
          <a:p>
            <a:pPr marL="0" marR="0">
              <a:spcBef>
                <a:spcPts val="0"/>
              </a:spcBef>
              <a:spcAft>
                <a:spcPts val="800"/>
              </a:spcAft>
            </a:pPr>
            <a:r>
              <a:rPr lang="en-US" sz="1050" kern="100">
                <a:effectLst/>
                <a:ea typeface="Aptos" panose="020B0004020202020204" pitchFamily="34" charset="0"/>
                <a:cs typeface="Times New Roman" panose="02020603050405020304" pitchFamily="18" charset="0"/>
              </a:rPr>
              <a:t>Thông tin </a:t>
            </a:r>
            <a:r>
              <a:rPr lang="en-US" sz="1050" kern="100" err="1">
                <a:effectLst/>
                <a:ea typeface="Aptos" panose="020B0004020202020204" pitchFamily="34" charset="0"/>
                <a:cs typeface="Times New Roman" panose="02020603050405020304" pitchFamily="18" charset="0"/>
              </a:rPr>
              <a:t>sản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phẩm</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được</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lưu</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phía</a:t>
            </a:r>
            <a:r>
              <a:rPr lang="en-US" sz="1050" kern="100">
                <a:effectLst/>
                <a:ea typeface="Aptos" panose="020B0004020202020204" pitchFamily="34" charset="0"/>
                <a:cs typeface="Times New Roman" panose="02020603050405020304" pitchFamily="18" charset="0"/>
              </a:rPr>
              <a:t> client </a:t>
            </a:r>
            <a:r>
              <a:rPr lang="en-US" sz="1050" kern="100" err="1">
                <a:effectLst/>
                <a:ea typeface="Aptos" panose="020B0004020202020204" pitchFamily="34" charset="0"/>
                <a:cs typeface="Times New Roman" panose="02020603050405020304" pitchFamily="18" charset="0"/>
              </a:rPr>
              <a:t>để</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hiển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thị</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giỏ</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hàng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và</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tính</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tổng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tiền</a:t>
            </a:r>
            <a:r>
              <a:rPr lang="en-US" sz="1050" kern="100">
                <a:effectLst/>
                <a:ea typeface="Aptos" panose="020B0004020202020204" pitchFamily="34" charset="0"/>
                <a:cs typeface="Times New Roman" panose="02020603050405020304" pitchFamily="18" charset="0"/>
              </a:rPr>
              <a:t>.</a:t>
            </a:r>
          </a:p>
          <a:p>
            <a:pPr marL="0" marR="0">
              <a:spcBef>
                <a:spcPts val="0"/>
              </a:spcBef>
              <a:spcAft>
                <a:spcPts val="800"/>
              </a:spcAft>
            </a:pPr>
            <a:r>
              <a:rPr lang="en-US" sz="1050" kern="100">
                <a:effectLst/>
                <a:ea typeface="Aptos" panose="020B0004020202020204" pitchFamily="34" charset="0"/>
                <a:cs typeface="Times New Roman" panose="02020603050405020304" pitchFamily="18" charset="0"/>
              </a:rPr>
              <a:t>Khi </a:t>
            </a:r>
            <a:r>
              <a:rPr lang="en-US" sz="1050" kern="100" err="1">
                <a:effectLst/>
                <a:ea typeface="Aptos" panose="020B0004020202020204" pitchFamily="34" charset="0"/>
                <a:cs typeface="Times New Roman" panose="02020603050405020304" pitchFamily="18" charset="0"/>
              </a:rPr>
              <a:t>người</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dùng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đặt</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hàng</a:t>
            </a:r>
            <a:r>
              <a:rPr lang="en-US" sz="1050" kern="100">
                <a:effectLst/>
                <a:ea typeface="Aptos" panose="020B0004020202020204" pitchFamily="34" charset="0"/>
                <a:cs typeface="Times New Roman" panose="02020603050405020304" pitchFamily="18" charset="0"/>
              </a:rPr>
              <a:t>, frontend </a:t>
            </a:r>
            <a:r>
              <a:rPr lang="en-US" sz="1050" kern="100" err="1">
                <a:effectLst/>
                <a:ea typeface="Aptos" panose="020B0004020202020204" pitchFamily="34" charset="0"/>
                <a:cs typeface="Times New Roman" panose="02020603050405020304" pitchFamily="18" charset="0"/>
              </a:rPr>
              <a:t>gửi</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dữ</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liệu</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đơn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hàng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tới</a:t>
            </a:r>
            <a:r>
              <a:rPr lang="en-US" sz="1050" kern="100">
                <a:effectLst/>
                <a:ea typeface="Aptos" panose="020B0004020202020204" pitchFamily="34" charset="0"/>
                <a:cs typeface="Times New Roman" panose="02020603050405020304" pitchFamily="18" charset="0"/>
              </a:rPr>
              <a:t> backend </a:t>
            </a:r>
            <a:r>
              <a:rPr lang="en-US" sz="1050" kern="100" err="1">
                <a:effectLst/>
                <a:ea typeface="Aptos" panose="020B0004020202020204" pitchFamily="34" charset="0"/>
                <a:cs typeface="Times New Roman" panose="02020603050405020304" pitchFamily="18" charset="0"/>
              </a:rPr>
              <a:t>thông</a:t>
            </a:r>
            <a:r>
              <a:rPr lang="en-US" sz="1050" kern="100">
                <a:effectLst/>
                <a:ea typeface="Aptos" panose="020B0004020202020204" pitchFamily="34" charset="0"/>
                <a:cs typeface="Times New Roman" panose="02020603050405020304" pitchFamily="18" charset="0"/>
              </a:rPr>
              <a:t> qua API.</a:t>
            </a:r>
          </a:p>
          <a:p>
            <a:pPr marL="0" marR="0">
              <a:spcBef>
                <a:spcPts val="0"/>
              </a:spcBef>
              <a:spcAft>
                <a:spcPts val="800"/>
              </a:spcAft>
            </a:pPr>
            <a:r>
              <a:rPr lang="en-US" sz="1050" kern="100">
                <a:effectLst/>
                <a:ea typeface="Aptos" panose="020B0004020202020204" pitchFamily="34" charset="0"/>
                <a:cs typeface="Times New Roman" panose="02020603050405020304" pitchFamily="18" charset="0"/>
              </a:rPr>
              <a:t>Backend </a:t>
            </a:r>
            <a:r>
              <a:rPr lang="en-US" sz="1050" kern="100" err="1">
                <a:effectLst/>
                <a:ea typeface="Aptos" panose="020B0004020202020204" pitchFamily="34" charset="0"/>
                <a:cs typeface="Times New Roman" panose="02020603050405020304" pitchFamily="18" charset="0"/>
              </a:rPr>
              <a:t>tiếp</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nhận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dữ</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liệu</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xác</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thực</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người</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dùng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và</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tạo</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thông</a:t>
            </a:r>
            <a:r>
              <a:rPr lang="en-US" sz="1050" kern="100">
                <a:effectLst/>
                <a:ea typeface="Aptos" panose="020B0004020202020204" pitchFamily="34" charset="0"/>
                <a:cs typeface="Times New Roman" panose="02020603050405020304" pitchFamily="18" charset="0"/>
              </a:rPr>
              <a:t> tin </a:t>
            </a:r>
            <a:r>
              <a:rPr lang="en-US" sz="1050" kern="100" err="1">
                <a:effectLst/>
                <a:ea typeface="Aptos" panose="020B0004020202020204" pitchFamily="34" charset="0"/>
                <a:cs typeface="Times New Roman" panose="02020603050405020304" pitchFamily="18" charset="0"/>
              </a:rPr>
              <a:t>đơn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hàng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gồm</a:t>
            </a:r>
            <a:r>
              <a:rPr lang="en-US" sz="1050" kern="100">
                <a:effectLst/>
                <a:ea typeface="Aptos" panose="020B0004020202020204" pitchFamily="34" charset="0"/>
                <a:cs typeface="Times New Roman" panose="02020603050405020304" pitchFamily="18" charset="0"/>
              </a:rPr>
              <a:t>:</a:t>
            </a:r>
          </a:p>
          <a:p>
            <a:pPr marL="342900" marR="0" lvl="0" indent="-342900">
              <a:spcBef>
                <a:spcPts val="0"/>
              </a:spcBef>
              <a:spcAft>
                <a:spcPts val="0"/>
              </a:spcAft>
              <a:buFont typeface="Segoe UI Semilight" panose="020B0402040204020203" pitchFamily="34" charset="0"/>
              <a:buChar char="-"/>
            </a:pPr>
            <a:r>
              <a:rPr lang="en-US" sz="1050" kern="100" err="1">
                <a:effectLst/>
                <a:ea typeface="Aptos" panose="020B0004020202020204" pitchFamily="34" charset="0"/>
                <a:cs typeface="Times New Roman" panose="02020603050405020304" pitchFamily="18" charset="0"/>
              </a:rPr>
              <a:t>Bảng</a:t>
            </a:r>
            <a:r>
              <a:rPr lang="en-US" sz="1050" kern="100">
                <a:effectLst/>
                <a:ea typeface="Aptos" panose="020B0004020202020204" pitchFamily="34" charset="0"/>
                <a:cs typeface="Times New Roman" panose="02020603050405020304" pitchFamily="18" charset="0"/>
              </a:rPr>
              <a:t> Order</a:t>
            </a:r>
          </a:p>
          <a:p>
            <a:pPr marL="342900" marR="0" lvl="0" indent="-342900">
              <a:spcBef>
                <a:spcPts val="0"/>
              </a:spcBef>
              <a:spcAft>
                <a:spcPts val="800"/>
              </a:spcAft>
              <a:buFont typeface="Segoe UI Semilight" panose="020B0402040204020203" pitchFamily="34" charset="0"/>
              <a:buChar char="-"/>
            </a:pPr>
            <a:r>
              <a:rPr lang="en-US" sz="1050" kern="100" err="1">
                <a:effectLst/>
                <a:ea typeface="Aptos" panose="020B0004020202020204" pitchFamily="34" charset="0"/>
                <a:cs typeface="Times New Roman" panose="02020603050405020304" pitchFamily="18" charset="0"/>
              </a:rPr>
              <a:t>Bảng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OrderDetail</a:t>
            </a:r>
            <a:endParaRPr lang="en-US" sz="1050" kern="100">
              <a:effectLst/>
              <a:ea typeface="Aptos" panose="020B0004020202020204" pitchFamily="34" charset="0"/>
              <a:cs typeface="Times New Roman" panose="02020603050405020304" pitchFamily="18" charset="0"/>
            </a:endParaRPr>
          </a:p>
          <a:p>
            <a:pPr marL="0" marR="0">
              <a:spcBef>
                <a:spcPts val="0"/>
              </a:spcBef>
              <a:spcAft>
                <a:spcPts val="800"/>
              </a:spcAft>
            </a:pPr>
            <a:r>
              <a:rPr lang="en-US" sz="1050" kern="100">
                <a:effectLst/>
                <a:ea typeface="Aptos" panose="020B0004020202020204" pitchFamily="34" charset="0"/>
                <a:cs typeface="Times New Roman" panose="02020603050405020304" pitchFamily="18" charset="0"/>
              </a:rPr>
              <a:t>Sau </a:t>
            </a:r>
            <a:r>
              <a:rPr lang="en-US" sz="1050" kern="100" err="1">
                <a:effectLst/>
                <a:ea typeface="Aptos" panose="020B0004020202020204" pitchFamily="34" charset="0"/>
                <a:cs typeface="Times New Roman" panose="02020603050405020304" pitchFamily="18" charset="0"/>
              </a:rPr>
              <a:t>khi</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tạo</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thành</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công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quản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trị</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viên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có</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thể</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truy</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cập</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trang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quản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lý</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đơn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hàng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để</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cập</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nhật</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trạng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thái</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như</a:t>
            </a:r>
            <a:r>
              <a:rPr lang="en-US" sz="1050" kern="100">
                <a:effectLst/>
                <a:ea typeface="Aptos" panose="020B0004020202020204" pitchFamily="34" charset="0"/>
                <a:cs typeface="Times New Roman" panose="02020603050405020304" pitchFamily="18" charset="0"/>
              </a:rPr>
              <a:t>:</a:t>
            </a:r>
          </a:p>
          <a:p>
            <a:pPr marL="342900" marR="0" lvl="0" indent="-342900">
              <a:spcBef>
                <a:spcPts val="0"/>
              </a:spcBef>
              <a:spcAft>
                <a:spcPts val="0"/>
              </a:spcAft>
              <a:buFont typeface="Segoe UI Semilight" panose="020B0402040204020203" pitchFamily="34" charset="0"/>
              <a:buChar char="-"/>
            </a:pPr>
            <a:r>
              <a:rPr lang="en-US" sz="1050" kern="100" err="1">
                <a:effectLst/>
                <a:ea typeface="Aptos" panose="020B0004020202020204" pitchFamily="34" charset="0"/>
                <a:cs typeface="Times New Roman" panose="02020603050405020304" pitchFamily="18" charset="0"/>
              </a:rPr>
              <a:t>Chờ</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xác</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nhận</a:t>
            </a:r>
            <a:endParaRPr lang="en-US" sz="1050" kern="100">
              <a:effectLst/>
              <a:ea typeface="Aptos" panose="020B0004020202020204" pitchFamily="34" charset="0"/>
              <a:cs typeface="Times New Roman" panose="02020603050405020304" pitchFamily="18" charset="0"/>
            </a:endParaRPr>
          </a:p>
          <a:p>
            <a:pPr marL="342900" marR="0" lvl="0" indent="-342900">
              <a:spcBef>
                <a:spcPts val="0"/>
              </a:spcBef>
              <a:spcAft>
                <a:spcPts val="0"/>
              </a:spcAft>
              <a:buFont typeface="Segoe UI Semilight" panose="020B0402040204020203" pitchFamily="34" charset="0"/>
              <a:buChar char="-"/>
            </a:pPr>
            <a:r>
              <a:rPr lang="en-US" sz="1050" kern="100" err="1">
                <a:effectLst/>
                <a:ea typeface="Aptos" panose="020B0004020202020204" pitchFamily="34" charset="0"/>
                <a:cs typeface="Times New Roman" panose="02020603050405020304" pitchFamily="18" charset="0"/>
              </a:rPr>
              <a:t>Đang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giao</a:t>
            </a:r>
            <a:endParaRPr lang="en-US" sz="1050" kern="100">
              <a:effectLst/>
              <a:ea typeface="Aptos" panose="020B0004020202020204" pitchFamily="34" charset="0"/>
              <a:cs typeface="Times New Roman" panose="02020603050405020304" pitchFamily="18" charset="0"/>
            </a:endParaRPr>
          </a:p>
          <a:p>
            <a:pPr marL="342900" marR="0" lvl="0" indent="-342900">
              <a:spcBef>
                <a:spcPts val="0"/>
              </a:spcBef>
              <a:spcAft>
                <a:spcPts val="0"/>
              </a:spcAft>
              <a:buFont typeface="Segoe UI Semilight" panose="020B0402040204020203" pitchFamily="34" charset="0"/>
              <a:buChar char="-"/>
            </a:pPr>
            <a:r>
              <a:rPr lang="en-US" sz="1050" kern="100">
                <a:effectLst/>
                <a:ea typeface="Aptos" panose="020B0004020202020204" pitchFamily="34" charset="0"/>
                <a:cs typeface="Times New Roman" panose="02020603050405020304" pitchFamily="18" charset="0"/>
              </a:rPr>
              <a:t>Hoàn </a:t>
            </a:r>
            <a:r>
              <a:rPr lang="en-US" sz="1050" kern="100" err="1">
                <a:effectLst/>
                <a:ea typeface="Aptos" panose="020B0004020202020204" pitchFamily="34" charset="0"/>
                <a:cs typeface="Times New Roman" panose="02020603050405020304" pitchFamily="18" charset="0"/>
              </a:rPr>
              <a:t>thành</a:t>
            </a:r>
            <a:endParaRPr lang="en-US" sz="1050" kern="100">
              <a:effectLst/>
              <a:ea typeface="Aptos" panose="020B0004020202020204" pitchFamily="34" charset="0"/>
              <a:cs typeface="Times New Roman" panose="02020603050405020304" pitchFamily="18" charset="0"/>
            </a:endParaRPr>
          </a:p>
          <a:p>
            <a:pPr marL="342900" marR="0" lvl="0" indent="-342900">
              <a:spcBef>
                <a:spcPts val="0"/>
              </a:spcBef>
              <a:spcAft>
                <a:spcPts val="800"/>
              </a:spcAft>
              <a:buFont typeface="Segoe UI Semilight" panose="020B0402040204020203" pitchFamily="34" charset="0"/>
              <a:buChar char="-"/>
            </a:pPr>
            <a:r>
              <a:rPr lang="en-US" sz="1050" kern="100" err="1">
                <a:effectLst/>
                <a:ea typeface="Aptos" panose="020B0004020202020204" pitchFamily="34" charset="0"/>
                <a:cs typeface="Times New Roman" panose="02020603050405020304" pitchFamily="18" charset="0"/>
              </a:rPr>
              <a:t>Đã</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hủy</a:t>
            </a:r>
            <a:endParaRPr lang="en-US" sz="1050" kern="100">
              <a:effectLst/>
              <a:ea typeface="Aptos" panose="020B0004020202020204" pitchFamily="34" charset="0"/>
              <a:cs typeface="Times New Roman" panose="02020603050405020304" pitchFamily="18" charset="0"/>
            </a:endParaRPr>
          </a:p>
          <a:p>
            <a:pPr marL="0" marR="0">
              <a:spcBef>
                <a:spcPts val="0"/>
              </a:spcBef>
              <a:spcAft>
                <a:spcPts val="800"/>
              </a:spcAft>
            </a:pPr>
            <a:r>
              <a:rPr lang="en-US" sz="1050" kern="100" err="1">
                <a:effectLst/>
                <a:ea typeface="Aptos" panose="020B0004020202020204" pitchFamily="34" charset="0"/>
                <a:cs typeface="Times New Roman" panose="02020603050405020304" pitchFamily="18" charset="0"/>
              </a:rPr>
              <a:t>Trạng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thái</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này</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được</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lưu</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trong</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trường</a:t>
            </a:r>
            <a:r>
              <a:rPr lang="en-US" sz="1050" kern="100">
                <a:effectLst/>
                <a:ea typeface="Aptos" panose="020B0004020202020204" pitchFamily="34" charset="0"/>
                <a:cs typeface="Times New Roman" panose="02020603050405020304" pitchFamily="18" charset="0"/>
              </a:rPr>
              <a:t> status </a:t>
            </a:r>
            <a:r>
              <a:rPr lang="en-US" sz="1050" kern="100" err="1">
                <a:effectLst/>
                <a:ea typeface="Aptos" panose="020B0004020202020204" pitchFamily="34" charset="0"/>
                <a:cs typeface="Times New Roman" panose="02020603050405020304" pitchFamily="18" charset="0"/>
              </a:rPr>
              <a:t>của</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đơn</a:t>
            </a:r>
            <a:r>
              <a:rPr lang="en-US" sz="1050" kern="100">
                <a:effectLst/>
                <a:ea typeface="Aptos" panose="020B0004020202020204" pitchFamily="34" charset="0"/>
                <a:cs typeface="Times New Roman" panose="02020603050405020304" pitchFamily="18" charset="0"/>
              </a:rPr>
              <a:t> </a:t>
            </a:r>
            <a:r>
              <a:rPr lang="en-US" sz="1050" kern="100" err="1">
                <a:effectLst/>
                <a:ea typeface="Aptos" panose="020B0004020202020204" pitchFamily="34" charset="0"/>
                <a:cs typeface="Times New Roman" panose="02020603050405020304" pitchFamily="18" charset="0"/>
              </a:rPr>
              <a:t>hàng</a:t>
            </a:r>
            <a:r>
              <a:rPr lang="en-US" sz="1050" kern="100">
                <a:effectLst/>
                <a:ea typeface="Aptos" panose="020B0004020202020204" pitchFamily="34" charset="0"/>
                <a:cs typeface="Times New Roman" panose="02020603050405020304" pitchFamily="18" charset="0"/>
              </a:rPr>
              <a:t>.</a:t>
            </a:r>
          </a:p>
          <a:p>
            <a:pPr marL="0" indent="0">
              <a:buNone/>
            </a:pPr>
            <a:endParaRPr lang="en-US" sz="1050">
              <a:solidFill>
                <a:srgbClr val="1E293B"/>
              </a:solidFill>
            </a:endParaRPr>
          </a:p>
          <a:p>
            <a:pPr marL="0" indent="0">
              <a:buNone/>
            </a:pPr>
            <a:endParaRPr lang="en-US" sz="1050"/>
          </a:p>
        </p:txBody>
      </p:sp>
    </p:spTree>
    <p:extLst>
      <p:ext uri="{BB962C8B-B14F-4D97-AF65-F5344CB8AC3E}">
        <p14:creationId xmlns:p14="http://schemas.microsoft.com/office/powerpoint/2010/main" val="3620383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PHÂN TÍCH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Biểu Đồ Use Case &amp; Yêu Cầu Hệ Thống</a:t>
            </a:r>
            <a:endParaRPr lang="en-US" sz="2200"/>
          </a:p>
        </p:txBody>
      </p:sp>
      <p:sp>
        <p:nvSpPr>
          <p:cNvPr id="5" name="Shape 3"/>
          <p:cNvSpPr/>
          <p:nvPr/>
        </p:nvSpPr>
        <p:spPr>
          <a:xfrm>
            <a:off x="274320" y="1005840"/>
            <a:ext cx="2743200" cy="384048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74320" y="1005840"/>
            <a:ext cx="2743200" cy="365760"/>
          </a:xfrm>
          <a:prstGeom prst="rect">
            <a:avLst/>
          </a:prstGeom>
          <a:solidFill>
            <a:srgbClr val="0D9488"/>
          </a:solidFill>
          <a:ln/>
        </p:spPr>
      </p:sp>
      <p:sp>
        <p:nvSpPr>
          <p:cNvPr id="7" name="Text 5"/>
          <p:cNvSpPr/>
          <p:nvPr/>
        </p:nvSpPr>
        <p:spPr>
          <a:xfrm>
            <a:off x="384048" y="1051560"/>
            <a:ext cx="2560320" cy="274320"/>
          </a:xfrm>
          <a:prstGeom prst="rect">
            <a:avLst/>
          </a:prstGeom>
          <a:noFill/>
          <a:ln/>
        </p:spPr>
        <p:txBody>
          <a:bodyPr wrap="square" rtlCol="0" anchor="ctr"/>
          <a:lstStyle/>
          <a:p>
            <a:pPr marL="0" indent="0">
              <a:buNone/>
            </a:pPr>
            <a:r>
              <a:rPr lang="en-US" sz="1200" b="1">
                <a:solidFill>
                  <a:srgbClr val="FFFFFF"/>
                </a:solidFill>
              </a:rPr>
              <a:t>👥  TÁC NHÂN</a:t>
            </a:r>
            <a:endParaRPr lang="en-US" sz="1200"/>
          </a:p>
        </p:txBody>
      </p:sp>
      <p:sp>
        <p:nvSpPr>
          <p:cNvPr id="8" name="Text 6"/>
          <p:cNvSpPr/>
          <p:nvPr/>
        </p:nvSpPr>
        <p:spPr>
          <a:xfrm>
            <a:off x="411480" y="1463040"/>
            <a:ext cx="2468880" cy="274320"/>
          </a:xfrm>
          <a:prstGeom prst="rect">
            <a:avLst/>
          </a:prstGeom>
          <a:noFill/>
          <a:ln/>
        </p:spPr>
        <p:txBody>
          <a:bodyPr wrap="square" rtlCol="0" anchor="ctr"/>
          <a:lstStyle/>
          <a:p>
            <a:pPr marL="0" indent="0">
              <a:buNone/>
            </a:pPr>
            <a:r>
              <a:rPr lang="en-US" sz="1200" b="1">
                <a:solidFill>
                  <a:srgbClr val="0D1B2A"/>
                </a:solidFill>
              </a:rPr>
              <a:t>▶  Khách hàng</a:t>
            </a:r>
            <a:endParaRPr lang="en-US" sz="1200"/>
          </a:p>
        </p:txBody>
      </p:sp>
      <p:sp>
        <p:nvSpPr>
          <p:cNvPr id="9" name="Text 7"/>
          <p:cNvSpPr/>
          <p:nvPr/>
        </p:nvSpPr>
        <p:spPr>
          <a:xfrm>
            <a:off x="411480" y="1737360"/>
            <a:ext cx="2468880" cy="256032"/>
          </a:xfrm>
          <a:prstGeom prst="rect">
            <a:avLst/>
          </a:prstGeom>
          <a:noFill/>
          <a:ln/>
        </p:spPr>
        <p:txBody>
          <a:bodyPr wrap="square" rtlCol="0" anchor="ctr"/>
          <a:lstStyle/>
          <a:p>
            <a:pPr marL="0" indent="0">
              <a:buNone/>
            </a:pPr>
            <a:r>
              <a:rPr lang="en-US" sz="1100">
                <a:solidFill>
                  <a:srgbClr val="1E293B"/>
                </a:solidFill>
              </a:rPr>
              <a:t>   • Xem sản phẩm</a:t>
            </a:r>
            <a:endParaRPr lang="en-US" sz="1100"/>
          </a:p>
        </p:txBody>
      </p:sp>
      <p:sp>
        <p:nvSpPr>
          <p:cNvPr id="10" name="Text 8"/>
          <p:cNvSpPr/>
          <p:nvPr/>
        </p:nvSpPr>
        <p:spPr>
          <a:xfrm>
            <a:off x="411480" y="1993392"/>
            <a:ext cx="2468880" cy="256032"/>
          </a:xfrm>
          <a:prstGeom prst="rect">
            <a:avLst/>
          </a:prstGeom>
          <a:noFill/>
          <a:ln/>
        </p:spPr>
        <p:txBody>
          <a:bodyPr wrap="square" rtlCol="0" anchor="ctr"/>
          <a:lstStyle/>
          <a:p>
            <a:pPr marL="0" indent="0">
              <a:buNone/>
            </a:pPr>
            <a:r>
              <a:rPr lang="en-US" sz="1100">
                <a:solidFill>
                  <a:srgbClr val="1E293B"/>
                </a:solidFill>
              </a:rPr>
              <a:t>   • Đặt hàng</a:t>
            </a:r>
            <a:endParaRPr lang="en-US" sz="1100"/>
          </a:p>
        </p:txBody>
      </p:sp>
      <p:sp>
        <p:nvSpPr>
          <p:cNvPr id="11" name="Text 9"/>
          <p:cNvSpPr/>
          <p:nvPr/>
        </p:nvSpPr>
        <p:spPr>
          <a:xfrm>
            <a:off x="411480" y="2249424"/>
            <a:ext cx="2468880" cy="256032"/>
          </a:xfrm>
          <a:prstGeom prst="rect">
            <a:avLst/>
          </a:prstGeom>
          <a:noFill/>
          <a:ln/>
        </p:spPr>
        <p:txBody>
          <a:bodyPr wrap="square" rtlCol="0" anchor="ctr"/>
          <a:lstStyle/>
          <a:p>
            <a:pPr marL="0" indent="0">
              <a:buNone/>
            </a:pPr>
            <a:r>
              <a:rPr lang="en-US" sz="1100">
                <a:solidFill>
                  <a:srgbClr val="1E293B"/>
                </a:solidFill>
              </a:rPr>
              <a:t>   • Đăng nhập/Đăng ký</a:t>
            </a:r>
            <a:endParaRPr lang="en-US" sz="1100"/>
          </a:p>
        </p:txBody>
      </p:sp>
      <p:sp>
        <p:nvSpPr>
          <p:cNvPr id="12" name="Text 10"/>
          <p:cNvSpPr/>
          <p:nvPr/>
        </p:nvSpPr>
        <p:spPr>
          <a:xfrm>
            <a:off x="411480" y="2505456"/>
            <a:ext cx="2468880" cy="256032"/>
          </a:xfrm>
          <a:prstGeom prst="rect">
            <a:avLst/>
          </a:prstGeom>
          <a:noFill/>
          <a:ln/>
        </p:spPr>
        <p:txBody>
          <a:bodyPr wrap="square" rtlCol="0" anchor="ctr"/>
          <a:lstStyle/>
          <a:p>
            <a:pPr marL="0" indent="0">
              <a:buNone/>
            </a:pPr>
            <a:r>
              <a:rPr lang="en-US" sz="1100">
                <a:solidFill>
                  <a:srgbClr val="1E293B"/>
                </a:solidFill>
              </a:rPr>
              <a:t>   • Hỏi Chatbot</a:t>
            </a:r>
            <a:endParaRPr lang="en-US" sz="1100"/>
          </a:p>
        </p:txBody>
      </p:sp>
      <p:sp>
        <p:nvSpPr>
          <p:cNvPr id="13" name="Text 11"/>
          <p:cNvSpPr/>
          <p:nvPr/>
        </p:nvSpPr>
        <p:spPr>
          <a:xfrm>
            <a:off x="411480" y="2852928"/>
            <a:ext cx="2468880" cy="274320"/>
          </a:xfrm>
          <a:prstGeom prst="rect">
            <a:avLst/>
          </a:prstGeom>
          <a:noFill/>
          <a:ln/>
        </p:spPr>
        <p:txBody>
          <a:bodyPr wrap="square" rtlCol="0" anchor="ctr"/>
          <a:lstStyle/>
          <a:p>
            <a:pPr marL="0" indent="0">
              <a:buNone/>
            </a:pPr>
            <a:r>
              <a:rPr lang="en-US" sz="1200" b="1">
                <a:solidFill>
                  <a:srgbClr val="0D1B2A"/>
                </a:solidFill>
              </a:rPr>
              <a:t>▶  Admin</a:t>
            </a:r>
            <a:endParaRPr lang="en-US" sz="1200"/>
          </a:p>
        </p:txBody>
      </p:sp>
      <p:sp>
        <p:nvSpPr>
          <p:cNvPr id="14" name="Text 12"/>
          <p:cNvSpPr/>
          <p:nvPr/>
        </p:nvSpPr>
        <p:spPr>
          <a:xfrm>
            <a:off x="411480" y="3127248"/>
            <a:ext cx="2468880" cy="256032"/>
          </a:xfrm>
          <a:prstGeom prst="rect">
            <a:avLst/>
          </a:prstGeom>
          <a:noFill/>
          <a:ln/>
        </p:spPr>
        <p:txBody>
          <a:bodyPr wrap="square" rtlCol="0" anchor="ctr"/>
          <a:lstStyle/>
          <a:p>
            <a:pPr marL="0" indent="0">
              <a:buNone/>
            </a:pPr>
            <a:r>
              <a:rPr lang="en-US" sz="1100">
                <a:solidFill>
                  <a:srgbClr val="1E293B"/>
                </a:solidFill>
              </a:rPr>
              <a:t>   • Quản lý sản phẩm</a:t>
            </a:r>
            <a:endParaRPr lang="en-US" sz="1100"/>
          </a:p>
        </p:txBody>
      </p:sp>
      <p:sp>
        <p:nvSpPr>
          <p:cNvPr id="15" name="Text 13"/>
          <p:cNvSpPr/>
          <p:nvPr/>
        </p:nvSpPr>
        <p:spPr>
          <a:xfrm>
            <a:off x="411480" y="3383280"/>
            <a:ext cx="2468880" cy="256032"/>
          </a:xfrm>
          <a:prstGeom prst="rect">
            <a:avLst/>
          </a:prstGeom>
          <a:noFill/>
          <a:ln/>
        </p:spPr>
        <p:txBody>
          <a:bodyPr wrap="square" rtlCol="0" anchor="ctr"/>
          <a:lstStyle/>
          <a:p>
            <a:pPr marL="0" indent="0">
              <a:buNone/>
            </a:pPr>
            <a:r>
              <a:rPr lang="en-US" sz="1100">
                <a:solidFill>
                  <a:srgbClr val="1E293B"/>
                </a:solidFill>
              </a:rPr>
              <a:t>   • Quản lý đơn hàng</a:t>
            </a:r>
            <a:endParaRPr lang="en-US" sz="1100"/>
          </a:p>
        </p:txBody>
      </p:sp>
      <p:sp>
        <p:nvSpPr>
          <p:cNvPr id="16" name="Text 14"/>
          <p:cNvSpPr/>
          <p:nvPr/>
        </p:nvSpPr>
        <p:spPr>
          <a:xfrm>
            <a:off x="411480" y="3639312"/>
            <a:ext cx="2468880" cy="256032"/>
          </a:xfrm>
          <a:prstGeom prst="rect">
            <a:avLst/>
          </a:prstGeom>
          <a:noFill/>
          <a:ln/>
        </p:spPr>
        <p:txBody>
          <a:bodyPr wrap="square" rtlCol="0" anchor="ctr"/>
          <a:lstStyle/>
          <a:p>
            <a:pPr marL="0" indent="0">
              <a:buNone/>
            </a:pPr>
            <a:r>
              <a:rPr lang="en-US" sz="1100">
                <a:solidFill>
                  <a:srgbClr val="1E293B"/>
                </a:solidFill>
              </a:rPr>
              <a:t>   • Quản lý người dùng</a:t>
            </a:r>
            <a:endParaRPr lang="en-US" sz="1100"/>
          </a:p>
        </p:txBody>
      </p:sp>
      <p:sp>
        <p:nvSpPr>
          <p:cNvPr id="17" name="Text 15"/>
          <p:cNvSpPr/>
          <p:nvPr/>
        </p:nvSpPr>
        <p:spPr>
          <a:xfrm>
            <a:off x="411480" y="3895344"/>
            <a:ext cx="2468880" cy="256032"/>
          </a:xfrm>
          <a:prstGeom prst="rect">
            <a:avLst/>
          </a:prstGeom>
          <a:noFill/>
          <a:ln/>
        </p:spPr>
        <p:txBody>
          <a:bodyPr wrap="square" rtlCol="0" anchor="ctr"/>
          <a:lstStyle/>
          <a:p>
            <a:pPr marL="0" indent="0">
              <a:buNone/>
            </a:pPr>
            <a:r>
              <a:rPr lang="en-US" sz="1100">
                <a:solidFill>
                  <a:srgbClr val="1E293B"/>
                </a:solidFill>
              </a:rPr>
              <a:t>   • Quản lý danh mục</a:t>
            </a:r>
            <a:endParaRPr lang="en-US" sz="1100"/>
          </a:p>
        </p:txBody>
      </p:sp>
      <p:sp>
        <p:nvSpPr>
          <p:cNvPr id="18" name="Shape 16"/>
          <p:cNvSpPr/>
          <p:nvPr/>
        </p:nvSpPr>
        <p:spPr>
          <a:xfrm>
            <a:off x="3291840" y="1005840"/>
            <a:ext cx="5577840" cy="3840480"/>
          </a:xfrm>
          <a:prstGeom prst="rect">
            <a:avLst/>
          </a:prstGeom>
          <a:solidFill>
            <a:srgbClr val="FFFFFF"/>
          </a:solidFill>
          <a:ln/>
          <a:effectLst>
            <a:outerShdw blurRad="101600" dist="38100" dir="8100000" algn="bl" rotWithShape="0">
              <a:srgbClr val="000000">
                <a:alpha val="18000"/>
              </a:srgbClr>
            </a:outerShdw>
          </a:effectLst>
        </p:spPr>
      </p:sp>
      <p:sp>
        <p:nvSpPr>
          <p:cNvPr id="19" name="Shape 17"/>
          <p:cNvSpPr/>
          <p:nvPr/>
        </p:nvSpPr>
        <p:spPr>
          <a:xfrm>
            <a:off x="3291840" y="1005840"/>
            <a:ext cx="5577840" cy="365760"/>
          </a:xfrm>
          <a:prstGeom prst="rect">
            <a:avLst/>
          </a:prstGeom>
          <a:solidFill>
            <a:srgbClr val="0D1B2A"/>
          </a:solidFill>
          <a:ln/>
        </p:spPr>
      </p:sp>
      <p:sp>
        <p:nvSpPr>
          <p:cNvPr id="20" name="Text 18"/>
          <p:cNvSpPr/>
          <p:nvPr/>
        </p:nvSpPr>
        <p:spPr>
          <a:xfrm>
            <a:off x="3401568" y="1051560"/>
            <a:ext cx="5303520" cy="274320"/>
          </a:xfrm>
          <a:prstGeom prst="rect">
            <a:avLst/>
          </a:prstGeom>
          <a:noFill/>
          <a:ln/>
        </p:spPr>
        <p:txBody>
          <a:bodyPr wrap="square" rtlCol="0" anchor="ctr"/>
          <a:lstStyle/>
          <a:p>
            <a:pPr marL="0" indent="0">
              <a:buNone/>
            </a:pPr>
            <a:r>
              <a:rPr lang="en-US" sz="1200" b="1">
                <a:solidFill>
                  <a:srgbClr val="FFFFFF"/>
                </a:solidFill>
              </a:rPr>
              <a:t>📋  MÔ TẢ USE CASE CHÍNH</a:t>
            </a:r>
            <a:endParaRPr lang="en-US" sz="1200"/>
          </a:p>
        </p:txBody>
      </p:sp>
      <p:sp>
        <p:nvSpPr>
          <p:cNvPr id="21" name="Shape 19"/>
          <p:cNvSpPr/>
          <p:nvPr/>
        </p:nvSpPr>
        <p:spPr>
          <a:xfrm>
            <a:off x="3429000" y="1463040"/>
            <a:ext cx="5303520" cy="960120"/>
          </a:xfrm>
          <a:prstGeom prst="rect">
            <a:avLst/>
          </a:prstGeom>
          <a:solidFill>
            <a:srgbClr val="F0F9FF"/>
          </a:solidFill>
          <a:ln w="3810">
            <a:solidFill>
              <a:srgbClr val="E2E8F0"/>
            </a:solidFill>
            <a:prstDash val="solid"/>
          </a:ln>
        </p:spPr>
      </p:sp>
      <p:sp>
        <p:nvSpPr>
          <p:cNvPr id="22" name="Shape 20"/>
          <p:cNvSpPr/>
          <p:nvPr/>
        </p:nvSpPr>
        <p:spPr>
          <a:xfrm>
            <a:off x="3429000" y="1463040"/>
            <a:ext cx="54864" cy="960120"/>
          </a:xfrm>
          <a:prstGeom prst="rect">
            <a:avLst/>
          </a:prstGeom>
          <a:solidFill>
            <a:srgbClr val="0D9488"/>
          </a:solidFill>
          <a:ln/>
        </p:spPr>
      </p:sp>
      <p:sp>
        <p:nvSpPr>
          <p:cNvPr id="23" name="Text 21"/>
          <p:cNvSpPr/>
          <p:nvPr/>
        </p:nvSpPr>
        <p:spPr>
          <a:xfrm>
            <a:off x="3566160" y="1508760"/>
            <a:ext cx="5029200" cy="274320"/>
          </a:xfrm>
          <a:prstGeom prst="rect">
            <a:avLst/>
          </a:prstGeom>
          <a:noFill/>
          <a:ln/>
        </p:spPr>
        <p:txBody>
          <a:bodyPr wrap="square" rtlCol="0" anchor="ctr"/>
          <a:lstStyle/>
          <a:p>
            <a:pPr marL="0" indent="0">
              <a:buNone/>
            </a:pPr>
            <a:r>
              <a:rPr lang="en-US" sz="1200" b="1">
                <a:solidFill>
                  <a:srgbClr val="0D9488"/>
                </a:solidFill>
              </a:rPr>
              <a:t>Đặt hàng</a:t>
            </a:r>
            <a:endParaRPr lang="en-US" sz="1200"/>
          </a:p>
        </p:txBody>
      </p:sp>
      <p:sp>
        <p:nvSpPr>
          <p:cNvPr id="24" name="Text 22"/>
          <p:cNvSpPr/>
          <p:nvPr/>
        </p:nvSpPr>
        <p:spPr>
          <a:xfrm>
            <a:off x="3566160" y="1783080"/>
            <a:ext cx="5029200" cy="502920"/>
          </a:xfrm>
          <a:prstGeom prst="rect">
            <a:avLst/>
          </a:prstGeom>
          <a:noFill/>
          <a:ln/>
        </p:spPr>
        <p:txBody>
          <a:bodyPr wrap="square" rtlCol="0" anchor="ctr"/>
          <a:lstStyle/>
          <a:p>
            <a:pPr marL="0" indent="0">
              <a:buNone/>
            </a:pPr>
            <a:r>
              <a:rPr lang="en-US" sz="1050">
                <a:solidFill>
                  <a:srgbClr val="1E293B"/>
                </a:solidFill>
              </a:rPr>
              <a:t>Chọn SP → Thêm giỏ hàng → Xác nhận → Đặt đơn → Hệ thống lưu đơn</a:t>
            </a:r>
            <a:endParaRPr lang="en-US" sz="1050"/>
          </a:p>
        </p:txBody>
      </p:sp>
      <p:sp>
        <p:nvSpPr>
          <p:cNvPr id="25" name="Shape 23"/>
          <p:cNvSpPr/>
          <p:nvPr/>
        </p:nvSpPr>
        <p:spPr>
          <a:xfrm>
            <a:off x="3429000" y="2560320"/>
            <a:ext cx="5303520" cy="960120"/>
          </a:xfrm>
          <a:prstGeom prst="rect">
            <a:avLst/>
          </a:prstGeom>
          <a:solidFill>
            <a:srgbClr val="F0F9FF"/>
          </a:solidFill>
          <a:ln w="3810">
            <a:solidFill>
              <a:srgbClr val="E2E8F0"/>
            </a:solidFill>
            <a:prstDash val="solid"/>
          </a:ln>
        </p:spPr>
      </p:sp>
      <p:sp>
        <p:nvSpPr>
          <p:cNvPr id="26" name="Shape 24"/>
          <p:cNvSpPr/>
          <p:nvPr/>
        </p:nvSpPr>
        <p:spPr>
          <a:xfrm>
            <a:off x="3429000" y="2560320"/>
            <a:ext cx="54864" cy="960120"/>
          </a:xfrm>
          <a:prstGeom prst="rect">
            <a:avLst/>
          </a:prstGeom>
          <a:solidFill>
            <a:srgbClr val="0D9488"/>
          </a:solidFill>
          <a:ln/>
        </p:spPr>
      </p:sp>
      <p:sp>
        <p:nvSpPr>
          <p:cNvPr id="27" name="Text 25"/>
          <p:cNvSpPr/>
          <p:nvPr/>
        </p:nvSpPr>
        <p:spPr>
          <a:xfrm>
            <a:off x="3566160" y="2606040"/>
            <a:ext cx="5029200" cy="274320"/>
          </a:xfrm>
          <a:prstGeom prst="rect">
            <a:avLst/>
          </a:prstGeom>
          <a:noFill/>
          <a:ln/>
        </p:spPr>
        <p:txBody>
          <a:bodyPr wrap="square" rtlCol="0" anchor="ctr"/>
          <a:lstStyle/>
          <a:p>
            <a:pPr marL="0" indent="0">
              <a:buNone/>
            </a:pPr>
            <a:r>
              <a:rPr lang="en-US" sz="1200" b="1">
                <a:solidFill>
                  <a:srgbClr val="0D9488"/>
                </a:solidFill>
              </a:rPr>
              <a:t>Đăng nhập</a:t>
            </a:r>
            <a:endParaRPr lang="en-US" sz="1200"/>
          </a:p>
        </p:txBody>
      </p:sp>
      <p:sp>
        <p:nvSpPr>
          <p:cNvPr id="28" name="Text 26"/>
          <p:cNvSpPr/>
          <p:nvPr/>
        </p:nvSpPr>
        <p:spPr>
          <a:xfrm>
            <a:off x="3566160" y="2880360"/>
            <a:ext cx="5029200" cy="502920"/>
          </a:xfrm>
          <a:prstGeom prst="rect">
            <a:avLst/>
          </a:prstGeom>
          <a:noFill/>
          <a:ln/>
        </p:spPr>
        <p:txBody>
          <a:bodyPr wrap="square" rtlCol="0" anchor="ctr"/>
          <a:lstStyle/>
          <a:p>
            <a:pPr marL="0" indent="0">
              <a:buNone/>
            </a:pPr>
            <a:r>
              <a:rPr lang="en-US" sz="1050">
                <a:solidFill>
                  <a:srgbClr val="1E293B"/>
                </a:solidFill>
              </a:rPr>
              <a:t>Nhập thông tin → Xác thực → Cấp token → Chuyển hướng trang chủ</a:t>
            </a:r>
            <a:endParaRPr lang="en-US" sz="1050"/>
          </a:p>
        </p:txBody>
      </p:sp>
      <p:sp>
        <p:nvSpPr>
          <p:cNvPr id="29" name="Shape 27"/>
          <p:cNvSpPr/>
          <p:nvPr/>
        </p:nvSpPr>
        <p:spPr>
          <a:xfrm>
            <a:off x="3429000" y="3657600"/>
            <a:ext cx="5303520" cy="960120"/>
          </a:xfrm>
          <a:prstGeom prst="rect">
            <a:avLst/>
          </a:prstGeom>
          <a:solidFill>
            <a:srgbClr val="F0F9FF"/>
          </a:solidFill>
          <a:ln w="3810">
            <a:solidFill>
              <a:srgbClr val="E2E8F0"/>
            </a:solidFill>
            <a:prstDash val="solid"/>
          </a:ln>
        </p:spPr>
      </p:sp>
      <p:sp>
        <p:nvSpPr>
          <p:cNvPr id="30" name="Shape 28"/>
          <p:cNvSpPr/>
          <p:nvPr/>
        </p:nvSpPr>
        <p:spPr>
          <a:xfrm>
            <a:off x="3429000" y="3657600"/>
            <a:ext cx="54864" cy="960120"/>
          </a:xfrm>
          <a:prstGeom prst="rect">
            <a:avLst/>
          </a:prstGeom>
          <a:solidFill>
            <a:srgbClr val="0D9488"/>
          </a:solidFill>
          <a:ln/>
        </p:spPr>
      </p:sp>
      <p:sp>
        <p:nvSpPr>
          <p:cNvPr id="31" name="Text 29"/>
          <p:cNvSpPr/>
          <p:nvPr/>
        </p:nvSpPr>
        <p:spPr>
          <a:xfrm>
            <a:off x="3566160" y="3703320"/>
            <a:ext cx="5029200" cy="274320"/>
          </a:xfrm>
          <a:prstGeom prst="rect">
            <a:avLst/>
          </a:prstGeom>
          <a:noFill/>
          <a:ln/>
        </p:spPr>
        <p:txBody>
          <a:bodyPr wrap="square" rtlCol="0" anchor="ctr"/>
          <a:lstStyle/>
          <a:p>
            <a:pPr marL="0" indent="0">
              <a:buNone/>
            </a:pPr>
            <a:r>
              <a:rPr lang="en-US" sz="1200" b="1">
                <a:solidFill>
                  <a:srgbClr val="0D9488"/>
                </a:solidFill>
              </a:rPr>
              <a:t>Hỏi Chatbot</a:t>
            </a:r>
            <a:endParaRPr lang="en-US" sz="1200"/>
          </a:p>
        </p:txBody>
      </p:sp>
      <p:sp>
        <p:nvSpPr>
          <p:cNvPr id="32" name="Text 30"/>
          <p:cNvSpPr/>
          <p:nvPr/>
        </p:nvSpPr>
        <p:spPr>
          <a:xfrm>
            <a:off x="3566160" y="3977640"/>
            <a:ext cx="5029200" cy="502920"/>
          </a:xfrm>
          <a:prstGeom prst="rect">
            <a:avLst/>
          </a:prstGeom>
          <a:noFill/>
          <a:ln/>
        </p:spPr>
        <p:txBody>
          <a:bodyPr wrap="square" rtlCol="0" anchor="ctr"/>
          <a:lstStyle/>
          <a:p>
            <a:pPr marL="0" indent="0">
              <a:buNone/>
            </a:pPr>
            <a:r>
              <a:rPr lang="en-US" sz="1050">
                <a:solidFill>
                  <a:srgbClr val="1E293B"/>
                </a:solidFill>
              </a:rPr>
              <a:t>Nhập câu hỏi → Xử lý text → Phân tích intent → Trả kết quả</a:t>
            </a:r>
            <a:endParaRPr lang="en-US" sz="1050"/>
          </a:p>
        </p:txBody>
      </p:sp>
    </p:spTree>
    <p:extLst>
      <p:ext uri="{BB962C8B-B14F-4D97-AF65-F5344CB8AC3E}">
        <p14:creationId xmlns:p14="http://schemas.microsoft.com/office/powerpoint/2010/main" val="2388729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PHÂN TÍCH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Biểu Đồ Use Case &amp; Yêu Cầu Hệ Thống</a:t>
            </a:r>
            <a:endParaRPr lang="en-US" sz="2200"/>
          </a:p>
        </p:txBody>
      </p:sp>
      <p:sp>
        <p:nvSpPr>
          <p:cNvPr id="5" name="Shape 3"/>
          <p:cNvSpPr/>
          <p:nvPr/>
        </p:nvSpPr>
        <p:spPr>
          <a:xfrm>
            <a:off x="274320" y="1005840"/>
            <a:ext cx="2743200" cy="384048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74320" y="1005840"/>
            <a:ext cx="2743200" cy="365760"/>
          </a:xfrm>
          <a:prstGeom prst="rect">
            <a:avLst/>
          </a:prstGeom>
          <a:solidFill>
            <a:srgbClr val="0D9488"/>
          </a:solidFill>
          <a:ln/>
        </p:spPr>
      </p:sp>
      <p:sp>
        <p:nvSpPr>
          <p:cNvPr id="7" name="Text 5"/>
          <p:cNvSpPr/>
          <p:nvPr/>
        </p:nvSpPr>
        <p:spPr>
          <a:xfrm>
            <a:off x="384048" y="1051560"/>
            <a:ext cx="2560320" cy="274320"/>
          </a:xfrm>
          <a:prstGeom prst="rect">
            <a:avLst/>
          </a:prstGeom>
          <a:noFill/>
          <a:ln/>
        </p:spPr>
        <p:txBody>
          <a:bodyPr wrap="square" rtlCol="0" anchor="ctr"/>
          <a:lstStyle/>
          <a:p>
            <a:pPr marL="0" indent="0">
              <a:buNone/>
            </a:pPr>
            <a:r>
              <a:rPr lang="en-US" sz="1200" b="1">
                <a:solidFill>
                  <a:srgbClr val="FFFFFF"/>
                </a:solidFill>
              </a:rPr>
              <a:t>👥  </a:t>
            </a:r>
            <a:r>
              <a:rPr lang="en-US" sz="1200" b="1" err="1">
                <a:solidFill>
                  <a:srgbClr val="FFFFFF"/>
                </a:solidFill>
              </a:rPr>
              <a:t>TÁC</a:t>
            </a:r>
            <a:r>
              <a:rPr lang="en-US" sz="1200" b="1">
                <a:solidFill>
                  <a:srgbClr val="FFFFFF"/>
                </a:solidFill>
              </a:rPr>
              <a:t> </a:t>
            </a:r>
            <a:r>
              <a:rPr lang="en-US" sz="1200" b="1" err="1">
                <a:solidFill>
                  <a:srgbClr val="FFFFFF"/>
                </a:solidFill>
              </a:rPr>
              <a:t>NHÂN</a:t>
            </a:r>
            <a:endParaRPr lang="en-US" sz="1200"/>
          </a:p>
        </p:txBody>
      </p:sp>
      <p:sp>
        <p:nvSpPr>
          <p:cNvPr id="8" name="Text 6"/>
          <p:cNvSpPr/>
          <p:nvPr/>
        </p:nvSpPr>
        <p:spPr>
          <a:xfrm>
            <a:off x="411480" y="1463040"/>
            <a:ext cx="2468880" cy="274320"/>
          </a:xfrm>
          <a:prstGeom prst="rect">
            <a:avLst/>
          </a:prstGeom>
          <a:noFill/>
          <a:ln/>
        </p:spPr>
        <p:txBody>
          <a:bodyPr wrap="square" rtlCol="0" anchor="ctr"/>
          <a:lstStyle/>
          <a:p>
            <a:pPr marL="0" indent="0">
              <a:buNone/>
            </a:pPr>
            <a:r>
              <a:rPr lang="en-US" sz="1200" b="1">
                <a:solidFill>
                  <a:srgbClr val="0D1B2A"/>
                </a:solidFill>
              </a:rPr>
              <a:t>▶  Khách hàng</a:t>
            </a:r>
            <a:endParaRPr lang="en-US" sz="1200"/>
          </a:p>
        </p:txBody>
      </p:sp>
      <p:sp>
        <p:nvSpPr>
          <p:cNvPr id="9" name="Text 7"/>
          <p:cNvSpPr/>
          <p:nvPr/>
        </p:nvSpPr>
        <p:spPr>
          <a:xfrm>
            <a:off x="411480" y="1737360"/>
            <a:ext cx="2468880" cy="256032"/>
          </a:xfrm>
          <a:prstGeom prst="rect">
            <a:avLst/>
          </a:prstGeom>
          <a:noFill/>
          <a:ln/>
        </p:spPr>
        <p:txBody>
          <a:bodyPr wrap="square" rtlCol="0" anchor="ctr"/>
          <a:lstStyle/>
          <a:p>
            <a:pPr marL="0" indent="0">
              <a:buNone/>
            </a:pPr>
            <a:r>
              <a:rPr lang="en-US" sz="1100">
                <a:solidFill>
                  <a:srgbClr val="1E293B"/>
                </a:solidFill>
              </a:rPr>
              <a:t>   • Xem sản phẩm</a:t>
            </a:r>
            <a:endParaRPr lang="en-US" sz="1100"/>
          </a:p>
        </p:txBody>
      </p:sp>
      <p:sp>
        <p:nvSpPr>
          <p:cNvPr id="10" name="Text 8"/>
          <p:cNvSpPr/>
          <p:nvPr/>
        </p:nvSpPr>
        <p:spPr>
          <a:xfrm>
            <a:off x="411480" y="1993392"/>
            <a:ext cx="2468880" cy="256032"/>
          </a:xfrm>
          <a:prstGeom prst="rect">
            <a:avLst/>
          </a:prstGeom>
          <a:noFill/>
          <a:ln/>
        </p:spPr>
        <p:txBody>
          <a:bodyPr wrap="square" rtlCol="0" anchor="ctr"/>
          <a:lstStyle/>
          <a:p>
            <a:pPr marL="0" indent="0">
              <a:buNone/>
            </a:pPr>
            <a:r>
              <a:rPr lang="en-US" sz="1100">
                <a:solidFill>
                  <a:srgbClr val="1E293B"/>
                </a:solidFill>
              </a:rPr>
              <a:t>   • Đặt hàng</a:t>
            </a:r>
            <a:endParaRPr lang="en-US" sz="1100"/>
          </a:p>
        </p:txBody>
      </p:sp>
      <p:sp>
        <p:nvSpPr>
          <p:cNvPr id="11" name="Text 9"/>
          <p:cNvSpPr/>
          <p:nvPr/>
        </p:nvSpPr>
        <p:spPr>
          <a:xfrm>
            <a:off x="411480" y="2249424"/>
            <a:ext cx="2468880" cy="256032"/>
          </a:xfrm>
          <a:prstGeom prst="rect">
            <a:avLst/>
          </a:prstGeom>
          <a:noFill/>
          <a:ln/>
        </p:spPr>
        <p:txBody>
          <a:bodyPr wrap="square" rtlCol="0" anchor="ctr"/>
          <a:lstStyle/>
          <a:p>
            <a:pPr marL="0" indent="0">
              <a:buNone/>
            </a:pPr>
            <a:r>
              <a:rPr lang="en-US" sz="1100">
                <a:solidFill>
                  <a:srgbClr val="1E293B"/>
                </a:solidFill>
              </a:rPr>
              <a:t>   • Đăng nhập/Đăng ký</a:t>
            </a:r>
            <a:endParaRPr lang="en-US" sz="1100"/>
          </a:p>
        </p:txBody>
      </p:sp>
      <p:sp>
        <p:nvSpPr>
          <p:cNvPr id="12" name="Text 10"/>
          <p:cNvSpPr/>
          <p:nvPr/>
        </p:nvSpPr>
        <p:spPr>
          <a:xfrm>
            <a:off x="411480" y="2505456"/>
            <a:ext cx="2468880" cy="256032"/>
          </a:xfrm>
          <a:prstGeom prst="rect">
            <a:avLst/>
          </a:prstGeom>
          <a:noFill/>
          <a:ln/>
        </p:spPr>
        <p:txBody>
          <a:bodyPr wrap="square" rtlCol="0" anchor="ctr"/>
          <a:lstStyle/>
          <a:p>
            <a:pPr marL="0" indent="0">
              <a:buNone/>
            </a:pPr>
            <a:r>
              <a:rPr lang="en-US" sz="1100">
                <a:solidFill>
                  <a:srgbClr val="1E293B"/>
                </a:solidFill>
              </a:rPr>
              <a:t>   • Hỏi Chatbot</a:t>
            </a:r>
            <a:endParaRPr lang="en-US" sz="1100"/>
          </a:p>
        </p:txBody>
      </p:sp>
      <p:sp>
        <p:nvSpPr>
          <p:cNvPr id="13" name="Text 11"/>
          <p:cNvSpPr/>
          <p:nvPr/>
        </p:nvSpPr>
        <p:spPr>
          <a:xfrm>
            <a:off x="411480" y="2852928"/>
            <a:ext cx="2468880" cy="274320"/>
          </a:xfrm>
          <a:prstGeom prst="rect">
            <a:avLst/>
          </a:prstGeom>
          <a:noFill/>
          <a:ln/>
        </p:spPr>
        <p:txBody>
          <a:bodyPr wrap="square" rtlCol="0" anchor="ctr"/>
          <a:lstStyle/>
          <a:p>
            <a:pPr marL="0" indent="0">
              <a:buNone/>
            </a:pPr>
            <a:r>
              <a:rPr lang="en-US" sz="1200" b="1">
                <a:solidFill>
                  <a:srgbClr val="0D1B2A"/>
                </a:solidFill>
              </a:rPr>
              <a:t>▶  Admin</a:t>
            </a:r>
            <a:endParaRPr lang="en-US" sz="1200"/>
          </a:p>
        </p:txBody>
      </p:sp>
      <p:sp>
        <p:nvSpPr>
          <p:cNvPr id="14" name="Text 12"/>
          <p:cNvSpPr/>
          <p:nvPr/>
        </p:nvSpPr>
        <p:spPr>
          <a:xfrm>
            <a:off x="411480" y="3127248"/>
            <a:ext cx="2468880" cy="256032"/>
          </a:xfrm>
          <a:prstGeom prst="rect">
            <a:avLst/>
          </a:prstGeom>
          <a:noFill/>
          <a:ln/>
        </p:spPr>
        <p:txBody>
          <a:bodyPr wrap="square" rtlCol="0" anchor="ctr"/>
          <a:lstStyle/>
          <a:p>
            <a:pPr marL="0" indent="0">
              <a:buNone/>
            </a:pPr>
            <a:r>
              <a:rPr lang="en-US" sz="1100">
                <a:solidFill>
                  <a:srgbClr val="1E293B"/>
                </a:solidFill>
              </a:rPr>
              <a:t>   • Quản lý sản phẩm</a:t>
            </a:r>
            <a:endParaRPr lang="en-US" sz="1100"/>
          </a:p>
        </p:txBody>
      </p:sp>
      <p:sp>
        <p:nvSpPr>
          <p:cNvPr id="15" name="Text 13"/>
          <p:cNvSpPr/>
          <p:nvPr/>
        </p:nvSpPr>
        <p:spPr>
          <a:xfrm>
            <a:off x="411480" y="3383280"/>
            <a:ext cx="2468880" cy="256032"/>
          </a:xfrm>
          <a:prstGeom prst="rect">
            <a:avLst/>
          </a:prstGeom>
          <a:noFill/>
          <a:ln/>
        </p:spPr>
        <p:txBody>
          <a:bodyPr wrap="square" rtlCol="0" anchor="ctr"/>
          <a:lstStyle/>
          <a:p>
            <a:pPr marL="0" indent="0">
              <a:buNone/>
            </a:pPr>
            <a:r>
              <a:rPr lang="en-US" sz="1100">
                <a:solidFill>
                  <a:srgbClr val="1E293B"/>
                </a:solidFill>
              </a:rPr>
              <a:t>   • Quản lý đơn hàng</a:t>
            </a:r>
            <a:endParaRPr lang="en-US" sz="1100"/>
          </a:p>
        </p:txBody>
      </p:sp>
      <p:sp>
        <p:nvSpPr>
          <p:cNvPr id="16" name="Text 14"/>
          <p:cNvSpPr/>
          <p:nvPr/>
        </p:nvSpPr>
        <p:spPr>
          <a:xfrm>
            <a:off x="411480" y="3639312"/>
            <a:ext cx="2468880" cy="256032"/>
          </a:xfrm>
          <a:prstGeom prst="rect">
            <a:avLst/>
          </a:prstGeom>
          <a:noFill/>
          <a:ln/>
        </p:spPr>
        <p:txBody>
          <a:bodyPr wrap="square" rtlCol="0" anchor="ctr"/>
          <a:lstStyle/>
          <a:p>
            <a:pPr marL="0" indent="0">
              <a:buNone/>
            </a:pPr>
            <a:r>
              <a:rPr lang="en-US" sz="1100">
                <a:solidFill>
                  <a:srgbClr val="1E293B"/>
                </a:solidFill>
              </a:rPr>
              <a:t>   • Quản lý người dùng</a:t>
            </a:r>
            <a:endParaRPr lang="en-US" sz="1100"/>
          </a:p>
        </p:txBody>
      </p:sp>
      <p:sp>
        <p:nvSpPr>
          <p:cNvPr id="17" name="Text 15"/>
          <p:cNvSpPr/>
          <p:nvPr/>
        </p:nvSpPr>
        <p:spPr>
          <a:xfrm>
            <a:off x="411480" y="3895344"/>
            <a:ext cx="2468880" cy="256032"/>
          </a:xfrm>
          <a:prstGeom prst="rect">
            <a:avLst/>
          </a:prstGeom>
          <a:noFill/>
          <a:ln/>
        </p:spPr>
        <p:txBody>
          <a:bodyPr wrap="square" rtlCol="0" anchor="ctr"/>
          <a:lstStyle/>
          <a:p>
            <a:pPr marL="0" indent="0">
              <a:buNone/>
            </a:pPr>
            <a:r>
              <a:rPr lang="en-US" sz="1100">
                <a:solidFill>
                  <a:srgbClr val="1E293B"/>
                </a:solidFill>
              </a:rPr>
              <a:t>   • Quản lý danh mục</a:t>
            </a:r>
            <a:endParaRPr lang="en-US" sz="1100"/>
          </a:p>
        </p:txBody>
      </p:sp>
      <p:sp>
        <p:nvSpPr>
          <p:cNvPr id="37" name="Shape 4">
            <a:extLst>
              <a:ext uri="{FF2B5EF4-FFF2-40B4-BE49-F238E27FC236}">
                <a16:creationId xmlns:a16="http://schemas.microsoft.com/office/drawing/2014/main" id="{7BA881D2-2B8C-FC64-657E-9B9B12AEA406}"/>
              </a:ext>
            </a:extLst>
          </p:cNvPr>
          <p:cNvSpPr/>
          <p:nvPr/>
        </p:nvSpPr>
        <p:spPr>
          <a:xfrm>
            <a:off x="3200400" y="1009759"/>
            <a:ext cx="5943600" cy="365760"/>
          </a:xfrm>
          <a:prstGeom prst="rect">
            <a:avLst/>
          </a:prstGeom>
          <a:solidFill>
            <a:srgbClr val="0D9488"/>
          </a:solidFill>
          <a:ln/>
        </p:spPr>
        <p:txBody>
          <a:bodyPr/>
          <a:lstStyle/>
          <a:p>
            <a:endParaRPr lang="en-US"/>
          </a:p>
        </p:txBody>
      </p:sp>
      <p:sp>
        <p:nvSpPr>
          <p:cNvPr id="40" name="TextBox 39">
            <a:extLst>
              <a:ext uri="{FF2B5EF4-FFF2-40B4-BE49-F238E27FC236}">
                <a16:creationId xmlns:a16="http://schemas.microsoft.com/office/drawing/2014/main" id="{10558DA5-5383-E698-13B8-689561786228}"/>
              </a:ext>
            </a:extLst>
          </p:cNvPr>
          <p:cNvSpPr txBox="1"/>
          <p:nvPr/>
        </p:nvSpPr>
        <p:spPr>
          <a:xfrm>
            <a:off x="3190673" y="1046202"/>
            <a:ext cx="5784715" cy="553998"/>
          </a:xfrm>
          <a:prstGeom prst="rect">
            <a:avLst/>
          </a:prstGeom>
          <a:noFill/>
        </p:spPr>
        <p:txBody>
          <a:bodyPr wrap="square" rtlCol="0">
            <a:spAutoFit/>
          </a:bodyPr>
          <a:lstStyle/>
          <a:p>
            <a:r>
              <a:rPr lang="en-US" sz="1200" b="1">
                <a:solidFill>
                  <a:srgbClr val="FFFFFF"/>
                </a:solidFill>
              </a:rPr>
              <a:t>👥  </a:t>
            </a:r>
            <a:r>
              <a:rPr lang="en-US" sz="1200" b="1" err="1">
                <a:solidFill>
                  <a:srgbClr val="FFFFFF"/>
                </a:solidFill>
              </a:rPr>
              <a:t>HÀNH</a:t>
            </a:r>
            <a:r>
              <a:rPr lang="en-US" sz="1200" b="1">
                <a:solidFill>
                  <a:srgbClr val="FFFFFF"/>
                </a:solidFill>
              </a:rPr>
              <a:t> </a:t>
            </a:r>
            <a:r>
              <a:rPr lang="en-US" sz="1200" b="1" err="1">
                <a:solidFill>
                  <a:srgbClr val="FFFFFF"/>
                </a:solidFill>
              </a:rPr>
              <a:t>ĐỘNG</a:t>
            </a:r>
            <a:r>
              <a:rPr lang="en-US" sz="1200" b="1">
                <a:solidFill>
                  <a:srgbClr val="FFFFFF"/>
                </a:solidFill>
              </a:rPr>
              <a:t> </a:t>
            </a:r>
            <a:r>
              <a:rPr lang="en-US" sz="1200" b="1" err="1">
                <a:solidFill>
                  <a:srgbClr val="FFFFFF"/>
                </a:solidFill>
              </a:rPr>
              <a:t>CẦN</a:t>
            </a:r>
            <a:r>
              <a:rPr lang="en-US" sz="1200" b="1">
                <a:solidFill>
                  <a:srgbClr val="FFFFFF"/>
                </a:solidFill>
              </a:rPr>
              <a:t> CON </a:t>
            </a:r>
            <a:r>
              <a:rPr lang="en-US" sz="1200" b="1" err="1">
                <a:solidFill>
                  <a:srgbClr val="FFFFFF"/>
                </a:solidFill>
              </a:rPr>
              <a:t>NGƯỜI</a:t>
            </a:r>
            <a:r>
              <a:rPr lang="en-US" sz="1200" b="1">
                <a:solidFill>
                  <a:srgbClr val="FFFFFF"/>
                </a:solidFill>
              </a:rPr>
              <a:t> CAN </a:t>
            </a:r>
            <a:r>
              <a:rPr lang="en-US" sz="1200" b="1" err="1">
                <a:solidFill>
                  <a:srgbClr val="FFFFFF"/>
                </a:solidFill>
              </a:rPr>
              <a:t>THIỆP</a:t>
            </a:r>
            <a:endParaRPr lang="en-US" sz="1200" b="1">
              <a:solidFill>
                <a:srgbClr val="FFFFFF"/>
              </a:solidFill>
            </a:endParaRPr>
          </a:p>
          <a:p>
            <a:endParaRPr lang="en-US"/>
          </a:p>
        </p:txBody>
      </p:sp>
      <p:pic>
        <p:nvPicPr>
          <p:cNvPr id="42" name="Picture 41">
            <a:extLst>
              <a:ext uri="{FF2B5EF4-FFF2-40B4-BE49-F238E27FC236}">
                <a16:creationId xmlns:a16="http://schemas.microsoft.com/office/drawing/2014/main" id="{D64D0C5B-72E8-0E26-592E-08C484DDF680}"/>
              </a:ext>
            </a:extLst>
          </p:cNvPr>
          <p:cNvPicPr>
            <a:picLocks noChangeAspect="1"/>
          </p:cNvPicPr>
          <p:nvPr/>
        </p:nvPicPr>
        <p:blipFill>
          <a:blip r:embed="rId3"/>
          <a:stretch>
            <a:fillRect/>
          </a:stretch>
        </p:blipFill>
        <p:spPr>
          <a:xfrm>
            <a:off x="3883005" y="1376659"/>
            <a:ext cx="4287813" cy="3501177"/>
          </a:xfrm>
          <a:prstGeom prst="rect">
            <a:avLst/>
          </a:prstGeom>
        </p:spPr>
      </p:pic>
    </p:spTree>
    <p:extLst>
      <p:ext uri="{BB962C8B-B14F-4D97-AF65-F5344CB8AC3E}">
        <p14:creationId xmlns:p14="http://schemas.microsoft.com/office/powerpoint/2010/main" val="401683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THIẾT KẾ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Thiết Kế Cơ Sở Dữ Liệu</a:t>
            </a:r>
            <a:endParaRPr lang="en-US" sz="2200"/>
          </a:p>
        </p:txBody>
      </p:sp>
      <p:sp>
        <p:nvSpPr>
          <p:cNvPr id="5" name="Shape 3"/>
          <p:cNvSpPr/>
          <p:nvPr/>
        </p:nvSpPr>
        <p:spPr>
          <a:xfrm>
            <a:off x="201168" y="1005840"/>
            <a:ext cx="2834640" cy="384048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01168" y="1005840"/>
            <a:ext cx="2834640" cy="384048"/>
          </a:xfrm>
          <a:prstGeom prst="rect">
            <a:avLst/>
          </a:prstGeom>
          <a:solidFill>
            <a:srgbClr val="0D9488"/>
          </a:solidFill>
          <a:ln/>
        </p:spPr>
      </p:sp>
      <p:sp>
        <p:nvSpPr>
          <p:cNvPr id="7" name="Text 5"/>
          <p:cNvSpPr/>
          <p:nvPr/>
        </p:nvSpPr>
        <p:spPr>
          <a:xfrm>
            <a:off x="292608" y="1051560"/>
            <a:ext cx="2651760" cy="292608"/>
          </a:xfrm>
          <a:prstGeom prst="rect">
            <a:avLst/>
          </a:prstGeom>
          <a:noFill/>
          <a:ln/>
        </p:spPr>
        <p:txBody>
          <a:bodyPr wrap="square" rtlCol="0" anchor="ctr"/>
          <a:lstStyle/>
          <a:p>
            <a:pPr marL="0" indent="0">
              <a:buNone/>
            </a:pPr>
            <a:r>
              <a:rPr lang="en-US" sz="1200" b="1">
                <a:solidFill>
                  <a:srgbClr val="FFFFFF"/>
                </a:solidFill>
              </a:rPr>
              <a:t>Bảng USER</a:t>
            </a:r>
            <a:endParaRPr lang="en-US" sz="1200"/>
          </a:p>
        </p:txBody>
      </p:sp>
      <p:sp>
        <p:nvSpPr>
          <p:cNvPr id="8" name="Shape 6"/>
          <p:cNvSpPr/>
          <p:nvPr/>
        </p:nvSpPr>
        <p:spPr>
          <a:xfrm>
            <a:off x="201168" y="1389888"/>
            <a:ext cx="2834640" cy="256032"/>
          </a:xfrm>
          <a:prstGeom prst="rect">
            <a:avLst/>
          </a:prstGeom>
          <a:solidFill>
            <a:srgbClr val="E2E8F0"/>
          </a:solidFill>
          <a:ln/>
        </p:spPr>
      </p:sp>
      <p:sp>
        <p:nvSpPr>
          <p:cNvPr id="9" name="Text 7"/>
          <p:cNvSpPr/>
          <p:nvPr/>
        </p:nvSpPr>
        <p:spPr>
          <a:xfrm>
            <a:off x="246888" y="1408176"/>
            <a:ext cx="1005840" cy="219456"/>
          </a:xfrm>
          <a:prstGeom prst="rect">
            <a:avLst/>
          </a:prstGeom>
          <a:noFill/>
          <a:ln/>
        </p:spPr>
        <p:txBody>
          <a:bodyPr wrap="square" rtlCol="0" anchor="ctr"/>
          <a:lstStyle/>
          <a:p>
            <a:pPr marL="0" indent="0">
              <a:buNone/>
            </a:pPr>
            <a:r>
              <a:rPr lang="en-US" sz="1000" b="1">
                <a:solidFill>
                  <a:srgbClr val="1E293B"/>
                </a:solidFill>
              </a:rPr>
              <a:t>Trường</a:t>
            </a:r>
            <a:endParaRPr lang="en-US" sz="1000"/>
          </a:p>
        </p:txBody>
      </p:sp>
      <p:sp>
        <p:nvSpPr>
          <p:cNvPr id="10" name="Text 8"/>
          <p:cNvSpPr/>
          <p:nvPr/>
        </p:nvSpPr>
        <p:spPr>
          <a:xfrm>
            <a:off x="1207008" y="1408176"/>
            <a:ext cx="1005840" cy="219456"/>
          </a:xfrm>
          <a:prstGeom prst="rect">
            <a:avLst/>
          </a:prstGeom>
          <a:noFill/>
          <a:ln/>
        </p:spPr>
        <p:txBody>
          <a:bodyPr wrap="square" rtlCol="0" anchor="ctr"/>
          <a:lstStyle/>
          <a:p>
            <a:pPr marL="0" indent="0">
              <a:buNone/>
            </a:pPr>
            <a:r>
              <a:rPr lang="en-US" sz="1000" b="1">
                <a:solidFill>
                  <a:srgbClr val="1E293B"/>
                </a:solidFill>
              </a:rPr>
              <a:t>Kiểu</a:t>
            </a:r>
            <a:endParaRPr lang="en-US" sz="1000"/>
          </a:p>
        </p:txBody>
      </p:sp>
      <p:sp>
        <p:nvSpPr>
          <p:cNvPr id="11" name="Text 9"/>
          <p:cNvSpPr/>
          <p:nvPr/>
        </p:nvSpPr>
        <p:spPr>
          <a:xfrm>
            <a:off x="2121408" y="1408176"/>
            <a:ext cx="868680" cy="219456"/>
          </a:xfrm>
          <a:prstGeom prst="rect">
            <a:avLst/>
          </a:prstGeom>
          <a:noFill/>
          <a:ln/>
        </p:spPr>
        <p:txBody>
          <a:bodyPr wrap="square" rtlCol="0" anchor="ctr"/>
          <a:lstStyle/>
          <a:p>
            <a:pPr marL="0" indent="0">
              <a:buNone/>
            </a:pPr>
            <a:r>
              <a:rPr lang="en-US" sz="1000" b="1">
                <a:solidFill>
                  <a:srgbClr val="1E293B"/>
                </a:solidFill>
              </a:rPr>
              <a:t>Ghi chú</a:t>
            </a:r>
            <a:endParaRPr lang="en-US" sz="1000"/>
          </a:p>
        </p:txBody>
      </p:sp>
      <p:sp>
        <p:nvSpPr>
          <p:cNvPr id="12" name="Shape 10"/>
          <p:cNvSpPr/>
          <p:nvPr/>
        </p:nvSpPr>
        <p:spPr>
          <a:xfrm>
            <a:off x="201168" y="1636776"/>
            <a:ext cx="2834640" cy="347472"/>
          </a:xfrm>
          <a:prstGeom prst="rect">
            <a:avLst/>
          </a:prstGeom>
          <a:solidFill>
            <a:srgbClr val="F8FAFC"/>
          </a:solidFill>
          <a:ln/>
        </p:spPr>
      </p:sp>
      <p:sp>
        <p:nvSpPr>
          <p:cNvPr id="13" name="Text 11"/>
          <p:cNvSpPr/>
          <p:nvPr/>
        </p:nvSpPr>
        <p:spPr>
          <a:xfrm>
            <a:off x="246888" y="1664208"/>
            <a:ext cx="960120" cy="292608"/>
          </a:xfrm>
          <a:prstGeom prst="rect">
            <a:avLst/>
          </a:prstGeom>
          <a:noFill/>
          <a:ln/>
        </p:spPr>
        <p:txBody>
          <a:bodyPr wrap="square" rtlCol="0" anchor="ctr"/>
          <a:lstStyle/>
          <a:p>
            <a:pPr marL="0" indent="0">
              <a:buNone/>
            </a:pPr>
            <a:r>
              <a:rPr lang="en-US" sz="1000" b="1">
                <a:solidFill>
                  <a:srgbClr val="1E293B"/>
                </a:solidFill>
              </a:rPr>
              <a:t>id</a:t>
            </a:r>
            <a:endParaRPr lang="en-US" sz="1000"/>
          </a:p>
        </p:txBody>
      </p:sp>
      <p:sp>
        <p:nvSpPr>
          <p:cNvPr id="14" name="Text 12"/>
          <p:cNvSpPr/>
          <p:nvPr/>
        </p:nvSpPr>
        <p:spPr>
          <a:xfrm>
            <a:off x="1207008" y="1664208"/>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15" name="Text 13"/>
          <p:cNvSpPr/>
          <p:nvPr/>
        </p:nvSpPr>
        <p:spPr>
          <a:xfrm>
            <a:off x="2121408" y="1664208"/>
            <a:ext cx="868680" cy="292608"/>
          </a:xfrm>
          <a:prstGeom prst="rect">
            <a:avLst/>
          </a:prstGeom>
          <a:noFill/>
          <a:ln/>
        </p:spPr>
        <p:txBody>
          <a:bodyPr wrap="square" rtlCol="0" anchor="ctr"/>
          <a:lstStyle/>
          <a:p>
            <a:pPr marL="0" indent="0">
              <a:buNone/>
            </a:pPr>
            <a:r>
              <a:rPr lang="en-US" sz="950" b="1">
                <a:solidFill>
                  <a:srgbClr val="0D9488"/>
                </a:solidFill>
              </a:rPr>
              <a:t>PK</a:t>
            </a:r>
            <a:endParaRPr lang="en-US" sz="950"/>
          </a:p>
        </p:txBody>
      </p:sp>
      <p:sp>
        <p:nvSpPr>
          <p:cNvPr id="16" name="Text 14"/>
          <p:cNvSpPr/>
          <p:nvPr/>
        </p:nvSpPr>
        <p:spPr>
          <a:xfrm>
            <a:off x="246888" y="2011680"/>
            <a:ext cx="960120" cy="292608"/>
          </a:xfrm>
          <a:prstGeom prst="rect">
            <a:avLst/>
          </a:prstGeom>
          <a:noFill/>
          <a:ln/>
        </p:spPr>
        <p:txBody>
          <a:bodyPr wrap="square" rtlCol="0" anchor="ctr"/>
          <a:lstStyle/>
          <a:p>
            <a:pPr marL="0" indent="0">
              <a:buNone/>
            </a:pPr>
            <a:r>
              <a:rPr lang="en-US" sz="1000" b="1">
                <a:solidFill>
                  <a:srgbClr val="1E293B"/>
                </a:solidFill>
              </a:rPr>
              <a:t>name</a:t>
            </a:r>
            <a:endParaRPr lang="en-US" sz="1000"/>
          </a:p>
        </p:txBody>
      </p:sp>
      <p:sp>
        <p:nvSpPr>
          <p:cNvPr id="17" name="Text 15"/>
          <p:cNvSpPr/>
          <p:nvPr/>
        </p:nvSpPr>
        <p:spPr>
          <a:xfrm>
            <a:off x="1207008" y="2011680"/>
            <a:ext cx="914400" cy="292608"/>
          </a:xfrm>
          <a:prstGeom prst="rect">
            <a:avLst/>
          </a:prstGeom>
          <a:noFill/>
          <a:ln/>
        </p:spPr>
        <p:txBody>
          <a:bodyPr wrap="square" rtlCol="0" anchor="ctr"/>
          <a:lstStyle/>
          <a:p>
            <a:pPr marL="0" indent="0">
              <a:buNone/>
            </a:pPr>
            <a:r>
              <a:rPr lang="en-US" sz="950">
                <a:solidFill>
                  <a:srgbClr val="64748B"/>
                </a:solidFill>
              </a:rPr>
              <a:t>Varchar(255)</a:t>
            </a:r>
            <a:endParaRPr lang="en-US" sz="950"/>
          </a:p>
        </p:txBody>
      </p:sp>
      <p:sp>
        <p:nvSpPr>
          <p:cNvPr id="18" name="Text 16"/>
          <p:cNvSpPr/>
          <p:nvPr/>
        </p:nvSpPr>
        <p:spPr>
          <a:xfrm>
            <a:off x="2121408" y="2011680"/>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19" name="Shape 17"/>
          <p:cNvSpPr/>
          <p:nvPr/>
        </p:nvSpPr>
        <p:spPr>
          <a:xfrm>
            <a:off x="201168" y="2331720"/>
            <a:ext cx="2834640" cy="347472"/>
          </a:xfrm>
          <a:prstGeom prst="rect">
            <a:avLst/>
          </a:prstGeom>
          <a:solidFill>
            <a:srgbClr val="F8FAFC"/>
          </a:solidFill>
          <a:ln/>
        </p:spPr>
      </p:sp>
      <p:sp>
        <p:nvSpPr>
          <p:cNvPr id="20" name="Text 18"/>
          <p:cNvSpPr/>
          <p:nvPr/>
        </p:nvSpPr>
        <p:spPr>
          <a:xfrm>
            <a:off x="246888" y="2359152"/>
            <a:ext cx="960120" cy="292608"/>
          </a:xfrm>
          <a:prstGeom prst="rect">
            <a:avLst/>
          </a:prstGeom>
          <a:noFill/>
          <a:ln/>
        </p:spPr>
        <p:txBody>
          <a:bodyPr wrap="square" rtlCol="0" anchor="ctr"/>
          <a:lstStyle/>
          <a:p>
            <a:pPr marL="0" indent="0">
              <a:buNone/>
            </a:pPr>
            <a:r>
              <a:rPr lang="en-US" sz="1000" b="1">
                <a:solidFill>
                  <a:srgbClr val="1E293B"/>
                </a:solidFill>
              </a:rPr>
              <a:t>password</a:t>
            </a:r>
            <a:endParaRPr lang="en-US" sz="1000"/>
          </a:p>
        </p:txBody>
      </p:sp>
      <p:sp>
        <p:nvSpPr>
          <p:cNvPr id="21" name="Text 19"/>
          <p:cNvSpPr/>
          <p:nvPr/>
        </p:nvSpPr>
        <p:spPr>
          <a:xfrm>
            <a:off x="1207008" y="2359152"/>
            <a:ext cx="914400" cy="292608"/>
          </a:xfrm>
          <a:prstGeom prst="rect">
            <a:avLst/>
          </a:prstGeom>
          <a:noFill/>
          <a:ln/>
        </p:spPr>
        <p:txBody>
          <a:bodyPr wrap="square" rtlCol="0" anchor="ctr"/>
          <a:lstStyle/>
          <a:p>
            <a:pPr marL="0" indent="0">
              <a:buNone/>
            </a:pPr>
            <a:r>
              <a:rPr lang="en-US" sz="950">
                <a:solidFill>
                  <a:srgbClr val="64748B"/>
                </a:solidFill>
              </a:rPr>
              <a:t>Varchar(255)</a:t>
            </a:r>
            <a:endParaRPr lang="en-US" sz="950"/>
          </a:p>
        </p:txBody>
      </p:sp>
      <p:sp>
        <p:nvSpPr>
          <p:cNvPr id="22" name="Text 20"/>
          <p:cNvSpPr/>
          <p:nvPr/>
        </p:nvSpPr>
        <p:spPr>
          <a:xfrm>
            <a:off x="2121408" y="2359152"/>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23" name="Text 21"/>
          <p:cNvSpPr/>
          <p:nvPr/>
        </p:nvSpPr>
        <p:spPr>
          <a:xfrm>
            <a:off x="246888" y="2706624"/>
            <a:ext cx="960120" cy="292608"/>
          </a:xfrm>
          <a:prstGeom prst="rect">
            <a:avLst/>
          </a:prstGeom>
          <a:noFill/>
          <a:ln/>
        </p:spPr>
        <p:txBody>
          <a:bodyPr wrap="square" rtlCol="0" anchor="ctr"/>
          <a:lstStyle/>
          <a:p>
            <a:pPr marL="0" indent="0">
              <a:buNone/>
            </a:pPr>
            <a:r>
              <a:rPr lang="en-US" sz="1000" b="1">
                <a:solidFill>
                  <a:srgbClr val="1E293B"/>
                </a:solidFill>
              </a:rPr>
              <a:t>email</a:t>
            </a:r>
            <a:endParaRPr lang="en-US" sz="1000"/>
          </a:p>
        </p:txBody>
      </p:sp>
      <p:sp>
        <p:nvSpPr>
          <p:cNvPr id="24" name="Text 22"/>
          <p:cNvSpPr/>
          <p:nvPr/>
        </p:nvSpPr>
        <p:spPr>
          <a:xfrm>
            <a:off x="1207008" y="2706624"/>
            <a:ext cx="914400" cy="292608"/>
          </a:xfrm>
          <a:prstGeom prst="rect">
            <a:avLst/>
          </a:prstGeom>
          <a:noFill/>
          <a:ln/>
        </p:spPr>
        <p:txBody>
          <a:bodyPr wrap="square" rtlCol="0" anchor="ctr"/>
          <a:lstStyle/>
          <a:p>
            <a:pPr marL="0" indent="0">
              <a:buNone/>
            </a:pPr>
            <a:r>
              <a:rPr lang="en-US" sz="950">
                <a:solidFill>
                  <a:srgbClr val="64748B"/>
                </a:solidFill>
              </a:rPr>
              <a:t>Varchar(255)</a:t>
            </a:r>
            <a:endParaRPr lang="en-US" sz="950"/>
          </a:p>
        </p:txBody>
      </p:sp>
      <p:sp>
        <p:nvSpPr>
          <p:cNvPr id="25" name="Text 23"/>
          <p:cNvSpPr/>
          <p:nvPr/>
        </p:nvSpPr>
        <p:spPr>
          <a:xfrm>
            <a:off x="2121408" y="2706624"/>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26" name="Shape 24"/>
          <p:cNvSpPr/>
          <p:nvPr/>
        </p:nvSpPr>
        <p:spPr>
          <a:xfrm>
            <a:off x="201168" y="3026664"/>
            <a:ext cx="2834640" cy="347472"/>
          </a:xfrm>
          <a:prstGeom prst="rect">
            <a:avLst/>
          </a:prstGeom>
          <a:solidFill>
            <a:srgbClr val="F8FAFC"/>
          </a:solidFill>
          <a:ln/>
        </p:spPr>
      </p:sp>
      <p:sp>
        <p:nvSpPr>
          <p:cNvPr id="27" name="Text 25"/>
          <p:cNvSpPr/>
          <p:nvPr/>
        </p:nvSpPr>
        <p:spPr>
          <a:xfrm>
            <a:off x="246888" y="3054096"/>
            <a:ext cx="960120" cy="292608"/>
          </a:xfrm>
          <a:prstGeom prst="rect">
            <a:avLst/>
          </a:prstGeom>
          <a:noFill/>
          <a:ln/>
        </p:spPr>
        <p:txBody>
          <a:bodyPr wrap="square" rtlCol="0" anchor="ctr"/>
          <a:lstStyle/>
          <a:p>
            <a:pPr marL="0" indent="0">
              <a:buNone/>
            </a:pPr>
            <a:r>
              <a:rPr lang="en-US" sz="1000" b="1" err="1">
                <a:solidFill>
                  <a:srgbClr val="1E293B"/>
                </a:solidFill>
              </a:rPr>
              <a:t>phone_no</a:t>
            </a:r>
            <a:endParaRPr lang="en-US" sz="1000"/>
          </a:p>
        </p:txBody>
      </p:sp>
      <p:sp>
        <p:nvSpPr>
          <p:cNvPr id="28" name="Text 26"/>
          <p:cNvSpPr/>
          <p:nvPr/>
        </p:nvSpPr>
        <p:spPr>
          <a:xfrm>
            <a:off x="1207008" y="3054096"/>
            <a:ext cx="914400" cy="292608"/>
          </a:xfrm>
          <a:prstGeom prst="rect">
            <a:avLst/>
          </a:prstGeom>
          <a:noFill/>
          <a:ln/>
        </p:spPr>
        <p:txBody>
          <a:bodyPr wrap="square" rtlCol="0" anchor="ctr"/>
          <a:lstStyle/>
          <a:p>
            <a:pPr marL="0" indent="0">
              <a:buNone/>
            </a:pPr>
            <a:r>
              <a:rPr lang="en-US" sz="950">
                <a:solidFill>
                  <a:srgbClr val="64748B"/>
                </a:solidFill>
              </a:rPr>
              <a:t>Varchar(50)</a:t>
            </a:r>
            <a:endParaRPr lang="en-US" sz="950"/>
          </a:p>
        </p:txBody>
      </p:sp>
      <p:sp>
        <p:nvSpPr>
          <p:cNvPr id="29" name="Text 27"/>
          <p:cNvSpPr/>
          <p:nvPr/>
        </p:nvSpPr>
        <p:spPr>
          <a:xfrm>
            <a:off x="2121408" y="3054096"/>
            <a:ext cx="868680" cy="292608"/>
          </a:xfrm>
          <a:prstGeom prst="rect">
            <a:avLst/>
          </a:prstGeom>
          <a:noFill/>
          <a:ln/>
        </p:spPr>
        <p:txBody>
          <a:bodyPr wrap="square" rtlCol="0" anchor="ctr"/>
          <a:lstStyle/>
          <a:p>
            <a:pPr marL="0" indent="0">
              <a:buNone/>
            </a:pPr>
            <a:r>
              <a:rPr lang="en-US" sz="950">
                <a:solidFill>
                  <a:srgbClr val="64748B"/>
                </a:solidFill>
              </a:rPr>
              <a:t>Default”</a:t>
            </a:r>
            <a:endParaRPr lang="en-US" sz="950"/>
          </a:p>
        </p:txBody>
      </p:sp>
      <p:sp>
        <p:nvSpPr>
          <p:cNvPr id="30" name="Text 28"/>
          <p:cNvSpPr/>
          <p:nvPr/>
        </p:nvSpPr>
        <p:spPr>
          <a:xfrm>
            <a:off x="246888" y="3401568"/>
            <a:ext cx="960120" cy="292608"/>
          </a:xfrm>
          <a:prstGeom prst="rect">
            <a:avLst/>
          </a:prstGeom>
          <a:noFill/>
          <a:ln/>
        </p:spPr>
        <p:txBody>
          <a:bodyPr wrap="square" rtlCol="0" anchor="ctr"/>
          <a:lstStyle/>
          <a:p>
            <a:pPr marL="0" indent="0">
              <a:buNone/>
            </a:pPr>
            <a:r>
              <a:rPr lang="en-US" sz="1000" b="1">
                <a:solidFill>
                  <a:srgbClr val="1E293B"/>
                </a:solidFill>
              </a:rPr>
              <a:t>address</a:t>
            </a:r>
            <a:endParaRPr lang="en-US" sz="1000"/>
          </a:p>
        </p:txBody>
      </p:sp>
      <p:sp>
        <p:nvSpPr>
          <p:cNvPr id="31" name="Text 29"/>
          <p:cNvSpPr/>
          <p:nvPr/>
        </p:nvSpPr>
        <p:spPr>
          <a:xfrm>
            <a:off x="1207008" y="3401568"/>
            <a:ext cx="914400" cy="292608"/>
          </a:xfrm>
          <a:prstGeom prst="rect">
            <a:avLst/>
          </a:prstGeom>
          <a:noFill/>
          <a:ln/>
        </p:spPr>
        <p:txBody>
          <a:bodyPr wrap="square" rtlCol="0" anchor="ctr"/>
          <a:lstStyle/>
          <a:p>
            <a:pPr marL="0" indent="0">
              <a:buNone/>
            </a:pPr>
            <a:r>
              <a:rPr lang="en-US" sz="950">
                <a:solidFill>
                  <a:srgbClr val="64748B"/>
                </a:solidFill>
              </a:rPr>
              <a:t>Varchar(500)</a:t>
            </a:r>
            <a:endParaRPr lang="en-US" sz="950"/>
          </a:p>
        </p:txBody>
      </p:sp>
      <p:sp>
        <p:nvSpPr>
          <p:cNvPr id="32" name="Text 30"/>
          <p:cNvSpPr/>
          <p:nvPr/>
        </p:nvSpPr>
        <p:spPr>
          <a:xfrm>
            <a:off x="2121408" y="3401568"/>
            <a:ext cx="868680" cy="292608"/>
          </a:xfrm>
          <a:prstGeom prst="rect">
            <a:avLst/>
          </a:prstGeom>
          <a:noFill/>
          <a:ln/>
        </p:spPr>
        <p:txBody>
          <a:bodyPr wrap="square" rtlCol="0" anchor="ctr"/>
          <a:lstStyle/>
          <a:p>
            <a:pPr marL="0" indent="0">
              <a:buNone/>
            </a:pPr>
            <a:r>
              <a:rPr lang="en-US" sz="950">
                <a:solidFill>
                  <a:srgbClr val="64748B"/>
                </a:solidFill>
              </a:rPr>
              <a:t>Default “</a:t>
            </a:r>
            <a:endParaRPr lang="en-US" sz="950"/>
          </a:p>
        </p:txBody>
      </p:sp>
      <p:sp>
        <p:nvSpPr>
          <p:cNvPr id="33" name="Shape 31"/>
          <p:cNvSpPr/>
          <p:nvPr/>
        </p:nvSpPr>
        <p:spPr>
          <a:xfrm>
            <a:off x="3172968" y="1005840"/>
            <a:ext cx="2834640" cy="3840480"/>
          </a:xfrm>
          <a:prstGeom prst="rect">
            <a:avLst/>
          </a:prstGeom>
          <a:solidFill>
            <a:srgbClr val="FFFFFF"/>
          </a:solidFill>
          <a:ln/>
          <a:effectLst>
            <a:outerShdw blurRad="101600" dist="38100" dir="8100000" algn="bl" rotWithShape="0">
              <a:srgbClr val="000000">
                <a:alpha val="18000"/>
              </a:srgbClr>
            </a:outerShdw>
          </a:effectLst>
        </p:spPr>
      </p:sp>
      <p:sp>
        <p:nvSpPr>
          <p:cNvPr id="34" name="Shape 32"/>
          <p:cNvSpPr/>
          <p:nvPr/>
        </p:nvSpPr>
        <p:spPr>
          <a:xfrm>
            <a:off x="3172968" y="1005840"/>
            <a:ext cx="2834640" cy="384048"/>
          </a:xfrm>
          <a:prstGeom prst="rect">
            <a:avLst/>
          </a:prstGeom>
          <a:solidFill>
            <a:srgbClr val="0369A1"/>
          </a:solidFill>
          <a:ln/>
        </p:spPr>
      </p:sp>
      <p:sp>
        <p:nvSpPr>
          <p:cNvPr id="35" name="Text 33"/>
          <p:cNvSpPr/>
          <p:nvPr/>
        </p:nvSpPr>
        <p:spPr>
          <a:xfrm>
            <a:off x="3264408" y="1051560"/>
            <a:ext cx="2651760" cy="292608"/>
          </a:xfrm>
          <a:prstGeom prst="rect">
            <a:avLst/>
          </a:prstGeom>
          <a:noFill/>
          <a:ln/>
        </p:spPr>
        <p:txBody>
          <a:bodyPr wrap="square" rtlCol="0" anchor="ctr"/>
          <a:lstStyle/>
          <a:p>
            <a:pPr marL="0" indent="0">
              <a:buNone/>
            </a:pPr>
            <a:r>
              <a:rPr lang="en-US" sz="1200" b="1">
                <a:solidFill>
                  <a:srgbClr val="FFFFFF"/>
                </a:solidFill>
              </a:rPr>
              <a:t>Bảng CATEGORY</a:t>
            </a:r>
            <a:endParaRPr lang="en-US" sz="1200"/>
          </a:p>
        </p:txBody>
      </p:sp>
      <p:sp>
        <p:nvSpPr>
          <p:cNvPr id="36" name="Shape 34"/>
          <p:cNvSpPr/>
          <p:nvPr/>
        </p:nvSpPr>
        <p:spPr>
          <a:xfrm>
            <a:off x="3172968" y="1389888"/>
            <a:ext cx="2834640" cy="256032"/>
          </a:xfrm>
          <a:prstGeom prst="rect">
            <a:avLst/>
          </a:prstGeom>
          <a:solidFill>
            <a:srgbClr val="E2E8F0"/>
          </a:solidFill>
          <a:ln/>
        </p:spPr>
      </p:sp>
      <p:sp>
        <p:nvSpPr>
          <p:cNvPr id="37" name="Text 35"/>
          <p:cNvSpPr/>
          <p:nvPr/>
        </p:nvSpPr>
        <p:spPr>
          <a:xfrm>
            <a:off x="3218688" y="1408176"/>
            <a:ext cx="1005840" cy="219456"/>
          </a:xfrm>
          <a:prstGeom prst="rect">
            <a:avLst/>
          </a:prstGeom>
          <a:noFill/>
          <a:ln/>
        </p:spPr>
        <p:txBody>
          <a:bodyPr wrap="square" rtlCol="0" anchor="ctr"/>
          <a:lstStyle/>
          <a:p>
            <a:pPr marL="0" indent="0">
              <a:buNone/>
            </a:pPr>
            <a:r>
              <a:rPr lang="en-US" sz="1000" b="1">
                <a:solidFill>
                  <a:srgbClr val="1E293B"/>
                </a:solidFill>
              </a:rPr>
              <a:t>Trường</a:t>
            </a:r>
            <a:endParaRPr lang="en-US" sz="1000"/>
          </a:p>
        </p:txBody>
      </p:sp>
      <p:sp>
        <p:nvSpPr>
          <p:cNvPr id="38" name="Text 36"/>
          <p:cNvSpPr/>
          <p:nvPr/>
        </p:nvSpPr>
        <p:spPr>
          <a:xfrm>
            <a:off x="4178808" y="1408176"/>
            <a:ext cx="1005840" cy="219456"/>
          </a:xfrm>
          <a:prstGeom prst="rect">
            <a:avLst/>
          </a:prstGeom>
          <a:noFill/>
          <a:ln/>
        </p:spPr>
        <p:txBody>
          <a:bodyPr wrap="square" rtlCol="0" anchor="ctr"/>
          <a:lstStyle/>
          <a:p>
            <a:pPr marL="0" indent="0">
              <a:buNone/>
            </a:pPr>
            <a:r>
              <a:rPr lang="en-US" sz="1000" b="1">
                <a:solidFill>
                  <a:srgbClr val="1E293B"/>
                </a:solidFill>
              </a:rPr>
              <a:t>Kiểu</a:t>
            </a:r>
            <a:endParaRPr lang="en-US" sz="1000"/>
          </a:p>
        </p:txBody>
      </p:sp>
      <p:sp>
        <p:nvSpPr>
          <p:cNvPr id="39" name="Text 37"/>
          <p:cNvSpPr/>
          <p:nvPr/>
        </p:nvSpPr>
        <p:spPr>
          <a:xfrm>
            <a:off x="5093208" y="1408176"/>
            <a:ext cx="868680" cy="219456"/>
          </a:xfrm>
          <a:prstGeom prst="rect">
            <a:avLst/>
          </a:prstGeom>
          <a:noFill/>
          <a:ln/>
        </p:spPr>
        <p:txBody>
          <a:bodyPr wrap="square" rtlCol="0" anchor="ctr"/>
          <a:lstStyle/>
          <a:p>
            <a:pPr marL="0" indent="0">
              <a:buNone/>
            </a:pPr>
            <a:r>
              <a:rPr lang="en-US" sz="1000" b="1">
                <a:solidFill>
                  <a:srgbClr val="1E293B"/>
                </a:solidFill>
              </a:rPr>
              <a:t>Ghi chú</a:t>
            </a:r>
            <a:endParaRPr lang="en-US" sz="1000"/>
          </a:p>
        </p:txBody>
      </p:sp>
      <p:sp>
        <p:nvSpPr>
          <p:cNvPr id="40" name="Shape 38"/>
          <p:cNvSpPr/>
          <p:nvPr/>
        </p:nvSpPr>
        <p:spPr>
          <a:xfrm>
            <a:off x="3172968" y="1636776"/>
            <a:ext cx="2834640" cy="347472"/>
          </a:xfrm>
          <a:prstGeom prst="rect">
            <a:avLst/>
          </a:prstGeom>
          <a:solidFill>
            <a:srgbClr val="F8FAFC"/>
          </a:solidFill>
          <a:ln/>
        </p:spPr>
      </p:sp>
      <p:sp>
        <p:nvSpPr>
          <p:cNvPr id="41" name="Text 39"/>
          <p:cNvSpPr/>
          <p:nvPr/>
        </p:nvSpPr>
        <p:spPr>
          <a:xfrm>
            <a:off x="3218688" y="1664208"/>
            <a:ext cx="960120" cy="292608"/>
          </a:xfrm>
          <a:prstGeom prst="rect">
            <a:avLst/>
          </a:prstGeom>
          <a:noFill/>
          <a:ln/>
        </p:spPr>
        <p:txBody>
          <a:bodyPr wrap="square" rtlCol="0" anchor="ctr"/>
          <a:lstStyle/>
          <a:p>
            <a:pPr marL="0" indent="0">
              <a:buNone/>
            </a:pPr>
            <a:r>
              <a:rPr lang="en-US" sz="1000" b="1">
                <a:solidFill>
                  <a:srgbClr val="1E293B"/>
                </a:solidFill>
              </a:rPr>
              <a:t>id</a:t>
            </a:r>
            <a:endParaRPr lang="en-US" sz="1000"/>
          </a:p>
        </p:txBody>
      </p:sp>
      <p:sp>
        <p:nvSpPr>
          <p:cNvPr id="42" name="Text 40"/>
          <p:cNvSpPr/>
          <p:nvPr/>
        </p:nvSpPr>
        <p:spPr>
          <a:xfrm>
            <a:off x="4178808" y="1664208"/>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43" name="Text 41"/>
          <p:cNvSpPr/>
          <p:nvPr/>
        </p:nvSpPr>
        <p:spPr>
          <a:xfrm>
            <a:off x="5093208" y="1664208"/>
            <a:ext cx="868680" cy="292608"/>
          </a:xfrm>
          <a:prstGeom prst="rect">
            <a:avLst/>
          </a:prstGeom>
          <a:noFill/>
          <a:ln/>
        </p:spPr>
        <p:txBody>
          <a:bodyPr wrap="square" rtlCol="0" anchor="ctr"/>
          <a:lstStyle/>
          <a:p>
            <a:pPr marL="0" indent="0">
              <a:buNone/>
            </a:pPr>
            <a:r>
              <a:rPr lang="en-US" sz="950" b="1">
                <a:solidFill>
                  <a:srgbClr val="0D9488"/>
                </a:solidFill>
              </a:rPr>
              <a:t>PK</a:t>
            </a:r>
            <a:endParaRPr lang="en-US" sz="950"/>
          </a:p>
        </p:txBody>
      </p:sp>
      <p:sp>
        <p:nvSpPr>
          <p:cNvPr id="44" name="Text 42"/>
          <p:cNvSpPr/>
          <p:nvPr/>
        </p:nvSpPr>
        <p:spPr>
          <a:xfrm>
            <a:off x="3218688" y="2011680"/>
            <a:ext cx="960120" cy="292608"/>
          </a:xfrm>
          <a:prstGeom prst="rect">
            <a:avLst/>
          </a:prstGeom>
          <a:noFill/>
          <a:ln/>
        </p:spPr>
        <p:txBody>
          <a:bodyPr wrap="square" rtlCol="0" anchor="ctr"/>
          <a:lstStyle/>
          <a:p>
            <a:pPr marL="0" indent="0">
              <a:buNone/>
            </a:pPr>
            <a:r>
              <a:rPr lang="en-US" sz="1000" b="1">
                <a:solidFill>
                  <a:srgbClr val="1E293B"/>
                </a:solidFill>
              </a:rPr>
              <a:t>name</a:t>
            </a:r>
            <a:endParaRPr lang="en-US" sz="1000"/>
          </a:p>
        </p:txBody>
      </p:sp>
      <p:sp>
        <p:nvSpPr>
          <p:cNvPr id="45" name="Text 43"/>
          <p:cNvSpPr/>
          <p:nvPr/>
        </p:nvSpPr>
        <p:spPr>
          <a:xfrm>
            <a:off x="4178808" y="2011680"/>
            <a:ext cx="914400" cy="292608"/>
          </a:xfrm>
          <a:prstGeom prst="rect">
            <a:avLst/>
          </a:prstGeom>
          <a:noFill/>
          <a:ln/>
        </p:spPr>
        <p:txBody>
          <a:bodyPr wrap="square" rtlCol="0" anchor="ctr"/>
          <a:lstStyle/>
          <a:p>
            <a:pPr marL="0" indent="0">
              <a:buNone/>
            </a:pPr>
            <a:r>
              <a:rPr lang="en-US" sz="950">
                <a:solidFill>
                  <a:srgbClr val="64748B"/>
                </a:solidFill>
              </a:rPr>
              <a:t>Varchar(255)</a:t>
            </a:r>
            <a:endParaRPr lang="en-US" sz="950"/>
          </a:p>
        </p:txBody>
      </p:sp>
      <p:sp>
        <p:nvSpPr>
          <p:cNvPr id="46" name="Text 44"/>
          <p:cNvSpPr/>
          <p:nvPr/>
        </p:nvSpPr>
        <p:spPr>
          <a:xfrm>
            <a:off x="5093208" y="2011680"/>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47" name="Shape 45"/>
          <p:cNvSpPr/>
          <p:nvPr/>
        </p:nvSpPr>
        <p:spPr>
          <a:xfrm>
            <a:off x="3172968" y="2331720"/>
            <a:ext cx="2834640" cy="347472"/>
          </a:xfrm>
          <a:prstGeom prst="rect">
            <a:avLst/>
          </a:prstGeom>
          <a:solidFill>
            <a:srgbClr val="F8FAFC"/>
          </a:solidFill>
          <a:ln/>
        </p:spPr>
      </p:sp>
      <p:sp>
        <p:nvSpPr>
          <p:cNvPr id="51" name="Text 49"/>
          <p:cNvSpPr/>
          <p:nvPr/>
        </p:nvSpPr>
        <p:spPr>
          <a:xfrm>
            <a:off x="3264408" y="3403092"/>
            <a:ext cx="960120" cy="292608"/>
          </a:xfrm>
          <a:prstGeom prst="rect">
            <a:avLst/>
          </a:prstGeom>
          <a:noFill/>
          <a:ln/>
        </p:spPr>
        <p:txBody>
          <a:bodyPr wrap="square" rtlCol="0" anchor="ctr"/>
          <a:lstStyle/>
          <a:p>
            <a:pPr marL="0" indent="0">
              <a:buNone/>
            </a:pPr>
            <a:r>
              <a:rPr lang="en-US" sz="1000" b="1" err="1">
                <a:solidFill>
                  <a:srgbClr val="1E293B"/>
                </a:solidFill>
              </a:rPr>
              <a:t>active_flg</a:t>
            </a:r>
            <a:endParaRPr lang="en-US" sz="1000"/>
          </a:p>
        </p:txBody>
      </p:sp>
      <p:sp>
        <p:nvSpPr>
          <p:cNvPr id="52" name="Text 50"/>
          <p:cNvSpPr/>
          <p:nvPr/>
        </p:nvSpPr>
        <p:spPr>
          <a:xfrm>
            <a:off x="4178808" y="3374136"/>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53" name="Text 51"/>
          <p:cNvSpPr/>
          <p:nvPr/>
        </p:nvSpPr>
        <p:spPr>
          <a:xfrm>
            <a:off x="5093208" y="3395472"/>
            <a:ext cx="868680" cy="292608"/>
          </a:xfrm>
          <a:prstGeom prst="rect">
            <a:avLst/>
          </a:prstGeom>
          <a:noFill/>
          <a:ln/>
        </p:spPr>
        <p:txBody>
          <a:bodyPr wrap="square" rtlCol="0" anchor="ctr"/>
          <a:lstStyle/>
          <a:p>
            <a:pPr marL="0" indent="0">
              <a:buNone/>
            </a:pPr>
            <a:r>
              <a:rPr lang="en-US" sz="950">
                <a:solidFill>
                  <a:srgbClr val="64748B"/>
                </a:solidFill>
              </a:rPr>
              <a:t>Default 1</a:t>
            </a:r>
            <a:endParaRPr lang="en-US" sz="950"/>
          </a:p>
        </p:txBody>
      </p:sp>
      <p:sp>
        <p:nvSpPr>
          <p:cNvPr id="54" name="Shape 52"/>
          <p:cNvSpPr/>
          <p:nvPr/>
        </p:nvSpPr>
        <p:spPr>
          <a:xfrm>
            <a:off x="3172968" y="3026664"/>
            <a:ext cx="2834640" cy="347472"/>
          </a:xfrm>
          <a:prstGeom prst="rect">
            <a:avLst/>
          </a:prstGeom>
          <a:solidFill>
            <a:srgbClr val="F8FAFC"/>
          </a:solidFill>
          <a:ln/>
        </p:spPr>
      </p:sp>
      <p:sp>
        <p:nvSpPr>
          <p:cNvPr id="55" name="Text 53"/>
          <p:cNvSpPr/>
          <p:nvPr/>
        </p:nvSpPr>
        <p:spPr>
          <a:xfrm>
            <a:off x="3218688" y="2389632"/>
            <a:ext cx="960120" cy="292608"/>
          </a:xfrm>
          <a:prstGeom prst="rect">
            <a:avLst/>
          </a:prstGeom>
          <a:noFill/>
          <a:ln/>
        </p:spPr>
        <p:txBody>
          <a:bodyPr wrap="square" rtlCol="0" anchor="ctr"/>
          <a:lstStyle/>
          <a:p>
            <a:pPr marL="0" indent="0">
              <a:buNone/>
            </a:pPr>
            <a:r>
              <a:rPr lang="en-US" sz="1000" b="1" err="1">
                <a:solidFill>
                  <a:srgbClr val="1E293B"/>
                </a:solidFill>
              </a:rPr>
              <a:t>create_date</a:t>
            </a:r>
            <a:endParaRPr lang="en-US" sz="1000"/>
          </a:p>
        </p:txBody>
      </p:sp>
      <p:sp>
        <p:nvSpPr>
          <p:cNvPr id="56" name="Text 54"/>
          <p:cNvSpPr/>
          <p:nvPr/>
        </p:nvSpPr>
        <p:spPr>
          <a:xfrm>
            <a:off x="4178808" y="2377440"/>
            <a:ext cx="914400" cy="292608"/>
          </a:xfrm>
          <a:prstGeom prst="rect">
            <a:avLst/>
          </a:prstGeom>
          <a:noFill/>
          <a:ln/>
        </p:spPr>
        <p:txBody>
          <a:bodyPr wrap="square" rtlCol="0" anchor="ctr"/>
          <a:lstStyle/>
          <a:p>
            <a:pPr marL="0" indent="0">
              <a:buNone/>
            </a:pPr>
            <a:r>
              <a:rPr lang="en-US" sz="950">
                <a:solidFill>
                  <a:srgbClr val="64748B"/>
                </a:solidFill>
              </a:rPr>
              <a:t>Datetime</a:t>
            </a:r>
            <a:endParaRPr lang="en-US" sz="950"/>
          </a:p>
        </p:txBody>
      </p:sp>
      <p:sp>
        <p:nvSpPr>
          <p:cNvPr id="57" name="Text 55"/>
          <p:cNvSpPr/>
          <p:nvPr/>
        </p:nvSpPr>
        <p:spPr>
          <a:xfrm>
            <a:off x="5093208" y="2395728"/>
            <a:ext cx="868680" cy="292608"/>
          </a:xfrm>
          <a:prstGeom prst="rect">
            <a:avLst/>
          </a:prstGeom>
          <a:noFill/>
          <a:ln/>
        </p:spPr>
        <p:txBody>
          <a:bodyPr wrap="square" rtlCol="0" anchor="ctr"/>
          <a:lstStyle/>
          <a:p>
            <a:pPr marL="0" indent="0">
              <a:buNone/>
            </a:pPr>
            <a:r>
              <a:rPr lang="en-US" sz="950">
                <a:solidFill>
                  <a:srgbClr val="64748B"/>
                </a:solidFill>
              </a:rPr>
              <a:t>Default null</a:t>
            </a:r>
            <a:endParaRPr lang="en-US" sz="950"/>
          </a:p>
        </p:txBody>
      </p:sp>
      <p:sp>
        <p:nvSpPr>
          <p:cNvPr id="58" name="Text 56"/>
          <p:cNvSpPr/>
          <p:nvPr/>
        </p:nvSpPr>
        <p:spPr>
          <a:xfrm>
            <a:off x="3218688" y="2688336"/>
            <a:ext cx="960120" cy="292608"/>
          </a:xfrm>
          <a:prstGeom prst="rect">
            <a:avLst/>
          </a:prstGeom>
          <a:noFill/>
          <a:ln/>
        </p:spPr>
        <p:txBody>
          <a:bodyPr wrap="square" rtlCol="0" anchor="ctr"/>
          <a:lstStyle/>
          <a:p>
            <a:pPr marL="0" indent="0">
              <a:buNone/>
            </a:pPr>
            <a:r>
              <a:rPr lang="en-US" sz="1000" b="1" err="1">
                <a:solidFill>
                  <a:srgbClr val="1E293B"/>
                </a:solidFill>
              </a:rPr>
              <a:t>update_date</a:t>
            </a:r>
            <a:endParaRPr lang="en-US" sz="1000"/>
          </a:p>
        </p:txBody>
      </p:sp>
      <p:sp>
        <p:nvSpPr>
          <p:cNvPr id="59" name="Text 57"/>
          <p:cNvSpPr/>
          <p:nvPr/>
        </p:nvSpPr>
        <p:spPr>
          <a:xfrm>
            <a:off x="4178808" y="2723388"/>
            <a:ext cx="914400" cy="292608"/>
          </a:xfrm>
          <a:prstGeom prst="rect">
            <a:avLst/>
          </a:prstGeom>
          <a:noFill/>
          <a:ln/>
        </p:spPr>
        <p:txBody>
          <a:bodyPr wrap="square" rtlCol="0" anchor="ctr"/>
          <a:lstStyle/>
          <a:p>
            <a:pPr marL="0" indent="0">
              <a:buNone/>
            </a:pPr>
            <a:r>
              <a:rPr lang="en-US" sz="950">
                <a:solidFill>
                  <a:srgbClr val="64748B"/>
                </a:solidFill>
              </a:rPr>
              <a:t>Datetime</a:t>
            </a:r>
            <a:endParaRPr lang="en-US" sz="950"/>
          </a:p>
        </p:txBody>
      </p:sp>
      <p:sp>
        <p:nvSpPr>
          <p:cNvPr id="60" name="Text 58"/>
          <p:cNvSpPr/>
          <p:nvPr/>
        </p:nvSpPr>
        <p:spPr>
          <a:xfrm>
            <a:off x="5093208" y="2729484"/>
            <a:ext cx="868680" cy="292608"/>
          </a:xfrm>
          <a:prstGeom prst="rect">
            <a:avLst/>
          </a:prstGeom>
          <a:noFill/>
          <a:ln/>
        </p:spPr>
        <p:txBody>
          <a:bodyPr wrap="square" rtlCol="0" anchor="ctr"/>
          <a:lstStyle/>
          <a:p>
            <a:pPr marL="0" indent="0">
              <a:buNone/>
            </a:pPr>
            <a:r>
              <a:rPr lang="en-US" sz="950">
                <a:solidFill>
                  <a:srgbClr val="64748B"/>
                </a:solidFill>
              </a:rPr>
              <a:t>Default null</a:t>
            </a:r>
            <a:endParaRPr lang="en-US" sz="950"/>
          </a:p>
        </p:txBody>
      </p:sp>
      <p:sp>
        <p:nvSpPr>
          <p:cNvPr id="61" name="Shape 59"/>
          <p:cNvSpPr/>
          <p:nvPr/>
        </p:nvSpPr>
        <p:spPr>
          <a:xfrm>
            <a:off x="6108192" y="925286"/>
            <a:ext cx="2834640" cy="3840480"/>
          </a:xfrm>
          <a:prstGeom prst="rect">
            <a:avLst/>
          </a:prstGeom>
          <a:solidFill>
            <a:srgbClr val="FFFFFF"/>
          </a:solidFill>
          <a:ln/>
          <a:effectLst>
            <a:outerShdw blurRad="101600" dist="38100" dir="8100000" algn="bl" rotWithShape="0">
              <a:srgbClr val="000000">
                <a:alpha val="18000"/>
              </a:srgbClr>
            </a:outerShdw>
          </a:effectLst>
        </p:spPr>
      </p:sp>
      <p:sp>
        <p:nvSpPr>
          <p:cNvPr id="62" name="Shape 60"/>
          <p:cNvSpPr/>
          <p:nvPr/>
        </p:nvSpPr>
        <p:spPr>
          <a:xfrm>
            <a:off x="6108192" y="925286"/>
            <a:ext cx="2834640" cy="384048"/>
          </a:xfrm>
          <a:prstGeom prst="rect">
            <a:avLst/>
          </a:prstGeom>
          <a:solidFill>
            <a:srgbClr val="7C3AED"/>
          </a:solidFill>
          <a:ln/>
        </p:spPr>
      </p:sp>
      <p:sp>
        <p:nvSpPr>
          <p:cNvPr id="63" name="Text 61"/>
          <p:cNvSpPr/>
          <p:nvPr/>
        </p:nvSpPr>
        <p:spPr>
          <a:xfrm>
            <a:off x="6199632" y="971006"/>
            <a:ext cx="2651760" cy="292608"/>
          </a:xfrm>
          <a:prstGeom prst="rect">
            <a:avLst/>
          </a:prstGeom>
          <a:noFill/>
          <a:ln/>
        </p:spPr>
        <p:txBody>
          <a:bodyPr wrap="square" rtlCol="0" anchor="ctr"/>
          <a:lstStyle/>
          <a:p>
            <a:pPr marL="0" indent="0">
              <a:buNone/>
            </a:pPr>
            <a:r>
              <a:rPr lang="en-US" sz="1200" b="1">
                <a:solidFill>
                  <a:srgbClr val="FFFFFF"/>
                </a:solidFill>
              </a:rPr>
              <a:t>Bảng PRODUCT</a:t>
            </a:r>
            <a:endParaRPr lang="en-US" sz="1200"/>
          </a:p>
        </p:txBody>
      </p:sp>
      <p:sp>
        <p:nvSpPr>
          <p:cNvPr id="64" name="Shape 62"/>
          <p:cNvSpPr/>
          <p:nvPr/>
        </p:nvSpPr>
        <p:spPr>
          <a:xfrm>
            <a:off x="6108192" y="1309334"/>
            <a:ext cx="2834640" cy="256032"/>
          </a:xfrm>
          <a:prstGeom prst="rect">
            <a:avLst/>
          </a:prstGeom>
          <a:solidFill>
            <a:srgbClr val="E2E8F0"/>
          </a:solidFill>
          <a:ln/>
        </p:spPr>
      </p:sp>
      <p:sp>
        <p:nvSpPr>
          <p:cNvPr id="65" name="Text 63"/>
          <p:cNvSpPr/>
          <p:nvPr/>
        </p:nvSpPr>
        <p:spPr>
          <a:xfrm>
            <a:off x="6153912" y="1327622"/>
            <a:ext cx="1005840" cy="219456"/>
          </a:xfrm>
          <a:prstGeom prst="rect">
            <a:avLst/>
          </a:prstGeom>
          <a:noFill/>
          <a:ln/>
        </p:spPr>
        <p:txBody>
          <a:bodyPr wrap="square" rtlCol="0" anchor="ctr"/>
          <a:lstStyle/>
          <a:p>
            <a:pPr marL="0" indent="0">
              <a:buNone/>
            </a:pPr>
            <a:r>
              <a:rPr lang="en-US" sz="1000" b="1">
                <a:solidFill>
                  <a:srgbClr val="1E293B"/>
                </a:solidFill>
              </a:rPr>
              <a:t>Trường</a:t>
            </a:r>
            <a:endParaRPr lang="en-US" sz="1000"/>
          </a:p>
        </p:txBody>
      </p:sp>
      <p:sp>
        <p:nvSpPr>
          <p:cNvPr id="66" name="Text 64"/>
          <p:cNvSpPr/>
          <p:nvPr/>
        </p:nvSpPr>
        <p:spPr>
          <a:xfrm>
            <a:off x="7114032" y="1327622"/>
            <a:ext cx="1005840" cy="219456"/>
          </a:xfrm>
          <a:prstGeom prst="rect">
            <a:avLst/>
          </a:prstGeom>
          <a:noFill/>
          <a:ln/>
        </p:spPr>
        <p:txBody>
          <a:bodyPr wrap="square" rtlCol="0" anchor="ctr"/>
          <a:lstStyle/>
          <a:p>
            <a:pPr marL="0" indent="0">
              <a:buNone/>
            </a:pPr>
            <a:r>
              <a:rPr lang="en-US" sz="1000" b="1">
                <a:solidFill>
                  <a:srgbClr val="1E293B"/>
                </a:solidFill>
              </a:rPr>
              <a:t>Kiểu</a:t>
            </a:r>
            <a:endParaRPr lang="en-US" sz="1000"/>
          </a:p>
        </p:txBody>
      </p:sp>
      <p:sp>
        <p:nvSpPr>
          <p:cNvPr id="67" name="Text 65"/>
          <p:cNvSpPr/>
          <p:nvPr/>
        </p:nvSpPr>
        <p:spPr>
          <a:xfrm>
            <a:off x="8028432" y="1327622"/>
            <a:ext cx="868680" cy="219456"/>
          </a:xfrm>
          <a:prstGeom prst="rect">
            <a:avLst/>
          </a:prstGeom>
          <a:noFill/>
          <a:ln/>
        </p:spPr>
        <p:txBody>
          <a:bodyPr wrap="square" rtlCol="0" anchor="ctr"/>
          <a:lstStyle/>
          <a:p>
            <a:pPr marL="0" indent="0">
              <a:buNone/>
            </a:pPr>
            <a:r>
              <a:rPr lang="en-US" sz="1000" b="1">
                <a:solidFill>
                  <a:srgbClr val="1E293B"/>
                </a:solidFill>
              </a:rPr>
              <a:t>Ghi chú</a:t>
            </a:r>
            <a:endParaRPr lang="en-US" sz="1000"/>
          </a:p>
        </p:txBody>
      </p:sp>
      <p:sp>
        <p:nvSpPr>
          <p:cNvPr id="68" name="Shape 66"/>
          <p:cNvSpPr/>
          <p:nvPr/>
        </p:nvSpPr>
        <p:spPr>
          <a:xfrm>
            <a:off x="6108192" y="1556222"/>
            <a:ext cx="2834640" cy="347472"/>
          </a:xfrm>
          <a:prstGeom prst="rect">
            <a:avLst/>
          </a:prstGeom>
          <a:solidFill>
            <a:srgbClr val="F8FAFC"/>
          </a:solidFill>
          <a:ln/>
        </p:spPr>
      </p:sp>
      <p:sp>
        <p:nvSpPr>
          <p:cNvPr id="69" name="Text 67"/>
          <p:cNvSpPr/>
          <p:nvPr/>
        </p:nvSpPr>
        <p:spPr>
          <a:xfrm>
            <a:off x="6153912" y="1583654"/>
            <a:ext cx="960120" cy="292608"/>
          </a:xfrm>
          <a:prstGeom prst="rect">
            <a:avLst/>
          </a:prstGeom>
          <a:noFill/>
          <a:ln/>
        </p:spPr>
        <p:txBody>
          <a:bodyPr wrap="square" rtlCol="0" anchor="ctr"/>
          <a:lstStyle/>
          <a:p>
            <a:pPr marL="0" indent="0">
              <a:buNone/>
            </a:pPr>
            <a:r>
              <a:rPr lang="en-US" sz="1000" b="1">
                <a:solidFill>
                  <a:srgbClr val="1E293B"/>
                </a:solidFill>
              </a:rPr>
              <a:t>id</a:t>
            </a:r>
            <a:endParaRPr lang="en-US" sz="1000"/>
          </a:p>
        </p:txBody>
      </p:sp>
      <p:sp>
        <p:nvSpPr>
          <p:cNvPr id="70" name="Text 68"/>
          <p:cNvSpPr/>
          <p:nvPr/>
        </p:nvSpPr>
        <p:spPr>
          <a:xfrm>
            <a:off x="7114032" y="1583654"/>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71" name="Text 69"/>
          <p:cNvSpPr/>
          <p:nvPr/>
        </p:nvSpPr>
        <p:spPr>
          <a:xfrm>
            <a:off x="8028432" y="1583654"/>
            <a:ext cx="868680" cy="292608"/>
          </a:xfrm>
          <a:prstGeom prst="rect">
            <a:avLst/>
          </a:prstGeom>
          <a:noFill/>
          <a:ln/>
        </p:spPr>
        <p:txBody>
          <a:bodyPr wrap="square" rtlCol="0" anchor="ctr"/>
          <a:lstStyle/>
          <a:p>
            <a:pPr marL="0" indent="0">
              <a:buNone/>
            </a:pPr>
            <a:r>
              <a:rPr lang="en-US" sz="950" b="1">
                <a:solidFill>
                  <a:srgbClr val="0D9488"/>
                </a:solidFill>
              </a:rPr>
              <a:t>PK</a:t>
            </a:r>
            <a:endParaRPr lang="en-US" sz="950"/>
          </a:p>
        </p:txBody>
      </p:sp>
      <p:sp>
        <p:nvSpPr>
          <p:cNvPr id="72" name="Text 70"/>
          <p:cNvSpPr/>
          <p:nvPr/>
        </p:nvSpPr>
        <p:spPr>
          <a:xfrm>
            <a:off x="6153912" y="1931126"/>
            <a:ext cx="960120" cy="292608"/>
          </a:xfrm>
          <a:prstGeom prst="rect">
            <a:avLst/>
          </a:prstGeom>
          <a:noFill/>
          <a:ln/>
        </p:spPr>
        <p:txBody>
          <a:bodyPr wrap="square" rtlCol="0" anchor="ctr"/>
          <a:lstStyle/>
          <a:p>
            <a:pPr marL="0" indent="0">
              <a:buNone/>
            </a:pPr>
            <a:r>
              <a:rPr lang="en-US" sz="1000" b="1" err="1">
                <a:solidFill>
                  <a:srgbClr val="1E293B"/>
                </a:solidFill>
              </a:rPr>
              <a:t>categoryid</a:t>
            </a:r>
            <a:endParaRPr lang="en-US" sz="1000"/>
          </a:p>
        </p:txBody>
      </p:sp>
      <p:sp>
        <p:nvSpPr>
          <p:cNvPr id="73" name="Text 71"/>
          <p:cNvSpPr/>
          <p:nvPr/>
        </p:nvSpPr>
        <p:spPr>
          <a:xfrm>
            <a:off x="7114032" y="1931126"/>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74" name="Text 72"/>
          <p:cNvSpPr/>
          <p:nvPr/>
        </p:nvSpPr>
        <p:spPr>
          <a:xfrm>
            <a:off x="8028432" y="1931126"/>
            <a:ext cx="868680" cy="292608"/>
          </a:xfrm>
          <a:prstGeom prst="rect">
            <a:avLst/>
          </a:prstGeom>
          <a:noFill/>
          <a:ln/>
        </p:spPr>
        <p:txBody>
          <a:bodyPr wrap="square" rtlCol="0" anchor="ctr"/>
          <a:lstStyle/>
          <a:p>
            <a:pPr marL="0" indent="0">
              <a:buNone/>
            </a:pPr>
            <a:r>
              <a:rPr lang="en-US" sz="950">
                <a:solidFill>
                  <a:srgbClr val="7C3AED"/>
                </a:solidFill>
              </a:rPr>
              <a:t>FK → Category</a:t>
            </a:r>
            <a:endParaRPr lang="en-US" sz="950"/>
          </a:p>
        </p:txBody>
      </p:sp>
      <p:sp>
        <p:nvSpPr>
          <p:cNvPr id="75" name="Shape 73"/>
          <p:cNvSpPr/>
          <p:nvPr/>
        </p:nvSpPr>
        <p:spPr>
          <a:xfrm>
            <a:off x="6108192" y="2251166"/>
            <a:ext cx="2834640" cy="347472"/>
          </a:xfrm>
          <a:prstGeom prst="rect">
            <a:avLst/>
          </a:prstGeom>
          <a:solidFill>
            <a:srgbClr val="F8FAFC"/>
          </a:solidFill>
          <a:ln/>
        </p:spPr>
      </p:sp>
      <p:sp>
        <p:nvSpPr>
          <p:cNvPr id="76" name="Text 74"/>
          <p:cNvSpPr/>
          <p:nvPr/>
        </p:nvSpPr>
        <p:spPr>
          <a:xfrm>
            <a:off x="6153912" y="2278598"/>
            <a:ext cx="960120" cy="292608"/>
          </a:xfrm>
          <a:prstGeom prst="rect">
            <a:avLst/>
          </a:prstGeom>
          <a:noFill/>
          <a:ln/>
        </p:spPr>
        <p:txBody>
          <a:bodyPr wrap="square" rtlCol="0" anchor="ctr"/>
          <a:lstStyle/>
          <a:p>
            <a:pPr marL="0" indent="0">
              <a:buNone/>
            </a:pPr>
            <a:r>
              <a:rPr lang="en-US" sz="1000" b="1">
                <a:solidFill>
                  <a:srgbClr val="1E293B"/>
                </a:solidFill>
              </a:rPr>
              <a:t>name</a:t>
            </a:r>
            <a:endParaRPr lang="en-US" sz="1000"/>
          </a:p>
        </p:txBody>
      </p:sp>
      <p:sp>
        <p:nvSpPr>
          <p:cNvPr id="77" name="Text 75"/>
          <p:cNvSpPr/>
          <p:nvPr/>
        </p:nvSpPr>
        <p:spPr>
          <a:xfrm>
            <a:off x="7114032" y="2278598"/>
            <a:ext cx="914400" cy="292608"/>
          </a:xfrm>
          <a:prstGeom prst="rect">
            <a:avLst/>
          </a:prstGeom>
          <a:noFill/>
          <a:ln/>
        </p:spPr>
        <p:txBody>
          <a:bodyPr wrap="square" rtlCol="0" anchor="ctr"/>
          <a:lstStyle/>
          <a:p>
            <a:pPr marL="0" indent="0">
              <a:buNone/>
            </a:pPr>
            <a:r>
              <a:rPr lang="en-US" sz="950">
                <a:solidFill>
                  <a:srgbClr val="64748B"/>
                </a:solidFill>
              </a:rPr>
              <a:t>Varchar(255)</a:t>
            </a:r>
            <a:endParaRPr lang="en-US" sz="950"/>
          </a:p>
        </p:txBody>
      </p:sp>
      <p:sp>
        <p:nvSpPr>
          <p:cNvPr id="78" name="Text 76"/>
          <p:cNvSpPr/>
          <p:nvPr/>
        </p:nvSpPr>
        <p:spPr>
          <a:xfrm>
            <a:off x="8028432" y="2278598"/>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79" name="Text 77"/>
          <p:cNvSpPr/>
          <p:nvPr/>
        </p:nvSpPr>
        <p:spPr>
          <a:xfrm>
            <a:off x="6153912" y="2626070"/>
            <a:ext cx="960120" cy="292608"/>
          </a:xfrm>
          <a:prstGeom prst="rect">
            <a:avLst/>
          </a:prstGeom>
          <a:noFill/>
          <a:ln/>
        </p:spPr>
        <p:txBody>
          <a:bodyPr wrap="square" rtlCol="0" anchor="ctr"/>
          <a:lstStyle/>
          <a:p>
            <a:pPr marL="0" indent="0">
              <a:buNone/>
            </a:pPr>
            <a:r>
              <a:rPr lang="en-US" sz="1000" b="1">
                <a:solidFill>
                  <a:srgbClr val="1E293B"/>
                </a:solidFill>
              </a:rPr>
              <a:t>price</a:t>
            </a:r>
            <a:endParaRPr lang="en-US" sz="1000"/>
          </a:p>
        </p:txBody>
      </p:sp>
      <p:sp>
        <p:nvSpPr>
          <p:cNvPr id="80" name="Text 78"/>
          <p:cNvSpPr/>
          <p:nvPr/>
        </p:nvSpPr>
        <p:spPr>
          <a:xfrm>
            <a:off x="7114032" y="2626070"/>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81" name="Text 79"/>
          <p:cNvSpPr/>
          <p:nvPr/>
        </p:nvSpPr>
        <p:spPr>
          <a:xfrm>
            <a:off x="8028432" y="2626070"/>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82" name="Shape 80"/>
          <p:cNvSpPr/>
          <p:nvPr/>
        </p:nvSpPr>
        <p:spPr>
          <a:xfrm>
            <a:off x="6108192" y="2946110"/>
            <a:ext cx="2834640" cy="347472"/>
          </a:xfrm>
          <a:prstGeom prst="rect">
            <a:avLst/>
          </a:prstGeom>
          <a:solidFill>
            <a:srgbClr val="F8FAFC"/>
          </a:solidFill>
          <a:ln/>
        </p:spPr>
      </p:sp>
      <p:sp>
        <p:nvSpPr>
          <p:cNvPr id="83" name="Text 81"/>
          <p:cNvSpPr/>
          <p:nvPr/>
        </p:nvSpPr>
        <p:spPr>
          <a:xfrm>
            <a:off x="6153912" y="2973542"/>
            <a:ext cx="960120" cy="292608"/>
          </a:xfrm>
          <a:prstGeom prst="rect">
            <a:avLst/>
          </a:prstGeom>
          <a:noFill/>
          <a:ln/>
        </p:spPr>
        <p:txBody>
          <a:bodyPr wrap="square" rtlCol="0" anchor="ctr"/>
          <a:lstStyle/>
          <a:p>
            <a:pPr marL="0" indent="0">
              <a:buNone/>
            </a:pPr>
            <a:r>
              <a:rPr lang="en-US" sz="1000" b="1">
                <a:solidFill>
                  <a:srgbClr val="1E293B"/>
                </a:solidFill>
              </a:rPr>
              <a:t>image</a:t>
            </a:r>
            <a:endParaRPr lang="en-US" sz="1000"/>
          </a:p>
        </p:txBody>
      </p:sp>
      <p:sp>
        <p:nvSpPr>
          <p:cNvPr id="84" name="Text 82"/>
          <p:cNvSpPr/>
          <p:nvPr/>
        </p:nvSpPr>
        <p:spPr>
          <a:xfrm>
            <a:off x="7114032" y="2973542"/>
            <a:ext cx="914400" cy="292608"/>
          </a:xfrm>
          <a:prstGeom prst="rect">
            <a:avLst/>
          </a:prstGeom>
          <a:noFill/>
          <a:ln/>
        </p:spPr>
        <p:txBody>
          <a:bodyPr wrap="square" rtlCol="0" anchor="ctr"/>
          <a:lstStyle/>
          <a:p>
            <a:pPr marL="0" indent="0">
              <a:buNone/>
            </a:pPr>
            <a:r>
              <a:rPr lang="en-US" sz="950">
                <a:solidFill>
                  <a:srgbClr val="64748B"/>
                </a:solidFill>
              </a:rPr>
              <a:t>Varchar(255)</a:t>
            </a:r>
            <a:endParaRPr lang="en-US" sz="950"/>
          </a:p>
        </p:txBody>
      </p:sp>
      <p:sp>
        <p:nvSpPr>
          <p:cNvPr id="85" name="Text 83"/>
          <p:cNvSpPr/>
          <p:nvPr/>
        </p:nvSpPr>
        <p:spPr>
          <a:xfrm>
            <a:off x="8028432" y="2973542"/>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86" name="Text 84"/>
          <p:cNvSpPr/>
          <p:nvPr/>
        </p:nvSpPr>
        <p:spPr>
          <a:xfrm>
            <a:off x="6153912" y="3321014"/>
            <a:ext cx="960120" cy="292608"/>
          </a:xfrm>
          <a:prstGeom prst="rect">
            <a:avLst/>
          </a:prstGeom>
          <a:noFill/>
          <a:ln/>
        </p:spPr>
        <p:txBody>
          <a:bodyPr wrap="square" rtlCol="0" anchor="ctr"/>
          <a:lstStyle/>
          <a:p>
            <a:pPr marL="0" indent="0">
              <a:buNone/>
            </a:pPr>
            <a:r>
              <a:rPr lang="en-US" sz="1000" b="1">
                <a:solidFill>
                  <a:srgbClr val="1E293B"/>
                </a:solidFill>
              </a:rPr>
              <a:t>size / weight</a:t>
            </a:r>
            <a:endParaRPr lang="en-US" sz="1000"/>
          </a:p>
        </p:txBody>
      </p:sp>
      <p:sp>
        <p:nvSpPr>
          <p:cNvPr id="87" name="Text 85"/>
          <p:cNvSpPr/>
          <p:nvPr/>
        </p:nvSpPr>
        <p:spPr>
          <a:xfrm>
            <a:off x="7114032" y="3321014"/>
            <a:ext cx="914400" cy="292608"/>
          </a:xfrm>
          <a:prstGeom prst="rect">
            <a:avLst/>
          </a:prstGeom>
          <a:noFill/>
          <a:ln/>
        </p:spPr>
        <p:txBody>
          <a:bodyPr wrap="square" rtlCol="0" anchor="ctr"/>
          <a:lstStyle/>
          <a:p>
            <a:pPr marL="0" indent="0">
              <a:buNone/>
            </a:pPr>
            <a:r>
              <a:rPr lang="en-US" sz="950">
                <a:solidFill>
                  <a:srgbClr val="64748B"/>
                </a:solidFill>
              </a:rPr>
              <a:t>Varchar(255)</a:t>
            </a:r>
            <a:endParaRPr lang="en-US" sz="950"/>
          </a:p>
        </p:txBody>
      </p:sp>
      <p:sp>
        <p:nvSpPr>
          <p:cNvPr id="88" name="Text 86"/>
          <p:cNvSpPr/>
          <p:nvPr/>
        </p:nvSpPr>
        <p:spPr>
          <a:xfrm>
            <a:off x="8028432" y="3321014"/>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89" name="Shape 52">
            <a:extLst>
              <a:ext uri="{FF2B5EF4-FFF2-40B4-BE49-F238E27FC236}">
                <a16:creationId xmlns:a16="http://schemas.microsoft.com/office/drawing/2014/main" id="{36D9A420-26E9-2004-DAA1-29EEA8F0BC25}"/>
              </a:ext>
            </a:extLst>
          </p:cNvPr>
          <p:cNvSpPr/>
          <p:nvPr/>
        </p:nvSpPr>
        <p:spPr>
          <a:xfrm>
            <a:off x="201168" y="3672622"/>
            <a:ext cx="2834640" cy="347472"/>
          </a:xfrm>
          <a:prstGeom prst="rect">
            <a:avLst/>
          </a:prstGeom>
          <a:solidFill>
            <a:srgbClr val="F8FAFC"/>
          </a:solidFill>
          <a:ln/>
        </p:spPr>
      </p:sp>
      <p:sp>
        <p:nvSpPr>
          <p:cNvPr id="90" name="Text 53">
            <a:extLst>
              <a:ext uri="{FF2B5EF4-FFF2-40B4-BE49-F238E27FC236}">
                <a16:creationId xmlns:a16="http://schemas.microsoft.com/office/drawing/2014/main" id="{531475CC-ABBD-DF67-0BA5-EE8411567D04}"/>
              </a:ext>
            </a:extLst>
          </p:cNvPr>
          <p:cNvSpPr/>
          <p:nvPr/>
        </p:nvSpPr>
        <p:spPr>
          <a:xfrm>
            <a:off x="245582" y="3683726"/>
            <a:ext cx="960120" cy="292608"/>
          </a:xfrm>
          <a:prstGeom prst="rect">
            <a:avLst/>
          </a:prstGeom>
          <a:noFill/>
          <a:ln/>
        </p:spPr>
        <p:txBody>
          <a:bodyPr wrap="square" rtlCol="0" anchor="ctr"/>
          <a:lstStyle/>
          <a:p>
            <a:pPr marL="0" indent="0">
              <a:buNone/>
            </a:pPr>
            <a:r>
              <a:rPr lang="en-US" sz="1000" b="1" err="1">
                <a:solidFill>
                  <a:srgbClr val="1E293B"/>
                </a:solidFill>
              </a:rPr>
              <a:t>create_date</a:t>
            </a:r>
            <a:endParaRPr lang="en-US" sz="1000"/>
          </a:p>
        </p:txBody>
      </p:sp>
      <p:sp>
        <p:nvSpPr>
          <p:cNvPr id="91" name="Text 54">
            <a:extLst>
              <a:ext uri="{FF2B5EF4-FFF2-40B4-BE49-F238E27FC236}">
                <a16:creationId xmlns:a16="http://schemas.microsoft.com/office/drawing/2014/main" id="{02A956B3-C885-27EB-D68F-32E109FE1EB7}"/>
              </a:ext>
            </a:extLst>
          </p:cNvPr>
          <p:cNvSpPr/>
          <p:nvPr/>
        </p:nvSpPr>
        <p:spPr>
          <a:xfrm>
            <a:off x="1207008" y="3683726"/>
            <a:ext cx="914400" cy="292608"/>
          </a:xfrm>
          <a:prstGeom prst="rect">
            <a:avLst/>
          </a:prstGeom>
          <a:noFill/>
          <a:ln/>
        </p:spPr>
        <p:txBody>
          <a:bodyPr wrap="square" rtlCol="0" anchor="ctr"/>
          <a:lstStyle/>
          <a:p>
            <a:pPr marL="0" indent="0">
              <a:buNone/>
            </a:pPr>
            <a:r>
              <a:rPr lang="en-US" sz="950">
                <a:solidFill>
                  <a:srgbClr val="64748B"/>
                </a:solidFill>
              </a:rPr>
              <a:t>Datetime</a:t>
            </a:r>
            <a:endParaRPr lang="en-US" sz="950"/>
          </a:p>
        </p:txBody>
      </p:sp>
      <p:sp>
        <p:nvSpPr>
          <p:cNvPr id="92" name="Text 55">
            <a:extLst>
              <a:ext uri="{FF2B5EF4-FFF2-40B4-BE49-F238E27FC236}">
                <a16:creationId xmlns:a16="http://schemas.microsoft.com/office/drawing/2014/main" id="{8C3982AA-67AD-CF52-D957-25DB3DD79EA7}"/>
              </a:ext>
            </a:extLst>
          </p:cNvPr>
          <p:cNvSpPr/>
          <p:nvPr/>
        </p:nvSpPr>
        <p:spPr>
          <a:xfrm>
            <a:off x="2120102" y="3721608"/>
            <a:ext cx="868680" cy="292608"/>
          </a:xfrm>
          <a:prstGeom prst="rect">
            <a:avLst/>
          </a:prstGeom>
          <a:noFill/>
          <a:ln/>
        </p:spPr>
        <p:txBody>
          <a:bodyPr wrap="square" rtlCol="0" anchor="ctr"/>
          <a:lstStyle/>
          <a:p>
            <a:pPr marL="0" indent="0">
              <a:buNone/>
            </a:pPr>
            <a:r>
              <a:rPr lang="en-US" sz="950">
                <a:solidFill>
                  <a:srgbClr val="64748B"/>
                </a:solidFill>
              </a:rPr>
              <a:t>Default null</a:t>
            </a:r>
            <a:endParaRPr lang="en-US" sz="950"/>
          </a:p>
        </p:txBody>
      </p:sp>
      <p:sp>
        <p:nvSpPr>
          <p:cNvPr id="93" name="Text 56">
            <a:extLst>
              <a:ext uri="{FF2B5EF4-FFF2-40B4-BE49-F238E27FC236}">
                <a16:creationId xmlns:a16="http://schemas.microsoft.com/office/drawing/2014/main" id="{B1C63294-0CF9-E856-1F4D-8C7D19F4D4CA}"/>
              </a:ext>
            </a:extLst>
          </p:cNvPr>
          <p:cNvSpPr/>
          <p:nvPr/>
        </p:nvSpPr>
        <p:spPr>
          <a:xfrm>
            <a:off x="246888" y="3991356"/>
            <a:ext cx="960120" cy="292608"/>
          </a:xfrm>
          <a:prstGeom prst="rect">
            <a:avLst/>
          </a:prstGeom>
          <a:noFill/>
          <a:ln/>
        </p:spPr>
        <p:txBody>
          <a:bodyPr wrap="square" rtlCol="0" anchor="ctr"/>
          <a:lstStyle/>
          <a:p>
            <a:pPr marL="0" indent="0">
              <a:buNone/>
            </a:pPr>
            <a:r>
              <a:rPr lang="en-US" sz="1000" b="1" err="1">
                <a:solidFill>
                  <a:srgbClr val="1E293B"/>
                </a:solidFill>
              </a:rPr>
              <a:t>update_date</a:t>
            </a:r>
            <a:endParaRPr lang="en-US" sz="1000"/>
          </a:p>
        </p:txBody>
      </p:sp>
      <p:sp>
        <p:nvSpPr>
          <p:cNvPr id="94" name="Text 54">
            <a:extLst>
              <a:ext uri="{FF2B5EF4-FFF2-40B4-BE49-F238E27FC236}">
                <a16:creationId xmlns:a16="http://schemas.microsoft.com/office/drawing/2014/main" id="{3BC72CDF-4091-1F3F-3A27-11E9AC2DB21F}"/>
              </a:ext>
            </a:extLst>
          </p:cNvPr>
          <p:cNvSpPr/>
          <p:nvPr/>
        </p:nvSpPr>
        <p:spPr>
          <a:xfrm>
            <a:off x="1205702" y="4020094"/>
            <a:ext cx="914400" cy="292608"/>
          </a:xfrm>
          <a:prstGeom prst="rect">
            <a:avLst/>
          </a:prstGeom>
          <a:noFill/>
          <a:ln/>
        </p:spPr>
        <p:txBody>
          <a:bodyPr wrap="square" rtlCol="0" anchor="ctr"/>
          <a:lstStyle/>
          <a:p>
            <a:pPr marL="0" indent="0">
              <a:buNone/>
            </a:pPr>
            <a:r>
              <a:rPr lang="en-US" sz="950">
                <a:solidFill>
                  <a:srgbClr val="64748B"/>
                </a:solidFill>
              </a:rPr>
              <a:t>Datetime</a:t>
            </a:r>
            <a:endParaRPr lang="en-US" sz="950"/>
          </a:p>
        </p:txBody>
      </p:sp>
      <p:sp>
        <p:nvSpPr>
          <p:cNvPr id="96" name="Text 55">
            <a:extLst>
              <a:ext uri="{FF2B5EF4-FFF2-40B4-BE49-F238E27FC236}">
                <a16:creationId xmlns:a16="http://schemas.microsoft.com/office/drawing/2014/main" id="{7F1738DA-C4BD-C941-7866-2E7786F46A3C}"/>
              </a:ext>
            </a:extLst>
          </p:cNvPr>
          <p:cNvSpPr/>
          <p:nvPr/>
        </p:nvSpPr>
        <p:spPr>
          <a:xfrm>
            <a:off x="2121408" y="4006596"/>
            <a:ext cx="868680" cy="292608"/>
          </a:xfrm>
          <a:prstGeom prst="rect">
            <a:avLst/>
          </a:prstGeom>
          <a:noFill/>
          <a:ln/>
        </p:spPr>
        <p:txBody>
          <a:bodyPr wrap="square" rtlCol="0" anchor="ctr"/>
          <a:lstStyle/>
          <a:p>
            <a:pPr marL="0" indent="0">
              <a:buNone/>
            </a:pPr>
            <a:r>
              <a:rPr lang="en-US" sz="950">
                <a:solidFill>
                  <a:srgbClr val="64748B"/>
                </a:solidFill>
              </a:rPr>
              <a:t>Default null</a:t>
            </a:r>
            <a:endParaRPr lang="en-US" sz="950"/>
          </a:p>
        </p:txBody>
      </p:sp>
      <p:sp>
        <p:nvSpPr>
          <p:cNvPr id="97" name="Text 49">
            <a:extLst>
              <a:ext uri="{FF2B5EF4-FFF2-40B4-BE49-F238E27FC236}">
                <a16:creationId xmlns:a16="http://schemas.microsoft.com/office/drawing/2014/main" id="{CC85F1B0-3C3D-B507-56C7-F8410BB263CB}"/>
              </a:ext>
            </a:extLst>
          </p:cNvPr>
          <p:cNvSpPr/>
          <p:nvPr/>
        </p:nvSpPr>
        <p:spPr>
          <a:xfrm>
            <a:off x="245582" y="4332732"/>
            <a:ext cx="960120" cy="292608"/>
          </a:xfrm>
          <a:prstGeom prst="rect">
            <a:avLst/>
          </a:prstGeom>
          <a:noFill/>
          <a:ln/>
        </p:spPr>
        <p:txBody>
          <a:bodyPr wrap="square" rtlCol="0" anchor="ctr"/>
          <a:lstStyle/>
          <a:p>
            <a:pPr marL="0" indent="0">
              <a:buNone/>
            </a:pPr>
            <a:r>
              <a:rPr lang="en-US" sz="1000" b="1">
                <a:solidFill>
                  <a:srgbClr val="1E293B"/>
                </a:solidFill>
              </a:rPr>
              <a:t>Active_flg</a:t>
            </a:r>
            <a:endParaRPr lang="en-US" sz="1000"/>
          </a:p>
        </p:txBody>
      </p:sp>
      <p:sp>
        <p:nvSpPr>
          <p:cNvPr id="98" name="Shape 45">
            <a:extLst>
              <a:ext uri="{FF2B5EF4-FFF2-40B4-BE49-F238E27FC236}">
                <a16:creationId xmlns:a16="http://schemas.microsoft.com/office/drawing/2014/main" id="{6DA80034-D52A-425C-B087-ADD3C42FA26A}"/>
              </a:ext>
            </a:extLst>
          </p:cNvPr>
          <p:cNvSpPr/>
          <p:nvPr/>
        </p:nvSpPr>
        <p:spPr>
          <a:xfrm>
            <a:off x="201168" y="4277868"/>
            <a:ext cx="2834640" cy="347472"/>
          </a:xfrm>
          <a:prstGeom prst="rect">
            <a:avLst/>
          </a:prstGeom>
          <a:solidFill>
            <a:srgbClr val="F8FAFC"/>
          </a:solidFill>
          <a:ln/>
        </p:spPr>
        <p:txBody>
          <a:bodyPr/>
          <a:lstStyle/>
          <a:p>
            <a:endParaRPr lang="en-US"/>
          </a:p>
        </p:txBody>
      </p:sp>
      <p:sp>
        <p:nvSpPr>
          <p:cNvPr id="99" name="Text 53">
            <a:extLst>
              <a:ext uri="{FF2B5EF4-FFF2-40B4-BE49-F238E27FC236}">
                <a16:creationId xmlns:a16="http://schemas.microsoft.com/office/drawing/2014/main" id="{E9EAB4BD-6EED-54A9-067E-A3354607868A}"/>
              </a:ext>
            </a:extLst>
          </p:cNvPr>
          <p:cNvSpPr/>
          <p:nvPr/>
        </p:nvSpPr>
        <p:spPr>
          <a:xfrm>
            <a:off x="245582" y="4312702"/>
            <a:ext cx="960120" cy="292608"/>
          </a:xfrm>
          <a:prstGeom prst="rect">
            <a:avLst/>
          </a:prstGeom>
          <a:noFill/>
          <a:ln/>
        </p:spPr>
        <p:txBody>
          <a:bodyPr wrap="square" rtlCol="0" anchor="ctr"/>
          <a:lstStyle/>
          <a:p>
            <a:pPr marL="0" indent="0">
              <a:buNone/>
            </a:pPr>
            <a:r>
              <a:rPr lang="en-US" sz="1000" b="1" err="1">
                <a:solidFill>
                  <a:srgbClr val="1E293B"/>
                </a:solidFill>
              </a:rPr>
              <a:t>active_flg</a:t>
            </a:r>
            <a:endParaRPr lang="en-US" sz="1000"/>
          </a:p>
        </p:txBody>
      </p:sp>
      <p:sp>
        <p:nvSpPr>
          <p:cNvPr id="100" name="Text 12">
            <a:extLst>
              <a:ext uri="{FF2B5EF4-FFF2-40B4-BE49-F238E27FC236}">
                <a16:creationId xmlns:a16="http://schemas.microsoft.com/office/drawing/2014/main" id="{6DE7859F-9788-02F1-F9D3-766819548468}"/>
              </a:ext>
            </a:extLst>
          </p:cNvPr>
          <p:cNvSpPr/>
          <p:nvPr/>
        </p:nvSpPr>
        <p:spPr>
          <a:xfrm>
            <a:off x="1207008" y="4312702"/>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101" name="Text 27">
            <a:extLst>
              <a:ext uri="{FF2B5EF4-FFF2-40B4-BE49-F238E27FC236}">
                <a16:creationId xmlns:a16="http://schemas.microsoft.com/office/drawing/2014/main" id="{646A539F-3C07-2ED0-6E8F-6279F7E0D1A2}"/>
              </a:ext>
            </a:extLst>
          </p:cNvPr>
          <p:cNvSpPr/>
          <p:nvPr/>
        </p:nvSpPr>
        <p:spPr>
          <a:xfrm>
            <a:off x="2121408" y="4283964"/>
            <a:ext cx="868680" cy="292608"/>
          </a:xfrm>
          <a:prstGeom prst="rect">
            <a:avLst/>
          </a:prstGeom>
          <a:noFill/>
          <a:ln/>
        </p:spPr>
        <p:txBody>
          <a:bodyPr wrap="square" rtlCol="0" anchor="ctr"/>
          <a:lstStyle/>
          <a:p>
            <a:pPr marL="0" indent="0">
              <a:buNone/>
            </a:pPr>
            <a:r>
              <a:rPr lang="en-US" sz="950">
                <a:solidFill>
                  <a:srgbClr val="64748B"/>
                </a:solidFill>
              </a:rPr>
              <a:t>Default 1</a:t>
            </a:r>
            <a:endParaRPr lang="en-US" sz="950"/>
          </a:p>
        </p:txBody>
      </p:sp>
      <p:sp>
        <p:nvSpPr>
          <p:cNvPr id="103" name="Text 56">
            <a:extLst>
              <a:ext uri="{FF2B5EF4-FFF2-40B4-BE49-F238E27FC236}">
                <a16:creationId xmlns:a16="http://schemas.microsoft.com/office/drawing/2014/main" id="{02032193-ADD7-79CD-B62A-57C271576622}"/>
              </a:ext>
            </a:extLst>
          </p:cNvPr>
          <p:cNvSpPr/>
          <p:nvPr/>
        </p:nvSpPr>
        <p:spPr>
          <a:xfrm>
            <a:off x="245582" y="4547616"/>
            <a:ext cx="960120" cy="292608"/>
          </a:xfrm>
          <a:prstGeom prst="rect">
            <a:avLst/>
          </a:prstGeom>
          <a:noFill/>
          <a:ln/>
        </p:spPr>
        <p:txBody>
          <a:bodyPr wrap="square" rtlCol="0" anchor="ctr"/>
          <a:lstStyle/>
          <a:p>
            <a:pPr marL="0" indent="0">
              <a:buNone/>
            </a:pPr>
            <a:r>
              <a:rPr lang="en-US" sz="1000" b="1">
                <a:solidFill>
                  <a:srgbClr val="1E293B"/>
                </a:solidFill>
              </a:rPr>
              <a:t>status</a:t>
            </a:r>
            <a:endParaRPr lang="en-US" sz="1000"/>
          </a:p>
        </p:txBody>
      </p:sp>
      <p:sp>
        <p:nvSpPr>
          <p:cNvPr id="105" name="Text 12">
            <a:extLst>
              <a:ext uri="{FF2B5EF4-FFF2-40B4-BE49-F238E27FC236}">
                <a16:creationId xmlns:a16="http://schemas.microsoft.com/office/drawing/2014/main" id="{3F7F3E15-C11A-97F8-7BD4-6088FC0F2CD6}"/>
              </a:ext>
            </a:extLst>
          </p:cNvPr>
          <p:cNvSpPr/>
          <p:nvPr/>
        </p:nvSpPr>
        <p:spPr>
          <a:xfrm>
            <a:off x="1205702" y="4568734"/>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107" name="Text 27">
            <a:extLst>
              <a:ext uri="{FF2B5EF4-FFF2-40B4-BE49-F238E27FC236}">
                <a16:creationId xmlns:a16="http://schemas.microsoft.com/office/drawing/2014/main" id="{79987192-309F-E32B-35F2-187F8B2BBF0B}"/>
              </a:ext>
            </a:extLst>
          </p:cNvPr>
          <p:cNvSpPr/>
          <p:nvPr/>
        </p:nvSpPr>
        <p:spPr>
          <a:xfrm>
            <a:off x="2121408" y="4582668"/>
            <a:ext cx="868680" cy="292608"/>
          </a:xfrm>
          <a:prstGeom prst="rect">
            <a:avLst/>
          </a:prstGeom>
          <a:noFill/>
          <a:ln/>
        </p:spPr>
        <p:txBody>
          <a:bodyPr wrap="square" rtlCol="0" anchor="ctr"/>
          <a:lstStyle/>
          <a:p>
            <a:pPr marL="0" indent="0">
              <a:buNone/>
            </a:pPr>
            <a:r>
              <a:rPr lang="en-US" sz="950">
                <a:solidFill>
                  <a:srgbClr val="64748B"/>
                </a:solidFill>
              </a:rPr>
              <a:t>Default 1</a:t>
            </a:r>
            <a:endParaRPr lang="en-US" sz="950"/>
          </a:p>
        </p:txBody>
      </p:sp>
      <p:sp>
        <p:nvSpPr>
          <p:cNvPr id="112" name="Text 12">
            <a:extLst>
              <a:ext uri="{FF2B5EF4-FFF2-40B4-BE49-F238E27FC236}">
                <a16:creationId xmlns:a16="http://schemas.microsoft.com/office/drawing/2014/main" id="{9F6F8959-1C18-FDDB-0E53-B6C642AE7A50}"/>
              </a:ext>
            </a:extLst>
          </p:cNvPr>
          <p:cNvSpPr/>
          <p:nvPr/>
        </p:nvSpPr>
        <p:spPr>
          <a:xfrm>
            <a:off x="4178808" y="3092958"/>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113" name="Text 27">
            <a:extLst>
              <a:ext uri="{FF2B5EF4-FFF2-40B4-BE49-F238E27FC236}">
                <a16:creationId xmlns:a16="http://schemas.microsoft.com/office/drawing/2014/main" id="{C8D67DD4-C71A-121B-F3A9-CA453813AD6E}"/>
              </a:ext>
            </a:extLst>
          </p:cNvPr>
          <p:cNvSpPr/>
          <p:nvPr/>
        </p:nvSpPr>
        <p:spPr>
          <a:xfrm>
            <a:off x="5093208" y="3099816"/>
            <a:ext cx="868680" cy="292608"/>
          </a:xfrm>
          <a:prstGeom prst="rect">
            <a:avLst/>
          </a:prstGeom>
          <a:noFill/>
          <a:ln/>
        </p:spPr>
        <p:txBody>
          <a:bodyPr wrap="square" rtlCol="0" anchor="ctr"/>
          <a:lstStyle/>
          <a:p>
            <a:pPr marL="0" indent="0">
              <a:buNone/>
            </a:pPr>
            <a:r>
              <a:rPr lang="en-US" sz="950">
                <a:solidFill>
                  <a:srgbClr val="64748B"/>
                </a:solidFill>
              </a:rPr>
              <a:t>Default 1</a:t>
            </a:r>
            <a:endParaRPr lang="en-US" sz="950"/>
          </a:p>
        </p:txBody>
      </p:sp>
      <p:sp>
        <p:nvSpPr>
          <p:cNvPr id="114" name="Shape 45">
            <a:extLst>
              <a:ext uri="{FF2B5EF4-FFF2-40B4-BE49-F238E27FC236}">
                <a16:creationId xmlns:a16="http://schemas.microsoft.com/office/drawing/2014/main" id="{6C8531A0-27AF-D3DC-D1BD-19127D4A6372}"/>
              </a:ext>
            </a:extLst>
          </p:cNvPr>
          <p:cNvSpPr/>
          <p:nvPr/>
        </p:nvSpPr>
        <p:spPr>
          <a:xfrm>
            <a:off x="6108192" y="3613622"/>
            <a:ext cx="2834640" cy="347472"/>
          </a:xfrm>
          <a:prstGeom prst="rect">
            <a:avLst/>
          </a:prstGeom>
          <a:solidFill>
            <a:srgbClr val="F8FAFC"/>
          </a:solidFill>
          <a:ln/>
        </p:spPr>
      </p:sp>
      <p:sp>
        <p:nvSpPr>
          <p:cNvPr id="116" name="Text 46">
            <a:extLst>
              <a:ext uri="{FF2B5EF4-FFF2-40B4-BE49-F238E27FC236}">
                <a16:creationId xmlns:a16="http://schemas.microsoft.com/office/drawing/2014/main" id="{71076187-7C64-8445-C755-F5A52773D4DD}"/>
              </a:ext>
            </a:extLst>
          </p:cNvPr>
          <p:cNvSpPr/>
          <p:nvPr/>
        </p:nvSpPr>
        <p:spPr>
          <a:xfrm>
            <a:off x="6153912" y="3697660"/>
            <a:ext cx="960120" cy="292608"/>
          </a:xfrm>
          <a:prstGeom prst="rect">
            <a:avLst/>
          </a:prstGeom>
          <a:noFill/>
          <a:ln/>
        </p:spPr>
        <p:txBody>
          <a:bodyPr wrap="square" rtlCol="0" anchor="ctr"/>
          <a:lstStyle/>
          <a:p>
            <a:pPr marL="0" indent="0">
              <a:buNone/>
            </a:pPr>
            <a:r>
              <a:rPr lang="en-US" sz="1000" b="1">
                <a:solidFill>
                  <a:srgbClr val="1E293B"/>
                </a:solidFill>
              </a:rPr>
              <a:t>description</a:t>
            </a:r>
            <a:endParaRPr lang="en-US" sz="1000"/>
          </a:p>
        </p:txBody>
      </p:sp>
      <p:sp>
        <p:nvSpPr>
          <p:cNvPr id="117" name="Text 47">
            <a:extLst>
              <a:ext uri="{FF2B5EF4-FFF2-40B4-BE49-F238E27FC236}">
                <a16:creationId xmlns:a16="http://schemas.microsoft.com/office/drawing/2014/main" id="{450E528C-96A1-30DE-4D53-C62F9C7D0F69}"/>
              </a:ext>
            </a:extLst>
          </p:cNvPr>
          <p:cNvSpPr/>
          <p:nvPr/>
        </p:nvSpPr>
        <p:spPr>
          <a:xfrm>
            <a:off x="7114032" y="3653028"/>
            <a:ext cx="914400" cy="292608"/>
          </a:xfrm>
          <a:prstGeom prst="rect">
            <a:avLst/>
          </a:prstGeom>
          <a:noFill/>
          <a:ln/>
        </p:spPr>
        <p:txBody>
          <a:bodyPr wrap="square" rtlCol="0" anchor="ctr"/>
          <a:lstStyle/>
          <a:p>
            <a:pPr marL="0" indent="0">
              <a:buNone/>
            </a:pPr>
            <a:r>
              <a:rPr lang="en-US" sz="950">
                <a:solidFill>
                  <a:srgbClr val="64748B"/>
                </a:solidFill>
              </a:rPr>
              <a:t>Varchar(255)</a:t>
            </a:r>
            <a:endParaRPr lang="en-US" sz="950"/>
          </a:p>
        </p:txBody>
      </p:sp>
      <p:sp>
        <p:nvSpPr>
          <p:cNvPr id="118" name="Text 48">
            <a:extLst>
              <a:ext uri="{FF2B5EF4-FFF2-40B4-BE49-F238E27FC236}">
                <a16:creationId xmlns:a16="http://schemas.microsoft.com/office/drawing/2014/main" id="{5CF502B4-6614-7C73-E1DE-97F2FF6D5852}"/>
              </a:ext>
            </a:extLst>
          </p:cNvPr>
          <p:cNvSpPr/>
          <p:nvPr/>
        </p:nvSpPr>
        <p:spPr>
          <a:xfrm>
            <a:off x="8028432" y="3624290"/>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119" name="Text 53">
            <a:extLst>
              <a:ext uri="{FF2B5EF4-FFF2-40B4-BE49-F238E27FC236}">
                <a16:creationId xmlns:a16="http://schemas.microsoft.com/office/drawing/2014/main" id="{99C78409-8B69-65C7-128A-C69F7009D50C}"/>
              </a:ext>
            </a:extLst>
          </p:cNvPr>
          <p:cNvSpPr/>
          <p:nvPr/>
        </p:nvSpPr>
        <p:spPr>
          <a:xfrm>
            <a:off x="3264408" y="3092958"/>
            <a:ext cx="960120" cy="292608"/>
          </a:xfrm>
          <a:prstGeom prst="rect">
            <a:avLst/>
          </a:prstGeom>
          <a:noFill/>
          <a:ln/>
        </p:spPr>
        <p:txBody>
          <a:bodyPr wrap="square" rtlCol="0" anchor="ctr"/>
          <a:lstStyle/>
          <a:p>
            <a:pPr marL="0" indent="0">
              <a:buNone/>
            </a:pPr>
            <a:r>
              <a:rPr lang="en-US" sz="1000" b="1">
                <a:solidFill>
                  <a:srgbClr val="1E293B"/>
                </a:solidFill>
              </a:rPr>
              <a:t>status</a:t>
            </a:r>
            <a:endParaRPr lang="en-US" sz="1000"/>
          </a:p>
        </p:txBody>
      </p:sp>
      <p:sp>
        <p:nvSpPr>
          <p:cNvPr id="120" name="Shape 45">
            <a:extLst>
              <a:ext uri="{FF2B5EF4-FFF2-40B4-BE49-F238E27FC236}">
                <a16:creationId xmlns:a16="http://schemas.microsoft.com/office/drawing/2014/main" id="{ADAC43ED-D47F-0385-7977-58B3C7857D94}"/>
              </a:ext>
            </a:extLst>
          </p:cNvPr>
          <p:cNvSpPr/>
          <p:nvPr/>
        </p:nvSpPr>
        <p:spPr>
          <a:xfrm>
            <a:off x="6108192" y="4290278"/>
            <a:ext cx="2834640" cy="347472"/>
          </a:xfrm>
          <a:prstGeom prst="rect">
            <a:avLst/>
          </a:prstGeom>
          <a:solidFill>
            <a:srgbClr val="F8FAFC"/>
          </a:solidFill>
          <a:ln/>
        </p:spPr>
      </p:sp>
      <p:sp>
        <p:nvSpPr>
          <p:cNvPr id="121" name="Text 53">
            <a:extLst>
              <a:ext uri="{FF2B5EF4-FFF2-40B4-BE49-F238E27FC236}">
                <a16:creationId xmlns:a16="http://schemas.microsoft.com/office/drawing/2014/main" id="{55DD1F50-6DFC-A7AA-D6E9-8F1581479F4E}"/>
              </a:ext>
            </a:extLst>
          </p:cNvPr>
          <p:cNvSpPr/>
          <p:nvPr/>
        </p:nvSpPr>
        <p:spPr>
          <a:xfrm>
            <a:off x="6153912" y="4299422"/>
            <a:ext cx="960120" cy="292608"/>
          </a:xfrm>
          <a:prstGeom prst="rect">
            <a:avLst/>
          </a:prstGeom>
          <a:noFill/>
          <a:ln/>
        </p:spPr>
        <p:txBody>
          <a:bodyPr wrap="square" rtlCol="0" anchor="ctr"/>
          <a:lstStyle/>
          <a:p>
            <a:pPr marL="0" indent="0">
              <a:buNone/>
            </a:pPr>
            <a:r>
              <a:rPr lang="en-US" sz="1000" b="1" err="1">
                <a:solidFill>
                  <a:srgbClr val="1E293B"/>
                </a:solidFill>
              </a:rPr>
              <a:t>update_date</a:t>
            </a:r>
            <a:endParaRPr lang="en-US" sz="1000"/>
          </a:p>
        </p:txBody>
      </p:sp>
      <p:sp>
        <p:nvSpPr>
          <p:cNvPr id="122" name="Text 54">
            <a:extLst>
              <a:ext uri="{FF2B5EF4-FFF2-40B4-BE49-F238E27FC236}">
                <a16:creationId xmlns:a16="http://schemas.microsoft.com/office/drawing/2014/main" id="{43C11B1B-0ED1-63FE-1B1A-73BE4E774169}"/>
              </a:ext>
            </a:extLst>
          </p:cNvPr>
          <p:cNvSpPr/>
          <p:nvPr/>
        </p:nvSpPr>
        <p:spPr>
          <a:xfrm>
            <a:off x="7114032" y="4283964"/>
            <a:ext cx="914400" cy="292608"/>
          </a:xfrm>
          <a:prstGeom prst="rect">
            <a:avLst/>
          </a:prstGeom>
          <a:noFill/>
          <a:ln/>
        </p:spPr>
        <p:txBody>
          <a:bodyPr wrap="square" rtlCol="0" anchor="ctr"/>
          <a:lstStyle/>
          <a:p>
            <a:pPr marL="0" indent="0">
              <a:buNone/>
            </a:pPr>
            <a:r>
              <a:rPr lang="en-US" sz="950">
                <a:solidFill>
                  <a:srgbClr val="64748B"/>
                </a:solidFill>
              </a:rPr>
              <a:t>Datetime</a:t>
            </a:r>
            <a:endParaRPr lang="en-US" sz="950"/>
          </a:p>
        </p:txBody>
      </p:sp>
      <p:sp>
        <p:nvSpPr>
          <p:cNvPr id="123" name="Text 55">
            <a:extLst>
              <a:ext uri="{FF2B5EF4-FFF2-40B4-BE49-F238E27FC236}">
                <a16:creationId xmlns:a16="http://schemas.microsoft.com/office/drawing/2014/main" id="{7D7ABDE2-B005-B11B-A102-3A26CD7160EB}"/>
              </a:ext>
            </a:extLst>
          </p:cNvPr>
          <p:cNvSpPr/>
          <p:nvPr/>
        </p:nvSpPr>
        <p:spPr>
          <a:xfrm>
            <a:off x="8028432" y="4294052"/>
            <a:ext cx="868680" cy="292608"/>
          </a:xfrm>
          <a:prstGeom prst="rect">
            <a:avLst/>
          </a:prstGeom>
          <a:noFill/>
          <a:ln/>
        </p:spPr>
        <p:txBody>
          <a:bodyPr wrap="square" rtlCol="0" anchor="ctr"/>
          <a:lstStyle/>
          <a:p>
            <a:pPr marL="0" indent="0">
              <a:buNone/>
            </a:pPr>
            <a:r>
              <a:rPr lang="en-US" sz="950">
                <a:solidFill>
                  <a:srgbClr val="64748B"/>
                </a:solidFill>
              </a:rPr>
              <a:t>Default null</a:t>
            </a:r>
            <a:endParaRPr lang="en-US" sz="950"/>
          </a:p>
        </p:txBody>
      </p:sp>
      <p:sp>
        <p:nvSpPr>
          <p:cNvPr id="125" name="Text 53">
            <a:extLst>
              <a:ext uri="{FF2B5EF4-FFF2-40B4-BE49-F238E27FC236}">
                <a16:creationId xmlns:a16="http://schemas.microsoft.com/office/drawing/2014/main" id="{15B795B9-2E39-7E00-4C6B-93D7F46E02E7}"/>
              </a:ext>
            </a:extLst>
          </p:cNvPr>
          <p:cNvSpPr/>
          <p:nvPr/>
        </p:nvSpPr>
        <p:spPr>
          <a:xfrm>
            <a:off x="6153912" y="4051010"/>
            <a:ext cx="960120" cy="292608"/>
          </a:xfrm>
          <a:prstGeom prst="rect">
            <a:avLst/>
          </a:prstGeom>
          <a:noFill/>
          <a:ln/>
        </p:spPr>
        <p:txBody>
          <a:bodyPr wrap="square" rtlCol="0" anchor="ctr"/>
          <a:lstStyle/>
          <a:p>
            <a:pPr marL="0" indent="0">
              <a:buNone/>
            </a:pPr>
            <a:r>
              <a:rPr lang="en-US" sz="1000" b="1" err="1">
                <a:solidFill>
                  <a:srgbClr val="1E293B"/>
                </a:solidFill>
              </a:rPr>
              <a:t>create_date</a:t>
            </a:r>
            <a:endParaRPr lang="en-US" sz="1000"/>
          </a:p>
        </p:txBody>
      </p:sp>
      <p:sp>
        <p:nvSpPr>
          <p:cNvPr id="127" name="Text 54">
            <a:extLst>
              <a:ext uri="{FF2B5EF4-FFF2-40B4-BE49-F238E27FC236}">
                <a16:creationId xmlns:a16="http://schemas.microsoft.com/office/drawing/2014/main" id="{BE263C62-CB93-EC7A-4ED8-38A7A9EA1B46}"/>
              </a:ext>
            </a:extLst>
          </p:cNvPr>
          <p:cNvSpPr/>
          <p:nvPr/>
        </p:nvSpPr>
        <p:spPr>
          <a:xfrm>
            <a:off x="7114032" y="4032722"/>
            <a:ext cx="914400" cy="292608"/>
          </a:xfrm>
          <a:prstGeom prst="rect">
            <a:avLst/>
          </a:prstGeom>
          <a:noFill/>
          <a:ln/>
        </p:spPr>
        <p:txBody>
          <a:bodyPr wrap="square" rtlCol="0" anchor="ctr"/>
          <a:lstStyle/>
          <a:p>
            <a:pPr marL="0" indent="0">
              <a:buNone/>
            </a:pPr>
            <a:r>
              <a:rPr lang="en-US" sz="950">
                <a:solidFill>
                  <a:srgbClr val="64748B"/>
                </a:solidFill>
              </a:rPr>
              <a:t>Datetime</a:t>
            </a:r>
            <a:endParaRPr lang="en-US" sz="950"/>
          </a:p>
        </p:txBody>
      </p:sp>
      <p:sp>
        <p:nvSpPr>
          <p:cNvPr id="128" name="Text 55">
            <a:extLst>
              <a:ext uri="{FF2B5EF4-FFF2-40B4-BE49-F238E27FC236}">
                <a16:creationId xmlns:a16="http://schemas.microsoft.com/office/drawing/2014/main" id="{57F768B0-1127-161E-5031-AE28440954C9}"/>
              </a:ext>
            </a:extLst>
          </p:cNvPr>
          <p:cNvSpPr/>
          <p:nvPr/>
        </p:nvSpPr>
        <p:spPr>
          <a:xfrm>
            <a:off x="8028432" y="4051010"/>
            <a:ext cx="868680" cy="292608"/>
          </a:xfrm>
          <a:prstGeom prst="rect">
            <a:avLst/>
          </a:prstGeom>
          <a:noFill/>
          <a:ln/>
        </p:spPr>
        <p:txBody>
          <a:bodyPr wrap="square" rtlCol="0" anchor="ctr"/>
          <a:lstStyle/>
          <a:p>
            <a:pPr marL="0" indent="0">
              <a:buNone/>
            </a:pPr>
            <a:r>
              <a:rPr lang="en-US" sz="950">
                <a:solidFill>
                  <a:srgbClr val="64748B"/>
                </a:solidFill>
              </a:rPr>
              <a:t>Default null</a:t>
            </a:r>
            <a:endParaRPr lang="en-US" sz="950"/>
          </a:p>
        </p:txBody>
      </p:sp>
      <p:sp>
        <p:nvSpPr>
          <p:cNvPr id="129" name="Text 49">
            <a:extLst>
              <a:ext uri="{FF2B5EF4-FFF2-40B4-BE49-F238E27FC236}">
                <a16:creationId xmlns:a16="http://schemas.microsoft.com/office/drawing/2014/main" id="{2462221C-EE9B-72D5-7E2D-506CB149D73C}"/>
              </a:ext>
            </a:extLst>
          </p:cNvPr>
          <p:cNvSpPr/>
          <p:nvPr/>
        </p:nvSpPr>
        <p:spPr>
          <a:xfrm>
            <a:off x="6198326" y="4720046"/>
            <a:ext cx="960120" cy="292608"/>
          </a:xfrm>
          <a:prstGeom prst="rect">
            <a:avLst/>
          </a:prstGeom>
          <a:noFill/>
          <a:ln/>
        </p:spPr>
        <p:txBody>
          <a:bodyPr wrap="square" rtlCol="0" anchor="ctr"/>
          <a:lstStyle/>
          <a:p>
            <a:pPr marL="0" indent="0">
              <a:buNone/>
            </a:pPr>
            <a:r>
              <a:rPr lang="en-US" sz="1000" b="1">
                <a:solidFill>
                  <a:srgbClr val="1E293B"/>
                </a:solidFill>
              </a:rPr>
              <a:t>Active_flg</a:t>
            </a:r>
            <a:endParaRPr lang="en-US" sz="1000"/>
          </a:p>
        </p:txBody>
      </p:sp>
      <p:sp>
        <p:nvSpPr>
          <p:cNvPr id="130" name="Shape 45">
            <a:extLst>
              <a:ext uri="{FF2B5EF4-FFF2-40B4-BE49-F238E27FC236}">
                <a16:creationId xmlns:a16="http://schemas.microsoft.com/office/drawing/2014/main" id="{8E27998C-D95C-891A-52B9-E076C9265A8C}"/>
              </a:ext>
            </a:extLst>
          </p:cNvPr>
          <p:cNvSpPr/>
          <p:nvPr/>
        </p:nvSpPr>
        <p:spPr>
          <a:xfrm>
            <a:off x="6108192" y="4601682"/>
            <a:ext cx="2834640" cy="347472"/>
          </a:xfrm>
          <a:prstGeom prst="rect">
            <a:avLst/>
          </a:prstGeom>
          <a:solidFill>
            <a:srgbClr val="F8FAFC"/>
          </a:solidFill>
          <a:ln/>
        </p:spPr>
        <p:txBody>
          <a:bodyPr/>
          <a:lstStyle/>
          <a:p>
            <a:endParaRPr lang="en-US"/>
          </a:p>
        </p:txBody>
      </p:sp>
      <p:sp>
        <p:nvSpPr>
          <p:cNvPr id="131" name="Text 53">
            <a:extLst>
              <a:ext uri="{FF2B5EF4-FFF2-40B4-BE49-F238E27FC236}">
                <a16:creationId xmlns:a16="http://schemas.microsoft.com/office/drawing/2014/main" id="{CB2A0751-B4D8-8530-F3EB-A13B1A219CB2}"/>
              </a:ext>
            </a:extLst>
          </p:cNvPr>
          <p:cNvSpPr/>
          <p:nvPr/>
        </p:nvSpPr>
        <p:spPr>
          <a:xfrm>
            <a:off x="6153912" y="4473158"/>
            <a:ext cx="960120" cy="292608"/>
          </a:xfrm>
          <a:prstGeom prst="rect">
            <a:avLst/>
          </a:prstGeom>
          <a:noFill/>
          <a:ln/>
        </p:spPr>
        <p:txBody>
          <a:bodyPr wrap="square" rtlCol="0" anchor="ctr"/>
          <a:lstStyle/>
          <a:p>
            <a:pPr marL="0" indent="0">
              <a:buNone/>
            </a:pPr>
            <a:r>
              <a:rPr lang="en-US" sz="1000" b="1" err="1">
                <a:solidFill>
                  <a:srgbClr val="1E293B"/>
                </a:solidFill>
              </a:rPr>
              <a:t>active_flg</a:t>
            </a:r>
            <a:endParaRPr lang="en-US" sz="1000"/>
          </a:p>
        </p:txBody>
      </p:sp>
      <p:sp>
        <p:nvSpPr>
          <p:cNvPr id="132" name="Text 12">
            <a:extLst>
              <a:ext uri="{FF2B5EF4-FFF2-40B4-BE49-F238E27FC236}">
                <a16:creationId xmlns:a16="http://schemas.microsoft.com/office/drawing/2014/main" id="{F71DFDDA-1322-01B7-EA68-C57D34EE5FF4}"/>
              </a:ext>
            </a:extLst>
          </p:cNvPr>
          <p:cNvSpPr/>
          <p:nvPr/>
        </p:nvSpPr>
        <p:spPr>
          <a:xfrm>
            <a:off x="7114032" y="4477730"/>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133" name="Text 27">
            <a:extLst>
              <a:ext uri="{FF2B5EF4-FFF2-40B4-BE49-F238E27FC236}">
                <a16:creationId xmlns:a16="http://schemas.microsoft.com/office/drawing/2014/main" id="{3D5C7232-7D82-676E-96B6-B17F1C85787A}"/>
              </a:ext>
            </a:extLst>
          </p:cNvPr>
          <p:cNvSpPr/>
          <p:nvPr/>
        </p:nvSpPr>
        <p:spPr>
          <a:xfrm>
            <a:off x="8028432" y="4473158"/>
            <a:ext cx="868680" cy="292608"/>
          </a:xfrm>
          <a:prstGeom prst="rect">
            <a:avLst/>
          </a:prstGeom>
          <a:noFill/>
          <a:ln/>
        </p:spPr>
        <p:txBody>
          <a:bodyPr wrap="square" rtlCol="0" anchor="ctr"/>
          <a:lstStyle/>
          <a:p>
            <a:pPr marL="0" indent="0">
              <a:buNone/>
            </a:pPr>
            <a:r>
              <a:rPr lang="en-US" sz="950">
                <a:solidFill>
                  <a:srgbClr val="64748B"/>
                </a:solidFill>
              </a:rPr>
              <a:t>Default 1</a:t>
            </a:r>
            <a:endParaRPr lang="en-US" sz="950"/>
          </a:p>
        </p:txBody>
      </p:sp>
      <p:sp>
        <p:nvSpPr>
          <p:cNvPr id="134" name="Text 56">
            <a:extLst>
              <a:ext uri="{FF2B5EF4-FFF2-40B4-BE49-F238E27FC236}">
                <a16:creationId xmlns:a16="http://schemas.microsoft.com/office/drawing/2014/main" id="{E1608ECF-873F-2318-5188-617B2D6DCA0C}"/>
              </a:ext>
            </a:extLst>
          </p:cNvPr>
          <p:cNvSpPr/>
          <p:nvPr/>
        </p:nvSpPr>
        <p:spPr>
          <a:xfrm>
            <a:off x="6153912" y="4625340"/>
            <a:ext cx="960120" cy="292608"/>
          </a:xfrm>
          <a:prstGeom prst="rect">
            <a:avLst/>
          </a:prstGeom>
          <a:noFill/>
          <a:ln/>
        </p:spPr>
        <p:txBody>
          <a:bodyPr wrap="square" rtlCol="0" anchor="ctr"/>
          <a:lstStyle/>
          <a:p>
            <a:pPr marL="0" indent="0">
              <a:buNone/>
            </a:pPr>
            <a:r>
              <a:rPr lang="en-US" sz="1000" b="1">
                <a:solidFill>
                  <a:srgbClr val="1E293B"/>
                </a:solidFill>
              </a:rPr>
              <a:t>status</a:t>
            </a:r>
            <a:endParaRPr lang="en-US" sz="1000"/>
          </a:p>
        </p:txBody>
      </p:sp>
      <p:sp>
        <p:nvSpPr>
          <p:cNvPr id="135" name="Text 12">
            <a:extLst>
              <a:ext uri="{FF2B5EF4-FFF2-40B4-BE49-F238E27FC236}">
                <a16:creationId xmlns:a16="http://schemas.microsoft.com/office/drawing/2014/main" id="{659E151F-112E-435F-48D5-A0961E6D61B8}"/>
              </a:ext>
            </a:extLst>
          </p:cNvPr>
          <p:cNvSpPr/>
          <p:nvPr/>
        </p:nvSpPr>
        <p:spPr>
          <a:xfrm>
            <a:off x="7114032" y="4635428"/>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136" name="Text 27">
            <a:extLst>
              <a:ext uri="{FF2B5EF4-FFF2-40B4-BE49-F238E27FC236}">
                <a16:creationId xmlns:a16="http://schemas.microsoft.com/office/drawing/2014/main" id="{0D556321-65C3-DFEE-E10E-75969149EEDE}"/>
              </a:ext>
            </a:extLst>
          </p:cNvPr>
          <p:cNvSpPr/>
          <p:nvPr/>
        </p:nvSpPr>
        <p:spPr>
          <a:xfrm>
            <a:off x="8028432" y="4646894"/>
            <a:ext cx="868680" cy="292608"/>
          </a:xfrm>
          <a:prstGeom prst="rect">
            <a:avLst/>
          </a:prstGeom>
          <a:noFill/>
          <a:ln/>
        </p:spPr>
        <p:txBody>
          <a:bodyPr wrap="square" rtlCol="0" anchor="ctr"/>
          <a:lstStyle/>
          <a:p>
            <a:pPr marL="0" indent="0">
              <a:buNone/>
            </a:pPr>
            <a:r>
              <a:rPr lang="en-US" sz="950">
                <a:solidFill>
                  <a:srgbClr val="64748B"/>
                </a:solidFill>
              </a:rPr>
              <a:t>Default 1</a:t>
            </a:r>
            <a:endParaRPr lang="en-US" sz="9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THIẾT KẾ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Thiết Kế Cơ Sở Dữ Liệu</a:t>
            </a:r>
            <a:endParaRPr lang="en-US" sz="2200"/>
          </a:p>
        </p:txBody>
      </p:sp>
      <p:sp>
        <p:nvSpPr>
          <p:cNvPr id="5" name="Shape 3"/>
          <p:cNvSpPr/>
          <p:nvPr/>
        </p:nvSpPr>
        <p:spPr>
          <a:xfrm>
            <a:off x="201168" y="1005840"/>
            <a:ext cx="2834640" cy="384048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01168" y="1005840"/>
            <a:ext cx="2834640" cy="384048"/>
          </a:xfrm>
          <a:prstGeom prst="rect">
            <a:avLst/>
          </a:prstGeom>
          <a:solidFill>
            <a:srgbClr val="0D9488"/>
          </a:solidFill>
          <a:ln/>
        </p:spPr>
        <p:txBody>
          <a:bodyPr/>
          <a:lstStyle/>
          <a:p>
            <a:endParaRPr lang="en-US"/>
          </a:p>
        </p:txBody>
      </p:sp>
      <p:sp>
        <p:nvSpPr>
          <p:cNvPr id="7" name="Text 5"/>
          <p:cNvSpPr/>
          <p:nvPr/>
        </p:nvSpPr>
        <p:spPr>
          <a:xfrm>
            <a:off x="292608" y="1051560"/>
            <a:ext cx="2651760" cy="292608"/>
          </a:xfrm>
          <a:prstGeom prst="rect">
            <a:avLst/>
          </a:prstGeom>
          <a:noFill/>
          <a:ln/>
        </p:spPr>
        <p:txBody>
          <a:bodyPr wrap="square" rtlCol="0" anchor="ctr"/>
          <a:lstStyle/>
          <a:p>
            <a:pPr marL="0" indent="0">
              <a:buNone/>
            </a:pPr>
            <a:r>
              <a:rPr lang="en-US" sz="1200" b="1" err="1">
                <a:solidFill>
                  <a:srgbClr val="FFFFFF"/>
                </a:solidFill>
              </a:rPr>
              <a:t>Bảng</a:t>
            </a:r>
            <a:r>
              <a:rPr lang="en-US" sz="1200" b="1">
                <a:solidFill>
                  <a:srgbClr val="FFFFFF"/>
                </a:solidFill>
              </a:rPr>
              <a:t> ORDER</a:t>
            </a:r>
            <a:endParaRPr lang="en-US" sz="1200"/>
          </a:p>
        </p:txBody>
      </p:sp>
      <p:sp>
        <p:nvSpPr>
          <p:cNvPr id="8" name="Shape 6"/>
          <p:cNvSpPr/>
          <p:nvPr/>
        </p:nvSpPr>
        <p:spPr>
          <a:xfrm>
            <a:off x="201168" y="1389888"/>
            <a:ext cx="2834640" cy="256032"/>
          </a:xfrm>
          <a:prstGeom prst="rect">
            <a:avLst/>
          </a:prstGeom>
          <a:solidFill>
            <a:srgbClr val="E2E8F0"/>
          </a:solidFill>
          <a:ln/>
        </p:spPr>
      </p:sp>
      <p:sp>
        <p:nvSpPr>
          <p:cNvPr id="9" name="Text 7"/>
          <p:cNvSpPr/>
          <p:nvPr/>
        </p:nvSpPr>
        <p:spPr>
          <a:xfrm>
            <a:off x="246888" y="1408176"/>
            <a:ext cx="1005840" cy="219456"/>
          </a:xfrm>
          <a:prstGeom prst="rect">
            <a:avLst/>
          </a:prstGeom>
          <a:noFill/>
          <a:ln/>
        </p:spPr>
        <p:txBody>
          <a:bodyPr wrap="square" rtlCol="0" anchor="ctr"/>
          <a:lstStyle/>
          <a:p>
            <a:pPr marL="0" indent="0">
              <a:buNone/>
            </a:pPr>
            <a:r>
              <a:rPr lang="en-US" sz="1000" b="1">
                <a:solidFill>
                  <a:srgbClr val="1E293B"/>
                </a:solidFill>
              </a:rPr>
              <a:t>Trường</a:t>
            </a:r>
            <a:endParaRPr lang="en-US" sz="1000"/>
          </a:p>
        </p:txBody>
      </p:sp>
      <p:sp>
        <p:nvSpPr>
          <p:cNvPr id="10" name="Text 8"/>
          <p:cNvSpPr/>
          <p:nvPr/>
        </p:nvSpPr>
        <p:spPr>
          <a:xfrm>
            <a:off x="1207008" y="1408176"/>
            <a:ext cx="1005840" cy="219456"/>
          </a:xfrm>
          <a:prstGeom prst="rect">
            <a:avLst/>
          </a:prstGeom>
          <a:noFill/>
          <a:ln/>
        </p:spPr>
        <p:txBody>
          <a:bodyPr wrap="square" rtlCol="0" anchor="ctr"/>
          <a:lstStyle/>
          <a:p>
            <a:pPr marL="0" indent="0">
              <a:buNone/>
            </a:pPr>
            <a:r>
              <a:rPr lang="en-US" sz="1000" b="1">
                <a:solidFill>
                  <a:srgbClr val="1E293B"/>
                </a:solidFill>
              </a:rPr>
              <a:t>Kiểu</a:t>
            </a:r>
            <a:endParaRPr lang="en-US" sz="1000"/>
          </a:p>
        </p:txBody>
      </p:sp>
      <p:sp>
        <p:nvSpPr>
          <p:cNvPr id="11" name="Text 9"/>
          <p:cNvSpPr/>
          <p:nvPr/>
        </p:nvSpPr>
        <p:spPr>
          <a:xfrm>
            <a:off x="2121408" y="1408176"/>
            <a:ext cx="868680" cy="219456"/>
          </a:xfrm>
          <a:prstGeom prst="rect">
            <a:avLst/>
          </a:prstGeom>
          <a:noFill/>
          <a:ln/>
        </p:spPr>
        <p:txBody>
          <a:bodyPr wrap="square" rtlCol="0" anchor="ctr"/>
          <a:lstStyle/>
          <a:p>
            <a:pPr marL="0" indent="0">
              <a:buNone/>
            </a:pPr>
            <a:r>
              <a:rPr lang="en-US" sz="1000" b="1">
                <a:solidFill>
                  <a:srgbClr val="1E293B"/>
                </a:solidFill>
              </a:rPr>
              <a:t>Ghi chú</a:t>
            </a:r>
            <a:endParaRPr lang="en-US" sz="1000"/>
          </a:p>
        </p:txBody>
      </p:sp>
      <p:sp>
        <p:nvSpPr>
          <p:cNvPr id="12" name="Shape 10"/>
          <p:cNvSpPr/>
          <p:nvPr/>
        </p:nvSpPr>
        <p:spPr>
          <a:xfrm>
            <a:off x="201168" y="1636776"/>
            <a:ext cx="2834640" cy="347472"/>
          </a:xfrm>
          <a:prstGeom prst="rect">
            <a:avLst/>
          </a:prstGeom>
          <a:solidFill>
            <a:srgbClr val="F8FAFC"/>
          </a:solidFill>
          <a:ln/>
        </p:spPr>
      </p:sp>
      <p:sp>
        <p:nvSpPr>
          <p:cNvPr id="13" name="Text 11"/>
          <p:cNvSpPr/>
          <p:nvPr/>
        </p:nvSpPr>
        <p:spPr>
          <a:xfrm>
            <a:off x="246888" y="1664208"/>
            <a:ext cx="960120" cy="292608"/>
          </a:xfrm>
          <a:prstGeom prst="rect">
            <a:avLst/>
          </a:prstGeom>
          <a:noFill/>
          <a:ln/>
        </p:spPr>
        <p:txBody>
          <a:bodyPr wrap="square" rtlCol="0" anchor="ctr"/>
          <a:lstStyle/>
          <a:p>
            <a:pPr marL="0" indent="0">
              <a:buNone/>
            </a:pPr>
            <a:r>
              <a:rPr lang="en-US" sz="1000" b="1">
                <a:solidFill>
                  <a:srgbClr val="1E293B"/>
                </a:solidFill>
              </a:rPr>
              <a:t>id</a:t>
            </a:r>
            <a:endParaRPr lang="en-US" sz="1000"/>
          </a:p>
        </p:txBody>
      </p:sp>
      <p:sp>
        <p:nvSpPr>
          <p:cNvPr id="14" name="Text 12"/>
          <p:cNvSpPr/>
          <p:nvPr/>
        </p:nvSpPr>
        <p:spPr>
          <a:xfrm>
            <a:off x="1207008" y="1664208"/>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15" name="Text 13"/>
          <p:cNvSpPr/>
          <p:nvPr/>
        </p:nvSpPr>
        <p:spPr>
          <a:xfrm>
            <a:off x="2121408" y="1664208"/>
            <a:ext cx="868680" cy="292608"/>
          </a:xfrm>
          <a:prstGeom prst="rect">
            <a:avLst/>
          </a:prstGeom>
          <a:noFill/>
          <a:ln/>
        </p:spPr>
        <p:txBody>
          <a:bodyPr wrap="square" rtlCol="0" anchor="ctr"/>
          <a:lstStyle/>
          <a:p>
            <a:pPr marL="0" indent="0">
              <a:buNone/>
            </a:pPr>
            <a:r>
              <a:rPr lang="en-US" sz="950" b="1">
                <a:solidFill>
                  <a:srgbClr val="0D9488"/>
                </a:solidFill>
              </a:rPr>
              <a:t>PK</a:t>
            </a:r>
            <a:endParaRPr lang="en-US" sz="950"/>
          </a:p>
        </p:txBody>
      </p:sp>
      <p:sp>
        <p:nvSpPr>
          <p:cNvPr id="16" name="Text 14"/>
          <p:cNvSpPr/>
          <p:nvPr/>
        </p:nvSpPr>
        <p:spPr>
          <a:xfrm>
            <a:off x="246888" y="2011680"/>
            <a:ext cx="960120" cy="292608"/>
          </a:xfrm>
          <a:prstGeom prst="rect">
            <a:avLst/>
          </a:prstGeom>
          <a:noFill/>
          <a:ln/>
        </p:spPr>
        <p:txBody>
          <a:bodyPr wrap="square" rtlCol="0" anchor="ctr"/>
          <a:lstStyle/>
          <a:p>
            <a:pPr marL="0" indent="0">
              <a:buNone/>
            </a:pPr>
            <a:r>
              <a:rPr lang="en-US" sz="1000" b="1" err="1">
                <a:solidFill>
                  <a:srgbClr val="1E293B"/>
                </a:solidFill>
              </a:rPr>
              <a:t>orderNumber</a:t>
            </a:r>
            <a:endParaRPr lang="en-US" sz="1000"/>
          </a:p>
        </p:txBody>
      </p:sp>
      <p:sp>
        <p:nvSpPr>
          <p:cNvPr id="17" name="Text 15"/>
          <p:cNvSpPr/>
          <p:nvPr/>
        </p:nvSpPr>
        <p:spPr>
          <a:xfrm>
            <a:off x="1207008" y="2011680"/>
            <a:ext cx="914400" cy="292608"/>
          </a:xfrm>
          <a:prstGeom prst="rect">
            <a:avLst/>
          </a:prstGeom>
          <a:noFill/>
          <a:ln/>
        </p:spPr>
        <p:txBody>
          <a:bodyPr wrap="square" rtlCol="0" anchor="ctr"/>
          <a:lstStyle/>
          <a:p>
            <a:pPr marL="0" indent="0">
              <a:buNone/>
            </a:pPr>
            <a:r>
              <a:rPr lang="en-US" sz="950">
                <a:solidFill>
                  <a:srgbClr val="64748B"/>
                </a:solidFill>
              </a:rPr>
              <a:t>Varchar(255)</a:t>
            </a:r>
            <a:endParaRPr lang="en-US" sz="950"/>
          </a:p>
        </p:txBody>
      </p:sp>
      <p:sp>
        <p:nvSpPr>
          <p:cNvPr id="18" name="Text 16"/>
          <p:cNvSpPr/>
          <p:nvPr/>
        </p:nvSpPr>
        <p:spPr>
          <a:xfrm>
            <a:off x="2121408" y="2011680"/>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19" name="Shape 17"/>
          <p:cNvSpPr/>
          <p:nvPr/>
        </p:nvSpPr>
        <p:spPr>
          <a:xfrm>
            <a:off x="201168" y="2331720"/>
            <a:ext cx="2834640" cy="347472"/>
          </a:xfrm>
          <a:prstGeom prst="rect">
            <a:avLst/>
          </a:prstGeom>
          <a:solidFill>
            <a:srgbClr val="F8FAFC"/>
          </a:solidFill>
          <a:ln/>
        </p:spPr>
      </p:sp>
      <p:sp>
        <p:nvSpPr>
          <p:cNvPr id="20" name="Text 18"/>
          <p:cNvSpPr/>
          <p:nvPr/>
        </p:nvSpPr>
        <p:spPr>
          <a:xfrm>
            <a:off x="246888" y="2359152"/>
            <a:ext cx="960120" cy="292608"/>
          </a:xfrm>
          <a:prstGeom prst="rect">
            <a:avLst/>
          </a:prstGeom>
          <a:noFill/>
          <a:ln/>
        </p:spPr>
        <p:txBody>
          <a:bodyPr wrap="square" rtlCol="0" anchor="ctr"/>
          <a:lstStyle/>
          <a:p>
            <a:pPr marL="0" indent="0">
              <a:buNone/>
            </a:pPr>
            <a:r>
              <a:rPr lang="en-US" sz="1000" b="1" err="1">
                <a:solidFill>
                  <a:srgbClr val="1E293B"/>
                </a:solidFill>
              </a:rPr>
              <a:t>totalAmount</a:t>
            </a:r>
            <a:endParaRPr lang="en-US" sz="1000"/>
          </a:p>
        </p:txBody>
      </p:sp>
      <p:sp>
        <p:nvSpPr>
          <p:cNvPr id="21" name="Text 19"/>
          <p:cNvSpPr/>
          <p:nvPr/>
        </p:nvSpPr>
        <p:spPr>
          <a:xfrm>
            <a:off x="1207008" y="2359152"/>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22" name="Text 20"/>
          <p:cNvSpPr/>
          <p:nvPr/>
        </p:nvSpPr>
        <p:spPr>
          <a:xfrm>
            <a:off x="2121408" y="2359152"/>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23" name="Text 21"/>
          <p:cNvSpPr/>
          <p:nvPr/>
        </p:nvSpPr>
        <p:spPr>
          <a:xfrm>
            <a:off x="246888" y="2706624"/>
            <a:ext cx="960120" cy="292608"/>
          </a:xfrm>
          <a:prstGeom prst="rect">
            <a:avLst/>
          </a:prstGeom>
          <a:noFill/>
          <a:ln/>
        </p:spPr>
        <p:txBody>
          <a:bodyPr wrap="square" rtlCol="0" anchor="ctr"/>
          <a:lstStyle/>
          <a:p>
            <a:pPr marL="0" indent="0">
              <a:buNone/>
            </a:pPr>
            <a:r>
              <a:rPr lang="en-US" sz="1000" b="1" err="1">
                <a:solidFill>
                  <a:srgbClr val="1E293B"/>
                </a:solidFill>
              </a:rPr>
              <a:t>userid</a:t>
            </a:r>
            <a:endParaRPr lang="en-US" sz="1000"/>
          </a:p>
        </p:txBody>
      </p:sp>
      <p:sp>
        <p:nvSpPr>
          <p:cNvPr id="24" name="Text 22"/>
          <p:cNvSpPr/>
          <p:nvPr/>
        </p:nvSpPr>
        <p:spPr>
          <a:xfrm>
            <a:off x="1207008" y="2706624"/>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25" name="Text 23"/>
          <p:cNvSpPr/>
          <p:nvPr/>
        </p:nvSpPr>
        <p:spPr>
          <a:xfrm>
            <a:off x="2121408" y="2706624"/>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33" name="Shape 31"/>
          <p:cNvSpPr/>
          <p:nvPr/>
        </p:nvSpPr>
        <p:spPr>
          <a:xfrm>
            <a:off x="3172968" y="1005840"/>
            <a:ext cx="2834640" cy="3840480"/>
          </a:xfrm>
          <a:prstGeom prst="rect">
            <a:avLst/>
          </a:prstGeom>
          <a:solidFill>
            <a:srgbClr val="FFFFFF"/>
          </a:solidFill>
          <a:ln/>
          <a:effectLst>
            <a:outerShdw blurRad="101600" dist="38100" dir="8100000" algn="bl" rotWithShape="0">
              <a:srgbClr val="000000">
                <a:alpha val="18000"/>
              </a:srgbClr>
            </a:outerShdw>
          </a:effectLst>
        </p:spPr>
      </p:sp>
      <p:sp>
        <p:nvSpPr>
          <p:cNvPr id="34" name="Shape 32"/>
          <p:cNvSpPr/>
          <p:nvPr/>
        </p:nvSpPr>
        <p:spPr>
          <a:xfrm>
            <a:off x="3172968" y="1005840"/>
            <a:ext cx="2834640" cy="384048"/>
          </a:xfrm>
          <a:prstGeom prst="rect">
            <a:avLst/>
          </a:prstGeom>
          <a:solidFill>
            <a:srgbClr val="0369A1"/>
          </a:solidFill>
          <a:ln/>
        </p:spPr>
      </p:sp>
      <p:sp>
        <p:nvSpPr>
          <p:cNvPr id="35" name="Text 33"/>
          <p:cNvSpPr/>
          <p:nvPr/>
        </p:nvSpPr>
        <p:spPr>
          <a:xfrm>
            <a:off x="3264408" y="1051560"/>
            <a:ext cx="2651760" cy="292608"/>
          </a:xfrm>
          <a:prstGeom prst="rect">
            <a:avLst/>
          </a:prstGeom>
          <a:noFill/>
          <a:ln/>
        </p:spPr>
        <p:txBody>
          <a:bodyPr wrap="square" rtlCol="0" anchor="ctr"/>
          <a:lstStyle/>
          <a:p>
            <a:pPr marL="0" indent="0">
              <a:buNone/>
            </a:pPr>
            <a:r>
              <a:rPr lang="en-US" sz="1200" b="1" err="1">
                <a:solidFill>
                  <a:srgbClr val="FFFFFF"/>
                </a:solidFill>
              </a:rPr>
              <a:t>Bảng</a:t>
            </a:r>
            <a:r>
              <a:rPr lang="en-US" sz="1200" b="1">
                <a:solidFill>
                  <a:srgbClr val="FFFFFF"/>
                </a:solidFill>
              </a:rPr>
              <a:t> </a:t>
            </a:r>
            <a:r>
              <a:rPr lang="en-US" sz="1200" b="1" err="1">
                <a:solidFill>
                  <a:srgbClr val="FFFFFF"/>
                </a:solidFill>
              </a:rPr>
              <a:t>ORDERDETAIL</a:t>
            </a:r>
            <a:endParaRPr lang="en-US" sz="1200"/>
          </a:p>
        </p:txBody>
      </p:sp>
      <p:sp>
        <p:nvSpPr>
          <p:cNvPr id="36" name="Shape 34"/>
          <p:cNvSpPr/>
          <p:nvPr/>
        </p:nvSpPr>
        <p:spPr>
          <a:xfrm>
            <a:off x="3172968" y="1389888"/>
            <a:ext cx="2834640" cy="256032"/>
          </a:xfrm>
          <a:prstGeom prst="rect">
            <a:avLst/>
          </a:prstGeom>
          <a:solidFill>
            <a:srgbClr val="E2E8F0"/>
          </a:solidFill>
          <a:ln/>
        </p:spPr>
      </p:sp>
      <p:sp>
        <p:nvSpPr>
          <p:cNvPr id="37" name="Text 35"/>
          <p:cNvSpPr/>
          <p:nvPr/>
        </p:nvSpPr>
        <p:spPr>
          <a:xfrm>
            <a:off x="3218688" y="1408176"/>
            <a:ext cx="1005840" cy="219456"/>
          </a:xfrm>
          <a:prstGeom prst="rect">
            <a:avLst/>
          </a:prstGeom>
          <a:noFill/>
          <a:ln/>
        </p:spPr>
        <p:txBody>
          <a:bodyPr wrap="square" rtlCol="0" anchor="ctr"/>
          <a:lstStyle/>
          <a:p>
            <a:pPr marL="0" indent="0">
              <a:buNone/>
            </a:pPr>
            <a:r>
              <a:rPr lang="en-US" sz="1000" b="1">
                <a:solidFill>
                  <a:srgbClr val="1E293B"/>
                </a:solidFill>
              </a:rPr>
              <a:t>Trường</a:t>
            </a:r>
            <a:endParaRPr lang="en-US" sz="1000"/>
          </a:p>
        </p:txBody>
      </p:sp>
      <p:sp>
        <p:nvSpPr>
          <p:cNvPr id="38" name="Text 36"/>
          <p:cNvSpPr/>
          <p:nvPr/>
        </p:nvSpPr>
        <p:spPr>
          <a:xfrm>
            <a:off x="4178808" y="1408176"/>
            <a:ext cx="1005840" cy="219456"/>
          </a:xfrm>
          <a:prstGeom prst="rect">
            <a:avLst/>
          </a:prstGeom>
          <a:noFill/>
          <a:ln/>
        </p:spPr>
        <p:txBody>
          <a:bodyPr wrap="square" rtlCol="0" anchor="ctr"/>
          <a:lstStyle/>
          <a:p>
            <a:pPr marL="0" indent="0">
              <a:buNone/>
            </a:pPr>
            <a:r>
              <a:rPr lang="en-US" sz="1000" b="1">
                <a:solidFill>
                  <a:srgbClr val="1E293B"/>
                </a:solidFill>
              </a:rPr>
              <a:t>Kiểu</a:t>
            </a:r>
            <a:endParaRPr lang="en-US" sz="1000"/>
          </a:p>
        </p:txBody>
      </p:sp>
      <p:sp>
        <p:nvSpPr>
          <p:cNvPr id="39" name="Text 37"/>
          <p:cNvSpPr/>
          <p:nvPr/>
        </p:nvSpPr>
        <p:spPr>
          <a:xfrm>
            <a:off x="5093208" y="1408176"/>
            <a:ext cx="868680" cy="219456"/>
          </a:xfrm>
          <a:prstGeom prst="rect">
            <a:avLst/>
          </a:prstGeom>
          <a:noFill/>
          <a:ln/>
        </p:spPr>
        <p:txBody>
          <a:bodyPr wrap="square" rtlCol="0" anchor="ctr"/>
          <a:lstStyle/>
          <a:p>
            <a:pPr marL="0" indent="0">
              <a:buNone/>
            </a:pPr>
            <a:r>
              <a:rPr lang="en-US" sz="1000" b="1">
                <a:solidFill>
                  <a:srgbClr val="1E293B"/>
                </a:solidFill>
              </a:rPr>
              <a:t>Ghi chú</a:t>
            </a:r>
            <a:endParaRPr lang="en-US" sz="1000"/>
          </a:p>
        </p:txBody>
      </p:sp>
      <p:sp>
        <p:nvSpPr>
          <p:cNvPr id="40" name="Shape 38"/>
          <p:cNvSpPr/>
          <p:nvPr/>
        </p:nvSpPr>
        <p:spPr>
          <a:xfrm>
            <a:off x="3172968" y="1636776"/>
            <a:ext cx="2834640" cy="347472"/>
          </a:xfrm>
          <a:prstGeom prst="rect">
            <a:avLst/>
          </a:prstGeom>
          <a:solidFill>
            <a:srgbClr val="F8FAFC"/>
          </a:solidFill>
          <a:ln/>
        </p:spPr>
      </p:sp>
      <p:sp>
        <p:nvSpPr>
          <p:cNvPr id="41" name="Text 39"/>
          <p:cNvSpPr/>
          <p:nvPr/>
        </p:nvSpPr>
        <p:spPr>
          <a:xfrm>
            <a:off x="3218688" y="1664208"/>
            <a:ext cx="960120" cy="292608"/>
          </a:xfrm>
          <a:prstGeom prst="rect">
            <a:avLst/>
          </a:prstGeom>
          <a:noFill/>
          <a:ln/>
        </p:spPr>
        <p:txBody>
          <a:bodyPr wrap="square" rtlCol="0" anchor="ctr"/>
          <a:lstStyle/>
          <a:p>
            <a:pPr marL="0" indent="0">
              <a:buNone/>
            </a:pPr>
            <a:r>
              <a:rPr lang="en-US" sz="1000" b="1">
                <a:solidFill>
                  <a:srgbClr val="1E293B"/>
                </a:solidFill>
              </a:rPr>
              <a:t>id</a:t>
            </a:r>
            <a:endParaRPr lang="en-US" sz="1000"/>
          </a:p>
        </p:txBody>
      </p:sp>
      <p:sp>
        <p:nvSpPr>
          <p:cNvPr id="42" name="Text 40"/>
          <p:cNvSpPr/>
          <p:nvPr/>
        </p:nvSpPr>
        <p:spPr>
          <a:xfrm>
            <a:off x="4178808" y="1664208"/>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43" name="Text 41"/>
          <p:cNvSpPr/>
          <p:nvPr/>
        </p:nvSpPr>
        <p:spPr>
          <a:xfrm>
            <a:off x="5093208" y="1664208"/>
            <a:ext cx="868680" cy="292608"/>
          </a:xfrm>
          <a:prstGeom prst="rect">
            <a:avLst/>
          </a:prstGeom>
          <a:noFill/>
          <a:ln/>
        </p:spPr>
        <p:txBody>
          <a:bodyPr wrap="square" rtlCol="0" anchor="ctr"/>
          <a:lstStyle/>
          <a:p>
            <a:pPr marL="0" indent="0">
              <a:buNone/>
            </a:pPr>
            <a:r>
              <a:rPr lang="en-US" sz="950" b="1">
                <a:solidFill>
                  <a:srgbClr val="0D9488"/>
                </a:solidFill>
              </a:rPr>
              <a:t>PK</a:t>
            </a:r>
            <a:endParaRPr lang="en-US" sz="950"/>
          </a:p>
        </p:txBody>
      </p:sp>
      <p:sp>
        <p:nvSpPr>
          <p:cNvPr id="44" name="Text 42"/>
          <p:cNvSpPr/>
          <p:nvPr/>
        </p:nvSpPr>
        <p:spPr>
          <a:xfrm>
            <a:off x="3218688" y="2011680"/>
            <a:ext cx="960120" cy="292608"/>
          </a:xfrm>
          <a:prstGeom prst="rect">
            <a:avLst/>
          </a:prstGeom>
          <a:noFill/>
          <a:ln/>
        </p:spPr>
        <p:txBody>
          <a:bodyPr wrap="square" rtlCol="0" anchor="ctr"/>
          <a:lstStyle/>
          <a:p>
            <a:pPr marL="0" indent="0">
              <a:buNone/>
            </a:pPr>
            <a:r>
              <a:rPr lang="en-US" sz="1000" b="1">
                <a:solidFill>
                  <a:srgbClr val="1E293B"/>
                </a:solidFill>
              </a:rPr>
              <a:t>productid</a:t>
            </a:r>
            <a:endParaRPr lang="en-US" sz="1000"/>
          </a:p>
        </p:txBody>
      </p:sp>
      <p:sp>
        <p:nvSpPr>
          <p:cNvPr id="45" name="Text 43"/>
          <p:cNvSpPr/>
          <p:nvPr/>
        </p:nvSpPr>
        <p:spPr>
          <a:xfrm>
            <a:off x="4178808" y="2011680"/>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46" name="Text 44"/>
          <p:cNvSpPr/>
          <p:nvPr/>
        </p:nvSpPr>
        <p:spPr>
          <a:xfrm>
            <a:off x="5093208" y="2011680"/>
            <a:ext cx="868680" cy="292608"/>
          </a:xfrm>
          <a:prstGeom prst="rect">
            <a:avLst/>
          </a:prstGeom>
          <a:noFill/>
          <a:ln/>
        </p:spPr>
        <p:txBody>
          <a:bodyPr wrap="square" rtlCol="0" anchor="ctr"/>
          <a:lstStyle/>
          <a:p>
            <a:r>
              <a:rPr lang="en-US" sz="950">
                <a:solidFill>
                  <a:srgbClr val="7C3AED"/>
                </a:solidFill>
              </a:rPr>
              <a:t>FK → Product</a:t>
            </a:r>
            <a:endParaRPr lang="en-US" sz="950"/>
          </a:p>
        </p:txBody>
      </p:sp>
      <p:sp>
        <p:nvSpPr>
          <p:cNvPr id="47" name="Shape 45"/>
          <p:cNvSpPr/>
          <p:nvPr/>
        </p:nvSpPr>
        <p:spPr>
          <a:xfrm>
            <a:off x="3172968" y="2331720"/>
            <a:ext cx="2834640" cy="347472"/>
          </a:xfrm>
          <a:prstGeom prst="rect">
            <a:avLst/>
          </a:prstGeom>
          <a:solidFill>
            <a:srgbClr val="F8FAFC"/>
          </a:solidFill>
          <a:ln/>
        </p:spPr>
      </p:sp>
      <p:sp>
        <p:nvSpPr>
          <p:cNvPr id="48" name="Text 46"/>
          <p:cNvSpPr/>
          <p:nvPr/>
        </p:nvSpPr>
        <p:spPr>
          <a:xfrm>
            <a:off x="3218688" y="2359152"/>
            <a:ext cx="960120" cy="292608"/>
          </a:xfrm>
          <a:prstGeom prst="rect">
            <a:avLst/>
          </a:prstGeom>
          <a:noFill/>
          <a:ln/>
        </p:spPr>
        <p:txBody>
          <a:bodyPr wrap="square" rtlCol="0" anchor="ctr"/>
          <a:lstStyle/>
          <a:p>
            <a:pPr marL="0" indent="0">
              <a:buNone/>
            </a:pPr>
            <a:r>
              <a:rPr lang="en-US" sz="1000" b="1" err="1">
                <a:solidFill>
                  <a:srgbClr val="1E293B"/>
                </a:solidFill>
              </a:rPr>
              <a:t>orderid</a:t>
            </a:r>
            <a:endParaRPr lang="en-US" sz="1000"/>
          </a:p>
        </p:txBody>
      </p:sp>
      <p:sp>
        <p:nvSpPr>
          <p:cNvPr id="49" name="Text 47"/>
          <p:cNvSpPr/>
          <p:nvPr/>
        </p:nvSpPr>
        <p:spPr>
          <a:xfrm>
            <a:off x="4178808" y="2359152"/>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50" name="Text 48"/>
          <p:cNvSpPr/>
          <p:nvPr/>
        </p:nvSpPr>
        <p:spPr>
          <a:xfrm>
            <a:off x="5093208" y="2359152"/>
            <a:ext cx="868680" cy="292608"/>
          </a:xfrm>
          <a:prstGeom prst="rect">
            <a:avLst/>
          </a:prstGeom>
          <a:noFill/>
          <a:ln/>
        </p:spPr>
        <p:txBody>
          <a:bodyPr wrap="square" rtlCol="0" anchor="ctr"/>
          <a:lstStyle/>
          <a:p>
            <a:r>
              <a:rPr lang="en-US" sz="950">
                <a:solidFill>
                  <a:srgbClr val="7C3AED"/>
                </a:solidFill>
              </a:rPr>
              <a:t>FK → Order</a:t>
            </a:r>
            <a:endParaRPr lang="en-US" sz="950"/>
          </a:p>
        </p:txBody>
      </p:sp>
      <p:sp>
        <p:nvSpPr>
          <p:cNvPr id="51" name="Text 49"/>
          <p:cNvSpPr/>
          <p:nvPr/>
        </p:nvSpPr>
        <p:spPr>
          <a:xfrm>
            <a:off x="3218688" y="2706624"/>
            <a:ext cx="960120" cy="292608"/>
          </a:xfrm>
          <a:prstGeom prst="rect">
            <a:avLst/>
          </a:prstGeom>
          <a:noFill/>
          <a:ln/>
        </p:spPr>
        <p:txBody>
          <a:bodyPr wrap="square" rtlCol="0" anchor="ctr"/>
          <a:lstStyle/>
          <a:p>
            <a:pPr marL="0" indent="0">
              <a:buNone/>
            </a:pPr>
            <a:r>
              <a:rPr lang="en-US" sz="1000" b="1">
                <a:solidFill>
                  <a:srgbClr val="1E293B"/>
                </a:solidFill>
              </a:rPr>
              <a:t>quantity</a:t>
            </a:r>
            <a:endParaRPr lang="en-US" sz="1000"/>
          </a:p>
        </p:txBody>
      </p:sp>
      <p:sp>
        <p:nvSpPr>
          <p:cNvPr id="52" name="Text 50"/>
          <p:cNvSpPr/>
          <p:nvPr/>
        </p:nvSpPr>
        <p:spPr>
          <a:xfrm>
            <a:off x="4178808" y="2706624"/>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53" name="Text 51"/>
          <p:cNvSpPr/>
          <p:nvPr/>
        </p:nvSpPr>
        <p:spPr>
          <a:xfrm>
            <a:off x="5093208" y="2706624"/>
            <a:ext cx="868680" cy="292608"/>
          </a:xfrm>
          <a:prstGeom prst="rect">
            <a:avLst/>
          </a:prstGeom>
          <a:noFill/>
          <a:ln/>
        </p:spPr>
        <p:txBody>
          <a:bodyPr wrap="square" rtlCol="0" anchor="ctr"/>
          <a:lstStyle/>
          <a:p>
            <a:pPr marL="0" indent="0">
              <a:buNone/>
            </a:pPr>
            <a:r>
              <a:rPr lang="en-US" sz="950">
                <a:solidFill>
                  <a:srgbClr val="64748B"/>
                </a:solidFill>
              </a:rPr>
              <a:t>Not null</a:t>
            </a:r>
            <a:endParaRPr lang="en-US" sz="950"/>
          </a:p>
        </p:txBody>
      </p:sp>
      <p:sp>
        <p:nvSpPr>
          <p:cNvPr id="63" name="Text 61"/>
          <p:cNvSpPr/>
          <p:nvPr/>
        </p:nvSpPr>
        <p:spPr>
          <a:xfrm>
            <a:off x="6236208" y="1051560"/>
            <a:ext cx="2651760" cy="292608"/>
          </a:xfrm>
          <a:prstGeom prst="rect">
            <a:avLst/>
          </a:prstGeom>
          <a:noFill/>
          <a:ln/>
        </p:spPr>
        <p:txBody>
          <a:bodyPr wrap="square" rtlCol="0" anchor="ctr"/>
          <a:lstStyle/>
          <a:p>
            <a:pPr marL="0" indent="0">
              <a:buNone/>
            </a:pPr>
            <a:r>
              <a:rPr lang="en-US" sz="1200" b="1">
                <a:solidFill>
                  <a:srgbClr val="FFFFFF"/>
                </a:solidFill>
              </a:rPr>
              <a:t>Bảng PRODUCT</a:t>
            </a:r>
            <a:endParaRPr lang="en-US" sz="1200"/>
          </a:p>
        </p:txBody>
      </p:sp>
      <p:sp>
        <p:nvSpPr>
          <p:cNvPr id="96" name="Shape 45">
            <a:extLst>
              <a:ext uri="{FF2B5EF4-FFF2-40B4-BE49-F238E27FC236}">
                <a16:creationId xmlns:a16="http://schemas.microsoft.com/office/drawing/2014/main" id="{93DF5D1D-89B2-C768-E6C1-9202B3027BBE}"/>
              </a:ext>
            </a:extLst>
          </p:cNvPr>
          <p:cNvSpPr/>
          <p:nvPr/>
        </p:nvSpPr>
        <p:spPr>
          <a:xfrm>
            <a:off x="201168" y="2935224"/>
            <a:ext cx="2834640" cy="347472"/>
          </a:xfrm>
          <a:prstGeom prst="rect">
            <a:avLst/>
          </a:prstGeom>
          <a:solidFill>
            <a:srgbClr val="F8FAFC"/>
          </a:solidFill>
          <a:ln/>
        </p:spPr>
      </p:sp>
      <p:sp>
        <p:nvSpPr>
          <p:cNvPr id="97" name="Text 53">
            <a:extLst>
              <a:ext uri="{FF2B5EF4-FFF2-40B4-BE49-F238E27FC236}">
                <a16:creationId xmlns:a16="http://schemas.microsoft.com/office/drawing/2014/main" id="{972098E6-F1BD-51BF-CFE4-43C0BE35C894}"/>
              </a:ext>
            </a:extLst>
          </p:cNvPr>
          <p:cNvSpPr/>
          <p:nvPr/>
        </p:nvSpPr>
        <p:spPr>
          <a:xfrm>
            <a:off x="246888" y="2993136"/>
            <a:ext cx="960120" cy="292608"/>
          </a:xfrm>
          <a:prstGeom prst="rect">
            <a:avLst/>
          </a:prstGeom>
          <a:noFill/>
          <a:ln/>
        </p:spPr>
        <p:txBody>
          <a:bodyPr wrap="square" rtlCol="0" anchor="ctr"/>
          <a:lstStyle/>
          <a:p>
            <a:pPr marL="0" indent="0">
              <a:buNone/>
            </a:pPr>
            <a:r>
              <a:rPr lang="en-US" sz="1000" b="1" err="1">
                <a:solidFill>
                  <a:srgbClr val="1E293B"/>
                </a:solidFill>
              </a:rPr>
              <a:t>create_date</a:t>
            </a:r>
            <a:endParaRPr lang="en-US" sz="1000"/>
          </a:p>
        </p:txBody>
      </p:sp>
      <p:sp>
        <p:nvSpPr>
          <p:cNvPr id="98" name="Text 54">
            <a:extLst>
              <a:ext uri="{FF2B5EF4-FFF2-40B4-BE49-F238E27FC236}">
                <a16:creationId xmlns:a16="http://schemas.microsoft.com/office/drawing/2014/main" id="{9924050D-FE11-3812-24B6-959BD4A2C862}"/>
              </a:ext>
            </a:extLst>
          </p:cNvPr>
          <p:cNvSpPr/>
          <p:nvPr/>
        </p:nvSpPr>
        <p:spPr>
          <a:xfrm>
            <a:off x="1207008" y="2980944"/>
            <a:ext cx="914400" cy="292608"/>
          </a:xfrm>
          <a:prstGeom prst="rect">
            <a:avLst/>
          </a:prstGeom>
          <a:noFill/>
          <a:ln/>
        </p:spPr>
        <p:txBody>
          <a:bodyPr wrap="square" rtlCol="0" anchor="ctr"/>
          <a:lstStyle/>
          <a:p>
            <a:pPr marL="0" indent="0">
              <a:buNone/>
            </a:pPr>
            <a:r>
              <a:rPr lang="en-US" sz="950">
                <a:solidFill>
                  <a:srgbClr val="64748B"/>
                </a:solidFill>
              </a:rPr>
              <a:t>Datetime</a:t>
            </a:r>
            <a:endParaRPr lang="en-US" sz="950"/>
          </a:p>
        </p:txBody>
      </p:sp>
      <p:sp>
        <p:nvSpPr>
          <p:cNvPr id="99" name="Text 55">
            <a:extLst>
              <a:ext uri="{FF2B5EF4-FFF2-40B4-BE49-F238E27FC236}">
                <a16:creationId xmlns:a16="http://schemas.microsoft.com/office/drawing/2014/main" id="{29D4D6FF-6836-0A0E-8CEC-5969E404ECD8}"/>
              </a:ext>
            </a:extLst>
          </p:cNvPr>
          <p:cNvSpPr/>
          <p:nvPr/>
        </p:nvSpPr>
        <p:spPr>
          <a:xfrm>
            <a:off x="2121408" y="2999232"/>
            <a:ext cx="868680" cy="292608"/>
          </a:xfrm>
          <a:prstGeom prst="rect">
            <a:avLst/>
          </a:prstGeom>
          <a:noFill/>
          <a:ln/>
        </p:spPr>
        <p:txBody>
          <a:bodyPr wrap="square" rtlCol="0" anchor="ctr"/>
          <a:lstStyle/>
          <a:p>
            <a:pPr marL="0" indent="0">
              <a:buNone/>
            </a:pPr>
            <a:r>
              <a:rPr lang="en-US" sz="950">
                <a:solidFill>
                  <a:srgbClr val="64748B"/>
                </a:solidFill>
              </a:rPr>
              <a:t>Default null</a:t>
            </a:r>
            <a:endParaRPr lang="en-US" sz="950"/>
          </a:p>
        </p:txBody>
      </p:sp>
      <p:sp>
        <p:nvSpPr>
          <p:cNvPr id="100" name="Text 56">
            <a:extLst>
              <a:ext uri="{FF2B5EF4-FFF2-40B4-BE49-F238E27FC236}">
                <a16:creationId xmlns:a16="http://schemas.microsoft.com/office/drawing/2014/main" id="{7CC0274A-BBB2-F1A2-4FB9-C6BD8D13876D}"/>
              </a:ext>
            </a:extLst>
          </p:cNvPr>
          <p:cNvSpPr/>
          <p:nvPr/>
        </p:nvSpPr>
        <p:spPr>
          <a:xfrm>
            <a:off x="246888" y="3291840"/>
            <a:ext cx="960120" cy="292608"/>
          </a:xfrm>
          <a:prstGeom prst="rect">
            <a:avLst/>
          </a:prstGeom>
          <a:noFill/>
          <a:ln/>
        </p:spPr>
        <p:txBody>
          <a:bodyPr wrap="square" rtlCol="0" anchor="ctr"/>
          <a:lstStyle/>
          <a:p>
            <a:pPr marL="0" indent="0">
              <a:buNone/>
            </a:pPr>
            <a:r>
              <a:rPr lang="en-US" sz="1000" b="1" err="1">
                <a:solidFill>
                  <a:srgbClr val="1E293B"/>
                </a:solidFill>
              </a:rPr>
              <a:t>update_date</a:t>
            </a:r>
            <a:endParaRPr lang="en-US" sz="1000"/>
          </a:p>
        </p:txBody>
      </p:sp>
      <p:sp>
        <p:nvSpPr>
          <p:cNvPr id="101" name="Text 57">
            <a:extLst>
              <a:ext uri="{FF2B5EF4-FFF2-40B4-BE49-F238E27FC236}">
                <a16:creationId xmlns:a16="http://schemas.microsoft.com/office/drawing/2014/main" id="{48DF74EB-60BB-D5BD-DB69-96469024F693}"/>
              </a:ext>
            </a:extLst>
          </p:cNvPr>
          <p:cNvSpPr/>
          <p:nvPr/>
        </p:nvSpPr>
        <p:spPr>
          <a:xfrm>
            <a:off x="1207008" y="3326892"/>
            <a:ext cx="914400" cy="292608"/>
          </a:xfrm>
          <a:prstGeom prst="rect">
            <a:avLst/>
          </a:prstGeom>
          <a:noFill/>
          <a:ln/>
        </p:spPr>
        <p:txBody>
          <a:bodyPr wrap="square" rtlCol="0" anchor="ctr"/>
          <a:lstStyle/>
          <a:p>
            <a:pPr marL="0" indent="0">
              <a:buNone/>
            </a:pPr>
            <a:r>
              <a:rPr lang="en-US" sz="950">
                <a:solidFill>
                  <a:srgbClr val="64748B"/>
                </a:solidFill>
              </a:rPr>
              <a:t>Datetime</a:t>
            </a:r>
            <a:endParaRPr lang="en-US" sz="950"/>
          </a:p>
        </p:txBody>
      </p:sp>
      <p:sp>
        <p:nvSpPr>
          <p:cNvPr id="102" name="Text 58">
            <a:extLst>
              <a:ext uri="{FF2B5EF4-FFF2-40B4-BE49-F238E27FC236}">
                <a16:creationId xmlns:a16="http://schemas.microsoft.com/office/drawing/2014/main" id="{280AEA33-D354-68C9-E682-7911A091BC48}"/>
              </a:ext>
            </a:extLst>
          </p:cNvPr>
          <p:cNvSpPr/>
          <p:nvPr/>
        </p:nvSpPr>
        <p:spPr>
          <a:xfrm>
            <a:off x="2121408" y="3332988"/>
            <a:ext cx="868680" cy="292608"/>
          </a:xfrm>
          <a:prstGeom prst="rect">
            <a:avLst/>
          </a:prstGeom>
          <a:noFill/>
          <a:ln/>
        </p:spPr>
        <p:txBody>
          <a:bodyPr wrap="square" rtlCol="0" anchor="ctr"/>
          <a:lstStyle/>
          <a:p>
            <a:pPr marL="0" indent="0">
              <a:buNone/>
            </a:pPr>
            <a:r>
              <a:rPr lang="en-US" sz="950">
                <a:solidFill>
                  <a:srgbClr val="64748B"/>
                </a:solidFill>
              </a:rPr>
              <a:t>Default null</a:t>
            </a:r>
            <a:endParaRPr lang="en-US" sz="950"/>
          </a:p>
        </p:txBody>
      </p:sp>
      <p:sp>
        <p:nvSpPr>
          <p:cNvPr id="103" name="Shape 52">
            <a:extLst>
              <a:ext uri="{FF2B5EF4-FFF2-40B4-BE49-F238E27FC236}">
                <a16:creationId xmlns:a16="http://schemas.microsoft.com/office/drawing/2014/main" id="{E3100B7A-DA4E-201E-C10B-C7736579A377}"/>
              </a:ext>
            </a:extLst>
          </p:cNvPr>
          <p:cNvSpPr/>
          <p:nvPr/>
        </p:nvSpPr>
        <p:spPr>
          <a:xfrm>
            <a:off x="201168" y="3557016"/>
            <a:ext cx="2834640" cy="347472"/>
          </a:xfrm>
          <a:prstGeom prst="rect">
            <a:avLst/>
          </a:prstGeom>
          <a:solidFill>
            <a:srgbClr val="F8FAFC"/>
          </a:solidFill>
          <a:ln/>
        </p:spPr>
      </p:sp>
      <p:sp>
        <p:nvSpPr>
          <p:cNvPr id="104" name="Text 12">
            <a:extLst>
              <a:ext uri="{FF2B5EF4-FFF2-40B4-BE49-F238E27FC236}">
                <a16:creationId xmlns:a16="http://schemas.microsoft.com/office/drawing/2014/main" id="{BDA8A154-7939-E386-C9E5-FC44ED1D1EC5}"/>
              </a:ext>
            </a:extLst>
          </p:cNvPr>
          <p:cNvSpPr/>
          <p:nvPr/>
        </p:nvSpPr>
        <p:spPr>
          <a:xfrm>
            <a:off x="1207008" y="3623310"/>
            <a:ext cx="914400" cy="292608"/>
          </a:xfrm>
          <a:prstGeom prst="rect">
            <a:avLst/>
          </a:prstGeom>
          <a:noFill/>
          <a:ln/>
        </p:spPr>
        <p:txBody>
          <a:bodyPr wrap="square" rtlCol="0" anchor="ctr"/>
          <a:lstStyle/>
          <a:p>
            <a:pPr marL="0" indent="0">
              <a:buNone/>
            </a:pPr>
            <a:r>
              <a:rPr lang="en-US" sz="950">
                <a:solidFill>
                  <a:srgbClr val="64748B"/>
                </a:solidFill>
              </a:rPr>
              <a:t>Int(11)</a:t>
            </a:r>
            <a:endParaRPr lang="en-US" sz="950"/>
          </a:p>
        </p:txBody>
      </p:sp>
      <p:sp>
        <p:nvSpPr>
          <p:cNvPr id="105" name="Text 27">
            <a:extLst>
              <a:ext uri="{FF2B5EF4-FFF2-40B4-BE49-F238E27FC236}">
                <a16:creationId xmlns:a16="http://schemas.microsoft.com/office/drawing/2014/main" id="{556B9264-5B2E-20C0-1B9D-7A283FD53250}"/>
              </a:ext>
            </a:extLst>
          </p:cNvPr>
          <p:cNvSpPr/>
          <p:nvPr/>
        </p:nvSpPr>
        <p:spPr>
          <a:xfrm>
            <a:off x="2121408" y="3630168"/>
            <a:ext cx="868680" cy="292608"/>
          </a:xfrm>
          <a:prstGeom prst="rect">
            <a:avLst/>
          </a:prstGeom>
          <a:noFill/>
          <a:ln/>
        </p:spPr>
        <p:txBody>
          <a:bodyPr wrap="square" rtlCol="0" anchor="ctr"/>
          <a:lstStyle/>
          <a:p>
            <a:pPr marL="0" indent="0">
              <a:buNone/>
            </a:pPr>
            <a:r>
              <a:rPr lang="en-US" sz="950">
                <a:solidFill>
                  <a:srgbClr val="64748B"/>
                </a:solidFill>
              </a:rPr>
              <a:t>Default 1</a:t>
            </a:r>
            <a:endParaRPr lang="en-US" sz="950"/>
          </a:p>
        </p:txBody>
      </p:sp>
      <p:sp>
        <p:nvSpPr>
          <p:cNvPr id="106" name="Text 53">
            <a:extLst>
              <a:ext uri="{FF2B5EF4-FFF2-40B4-BE49-F238E27FC236}">
                <a16:creationId xmlns:a16="http://schemas.microsoft.com/office/drawing/2014/main" id="{C637E8A7-B4B7-B385-3CBA-71C61EB17F07}"/>
              </a:ext>
            </a:extLst>
          </p:cNvPr>
          <p:cNvSpPr/>
          <p:nvPr/>
        </p:nvSpPr>
        <p:spPr>
          <a:xfrm>
            <a:off x="246888" y="3599180"/>
            <a:ext cx="960120" cy="292608"/>
          </a:xfrm>
          <a:prstGeom prst="rect">
            <a:avLst/>
          </a:prstGeom>
          <a:noFill/>
          <a:ln/>
        </p:spPr>
        <p:txBody>
          <a:bodyPr wrap="square" rtlCol="0" anchor="ctr"/>
          <a:lstStyle/>
          <a:p>
            <a:pPr marL="0" indent="0">
              <a:buNone/>
            </a:pPr>
            <a:r>
              <a:rPr lang="en-US" sz="1000" b="1">
                <a:solidFill>
                  <a:srgbClr val="1E293B"/>
                </a:solidFill>
              </a:rPr>
              <a:t>status</a:t>
            </a:r>
            <a:endParaRPr lang="en-US" sz="1000"/>
          </a:p>
        </p:txBody>
      </p:sp>
    </p:spTree>
    <p:extLst>
      <p:ext uri="{BB962C8B-B14F-4D97-AF65-F5344CB8AC3E}">
        <p14:creationId xmlns:p14="http://schemas.microsoft.com/office/powerpoint/2010/main" val="1410850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THIẾT KẾ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Giao Diện Hệ Thống</a:t>
            </a:r>
            <a:endParaRPr lang="en-US" sz="2200"/>
          </a:p>
        </p:txBody>
      </p:sp>
      <p:sp>
        <p:nvSpPr>
          <p:cNvPr id="5" name="Shape 3"/>
          <p:cNvSpPr/>
          <p:nvPr/>
        </p:nvSpPr>
        <p:spPr>
          <a:xfrm>
            <a:off x="274320" y="1005840"/>
            <a:ext cx="4114800" cy="384048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74320" y="1005840"/>
            <a:ext cx="4114800" cy="384048"/>
          </a:xfrm>
          <a:prstGeom prst="rect">
            <a:avLst/>
          </a:prstGeom>
          <a:solidFill>
            <a:srgbClr val="0D9488"/>
          </a:solidFill>
          <a:ln/>
        </p:spPr>
      </p:sp>
      <p:sp>
        <p:nvSpPr>
          <p:cNvPr id="7" name="Text 5"/>
          <p:cNvSpPr/>
          <p:nvPr/>
        </p:nvSpPr>
        <p:spPr>
          <a:xfrm>
            <a:off x="384048" y="1051560"/>
            <a:ext cx="3840480" cy="292608"/>
          </a:xfrm>
          <a:prstGeom prst="rect">
            <a:avLst/>
          </a:prstGeom>
          <a:noFill/>
          <a:ln/>
        </p:spPr>
        <p:txBody>
          <a:bodyPr wrap="square" rtlCol="0" anchor="ctr"/>
          <a:lstStyle/>
          <a:p>
            <a:pPr marL="0" indent="0">
              <a:buNone/>
            </a:pPr>
            <a:r>
              <a:rPr lang="en-US" sz="1200" b="1">
                <a:solidFill>
                  <a:srgbClr val="FFFFFF"/>
                </a:solidFill>
              </a:rPr>
              <a:t>🖥️  GIAO DIỆN NGƯỜI DÙNG</a:t>
            </a:r>
            <a:endParaRPr lang="en-US" sz="1200"/>
          </a:p>
        </p:txBody>
      </p:sp>
      <p:sp>
        <p:nvSpPr>
          <p:cNvPr id="8" name="Text 6"/>
          <p:cNvSpPr/>
          <p:nvPr/>
        </p:nvSpPr>
        <p:spPr>
          <a:xfrm>
            <a:off x="411480" y="1481328"/>
            <a:ext cx="3840480" cy="384048"/>
          </a:xfrm>
          <a:prstGeom prst="rect">
            <a:avLst/>
          </a:prstGeom>
          <a:noFill/>
          <a:ln/>
        </p:spPr>
        <p:txBody>
          <a:bodyPr wrap="square" rtlCol="0" anchor="ctr"/>
          <a:lstStyle/>
          <a:p>
            <a:pPr marL="0" indent="0">
              <a:buNone/>
            </a:pPr>
            <a:r>
              <a:rPr lang="en-US" sz="1150" b="1">
                <a:solidFill>
                  <a:srgbClr val="0D9488"/>
                </a:solidFill>
              </a:rPr>
              <a:t>▸  </a:t>
            </a:r>
            <a:r>
              <a:rPr lang="en-US" sz="1150">
                <a:solidFill>
                  <a:srgbClr val="1E293B"/>
                </a:solidFill>
              </a:rPr>
              <a:t>Trang chủ: banner, sản phẩm nổi bật, bán chạy</a:t>
            </a:r>
            <a:endParaRPr lang="en-US" sz="1150"/>
          </a:p>
        </p:txBody>
      </p:sp>
      <p:sp>
        <p:nvSpPr>
          <p:cNvPr id="9" name="Text 7"/>
          <p:cNvSpPr/>
          <p:nvPr/>
        </p:nvSpPr>
        <p:spPr>
          <a:xfrm>
            <a:off x="411480" y="1901952"/>
            <a:ext cx="3840480" cy="384048"/>
          </a:xfrm>
          <a:prstGeom prst="rect">
            <a:avLst/>
          </a:prstGeom>
          <a:noFill/>
          <a:ln/>
        </p:spPr>
        <p:txBody>
          <a:bodyPr wrap="square" rtlCol="0" anchor="ctr"/>
          <a:lstStyle/>
          <a:p>
            <a:pPr marL="0" indent="0">
              <a:buNone/>
            </a:pPr>
            <a:r>
              <a:rPr lang="en-US" sz="1150" b="1">
                <a:solidFill>
                  <a:srgbClr val="0D9488"/>
                </a:solidFill>
              </a:rPr>
              <a:t>▸  </a:t>
            </a:r>
            <a:r>
              <a:rPr lang="en-US" sz="1150">
                <a:solidFill>
                  <a:srgbClr val="1E293B"/>
                </a:solidFill>
              </a:rPr>
              <a:t>Danh sách sản phẩm theo danh mục</a:t>
            </a:r>
            <a:endParaRPr lang="en-US" sz="1150"/>
          </a:p>
        </p:txBody>
      </p:sp>
      <p:sp>
        <p:nvSpPr>
          <p:cNvPr id="10" name="Text 8"/>
          <p:cNvSpPr/>
          <p:nvPr/>
        </p:nvSpPr>
        <p:spPr>
          <a:xfrm>
            <a:off x="411480" y="2322576"/>
            <a:ext cx="3840480" cy="384048"/>
          </a:xfrm>
          <a:prstGeom prst="rect">
            <a:avLst/>
          </a:prstGeom>
          <a:noFill/>
          <a:ln/>
        </p:spPr>
        <p:txBody>
          <a:bodyPr wrap="square" rtlCol="0" anchor="ctr"/>
          <a:lstStyle/>
          <a:p>
            <a:pPr marL="0" indent="0">
              <a:buNone/>
            </a:pPr>
            <a:r>
              <a:rPr lang="en-US" sz="1150" b="1">
                <a:solidFill>
                  <a:srgbClr val="0D9488"/>
                </a:solidFill>
              </a:rPr>
              <a:t>▸  </a:t>
            </a:r>
            <a:r>
              <a:rPr lang="en-US" sz="1150">
                <a:solidFill>
                  <a:srgbClr val="1E293B"/>
                </a:solidFill>
              </a:rPr>
              <a:t>Trang chi tiết sản phẩm</a:t>
            </a:r>
            <a:endParaRPr lang="en-US" sz="1150"/>
          </a:p>
        </p:txBody>
      </p:sp>
      <p:sp>
        <p:nvSpPr>
          <p:cNvPr id="11" name="Text 9"/>
          <p:cNvSpPr/>
          <p:nvPr/>
        </p:nvSpPr>
        <p:spPr>
          <a:xfrm>
            <a:off x="411480" y="2743200"/>
            <a:ext cx="3840480" cy="384048"/>
          </a:xfrm>
          <a:prstGeom prst="rect">
            <a:avLst/>
          </a:prstGeom>
          <a:noFill/>
          <a:ln/>
        </p:spPr>
        <p:txBody>
          <a:bodyPr wrap="square" rtlCol="0" anchor="ctr"/>
          <a:lstStyle/>
          <a:p>
            <a:pPr marL="0" indent="0">
              <a:buNone/>
            </a:pPr>
            <a:r>
              <a:rPr lang="en-US" sz="1150" b="1">
                <a:solidFill>
                  <a:srgbClr val="0D9488"/>
                </a:solidFill>
              </a:rPr>
              <a:t>▸  </a:t>
            </a:r>
            <a:r>
              <a:rPr lang="en-US" sz="1150">
                <a:solidFill>
                  <a:srgbClr val="1E293B"/>
                </a:solidFill>
              </a:rPr>
              <a:t>Nhãn hàng và footer</a:t>
            </a:r>
            <a:endParaRPr lang="en-US" sz="1150"/>
          </a:p>
        </p:txBody>
      </p:sp>
      <p:sp>
        <p:nvSpPr>
          <p:cNvPr id="12" name="Text 10"/>
          <p:cNvSpPr/>
          <p:nvPr/>
        </p:nvSpPr>
        <p:spPr>
          <a:xfrm>
            <a:off x="411480" y="3163824"/>
            <a:ext cx="3840480" cy="384048"/>
          </a:xfrm>
          <a:prstGeom prst="rect">
            <a:avLst/>
          </a:prstGeom>
          <a:noFill/>
          <a:ln/>
        </p:spPr>
        <p:txBody>
          <a:bodyPr wrap="square" rtlCol="0" anchor="ctr"/>
          <a:lstStyle/>
          <a:p>
            <a:pPr marL="0" indent="0">
              <a:buNone/>
            </a:pPr>
            <a:r>
              <a:rPr lang="en-US" sz="1150" b="1">
                <a:solidFill>
                  <a:srgbClr val="0D9488"/>
                </a:solidFill>
              </a:rPr>
              <a:t>▸  </a:t>
            </a:r>
            <a:r>
              <a:rPr lang="en-US" sz="1150">
                <a:solidFill>
                  <a:srgbClr val="1E293B"/>
                </a:solidFill>
              </a:rPr>
              <a:t>Giỏ hàng &amp; thanh toán</a:t>
            </a:r>
            <a:endParaRPr lang="en-US" sz="1150"/>
          </a:p>
        </p:txBody>
      </p:sp>
      <p:sp>
        <p:nvSpPr>
          <p:cNvPr id="13" name="Text 11"/>
          <p:cNvSpPr/>
          <p:nvPr/>
        </p:nvSpPr>
        <p:spPr>
          <a:xfrm>
            <a:off x="411480" y="3584448"/>
            <a:ext cx="3840480" cy="384048"/>
          </a:xfrm>
          <a:prstGeom prst="rect">
            <a:avLst/>
          </a:prstGeom>
          <a:noFill/>
          <a:ln/>
        </p:spPr>
        <p:txBody>
          <a:bodyPr wrap="square" rtlCol="0" anchor="ctr"/>
          <a:lstStyle/>
          <a:p>
            <a:pPr marL="0" indent="0">
              <a:buNone/>
            </a:pPr>
            <a:r>
              <a:rPr lang="en-US" sz="1150" b="1">
                <a:solidFill>
                  <a:srgbClr val="0D9488"/>
                </a:solidFill>
              </a:rPr>
              <a:t>▸  </a:t>
            </a:r>
            <a:r>
              <a:rPr lang="en-US" sz="1150">
                <a:solidFill>
                  <a:srgbClr val="1E293B"/>
                </a:solidFill>
              </a:rPr>
              <a:t>Chatbot tư vấn sản phẩm</a:t>
            </a:r>
            <a:endParaRPr lang="en-US" sz="1150"/>
          </a:p>
        </p:txBody>
      </p:sp>
      <p:sp>
        <p:nvSpPr>
          <p:cNvPr id="14" name="Shape 12"/>
          <p:cNvSpPr/>
          <p:nvPr/>
        </p:nvSpPr>
        <p:spPr>
          <a:xfrm>
            <a:off x="4754880" y="1005840"/>
            <a:ext cx="4114800" cy="3840480"/>
          </a:xfrm>
          <a:prstGeom prst="rect">
            <a:avLst/>
          </a:prstGeom>
          <a:solidFill>
            <a:srgbClr val="FFFFFF"/>
          </a:solidFill>
          <a:ln/>
          <a:effectLst>
            <a:outerShdw blurRad="101600" dist="38100" dir="8100000" algn="bl" rotWithShape="0">
              <a:srgbClr val="000000">
                <a:alpha val="18000"/>
              </a:srgbClr>
            </a:outerShdw>
          </a:effectLst>
        </p:spPr>
      </p:sp>
      <p:sp>
        <p:nvSpPr>
          <p:cNvPr id="15" name="Shape 13"/>
          <p:cNvSpPr/>
          <p:nvPr/>
        </p:nvSpPr>
        <p:spPr>
          <a:xfrm>
            <a:off x="4754880" y="1005840"/>
            <a:ext cx="4114800" cy="384048"/>
          </a:xfrm>
          <a:prstGeom prst="rect">
            <a:avLst/>
          </a:prstGeom>
          <a:solidFill>
            <a:srgbClr val="0D1B2A"/>
          </a:solidFill>
          <a:ln/>
        </p:spPr>
      </p:sp>
      <p:sp>
        <p:nvSpPr>
          <p:cNvPr id="16" name="Text 14"/>
          <p:cNvSpPr/>
          <p:nvPr/>
        </p:nvSpPr>
        <p:spPr>
          <a:xfrm>
            <a:off x="4864608" y="1051560"/>
            <a:ext cx="3840480" cy="292608"/>
          </a:xfrm>
          <a:prstGeom prst="rect">
            <a:avLst/>
          </a:prstGeom>
          <a:noFill/>
          <a:ln/>
        </p:spPr>
        <p:txBody>
          <a:bodyPr wrap="square" rtlCol="0" anchor="ctr"/>
          <a:lstStyle/>
          <a:p>
            <a:pPr marL="0" indent="0">
              <a:buNone/>
            </a:pPr>
            <a:r>
              <a:rPr lang="en-US" sz="1200" b="1">
                <a:solidFill>
                  <a:srgbClr val="FFFFFF"/>
                </a:solidFill>
              </a:rPr>
              <a:t>⚙️  GIAO DIỆN QUẢN TRỊ (ADMIN)</a:t>
            </a:r>
            <a:endParaRPr lang="en-US" sz="1200"/>
          </a:p>
        </p:txBody>
      </p:sp>
      <p:sp>
        <p:nvSpPr>
          <p:cNvPr id="17" name="Text 15"/>
          <p:cNvSpPr/>
          <p:nvPr/>
        </p:nvSpPr>
        <p:spPr>
          <a:xfrm>
            <a:off x="4892040" y="1481328"/>
            <a:ext cx="3840480" cy="384048"/>
          </a:xfrm>
          <a:prstGeom prst="rect">
            <a:avLst/>
          </a:prstGeom>
          <a:noFill/>
          <a:ln/>
        </p:spPr>
        <p:txBody>
          <a:bodyPr wrap="square" rtlCol="0" anchor="ctr"/>
          <a:lstStyle/>
          <a:p>
            <a:pPr marL="0" indent="0">
              <a:buNone/>
            </a:pPr>
            <a:r>
              <a:rPr lang="en-US" sz="1150" b="1">
                <a:solidFill>
                  <a:srgbClr val="F59E0B"/>
                </a:solidFill>
              </a:rPr>
              <a:t>▸  </a:t>
            </a:r>
            <a:r>
              <a:rPr lang="en-US" sz="1150">
                <a:solidFill>
                  <a:srgbClr val="1E293B"/>
                </a:solidFill>
              </a:rPr>
              <a:t>Dashboard tổng quan</a:t>
            </a:r>
            <a:endParaRPr lang="en-US" sz="1150"/>
          </a:p>
        </p:txBody>
      </p:sp>
      <p:sp>
        <p:nvSpPr>
          <p:cNvPr id="18" name="Text 16"/>
          <p:cNvSpPr/>
          <p:nvPr/>
        </p:nvSpPr>
        <p:spPr>
          <a:xfrm>
            <a:off x="4892040" y="1901952"/>
            <a:ext cx="3840480" cy="384048"/>
          </a:xfrm>
          <a:prstGeom prst="rect">
            <a:avLst/>
          </a:prstGeom>
          <a:noFill/>
          <a:ln/>
        </p:spPr>
        <p:txBody>
          <a:bodyPr wrap="square" rtlCol="0" anchor="ctr"/>
          <a:lstStyle/>
          <a:p>
            <a:pPr marL="0" indent="0">
              <a:buNone/>
            </a:pPr>
            <a:r>
              <a:rPr lang="en-US" sz="1150" b="1">
                <a:solidFill>
                  <a:srgbClr val="F59E0B"/>
                </a:solidFill>
              </a:rPr>
              <a:t>▸  </a:t>
            </a:r>
            <a:r>
              <a:rPr lang="en-US" sz="1150">
                <a:solidFill>
                  <a:srgbClr val="1E293B"/>
                </a:solidFill>
              </a:rPr>
              <a:t>Quản lý người dùng</a:t>
            </a:r>
            <a:endParaRPr lang="en-US" sz="1150"/>
          </a:p>
        </p:txBody>
      </p:sp>
      <p:sp>
        <p:nvSpPr>
          <p:cNvPr id="19" name="Text 17"/>
          <p:cNvSpPr/>
          <p:nvPr/>
        </p:nvSpPr>
        <p:spPr>
          <a:xfrm>
            <a:off x="4892040" y="2322576"/>
            <a:ext cx="3840480" cy="384048"/>
          </a:xfrm>
          <a:prstGeom prst="rect">
            <a:avLst/>
          </a:prstGeom>
          <a:noFill/>
          <a:ln/>
        </p:spPr>
        <p:txBody>
          <a:bodyPr wrap="square" rtlCol="0" anchor="ctr"/>
          <a:lstStyle/>
          <a:p>
            <a:pPr marL="0" indent="0">
              <a:buNone/>
            </a:pPr>
            <a:r>
              <a:rPr lang="en-US" sz="1150" b="1">
                <a:solidFill>
                  <a:srgbClr val="F59E0B"/>
                </a:solidFill>
              </a:rPr>
              <a:t>▸  </a:t>
            </a:r>
            <a:r>
              <a:rPr lang="en-US" sz="1150">
                <a:solidFill>
                  <a:srgbClr val="1E293B"/>
                </a:solidFill>
              </a:rPr>
              <a:t>Quản lý danh mục sản phẩm</a:t>
            </a:r>
            <a:endParaRPr lang="en-US" sz="1150"/>
          </a:p>
        </p:txBody>
      </p:sp>
      <p:sp>
        <p:nvSpPr>
          <p:cNvPr id="20" name="Text 18"/>
          <p:cNvSpPr/>
          <p:nvPr/>
        </p:nvSpPr>
        <p:spPr>
          <a:xfrm>
            <a:off x="4892040" y="2743200"/>
            <a:ext cx="3840480" cy="384048"/>
          </a:xfrm>
          <a:prstGeom prst="rect">
            <a:avLst/>
          </a:prstGeom>
          <a:noFill/>
          <a:ln/>
        </p:spPr>
        <p:txBody>
          <a:bodyPr wrap="square" rtlCol="0" anchor="ctr"/>
          <a:lstStyle/>
          <a:p>
            <a:pPr marL="0" indent="0">
              <a:buNone/>
            </a:pPr>
            <a:r>
              <a:rPr lang="en-US" sz="1150" b="1">
                <a:solidFill>
                  <a:srgbClr val="F59E0B"/>
                </a:solidFill>
              </a:rPr>
              <a:t>▸  </a:t>
            </a:r>
            <a:r>
              <a:rPr lang="en-US" sz="1150">
                <a:solidFill>
                  <a:srgbClr val="1E293B"/>
                </a:solidFill>
              </a:rPr>
              <a:t>Quản lý sản phẩm (thêm/sửa/xóa)</a:t>
            </a:r>
            <a:endParaRPr lang="en-US" sz="1150"/>
          </a:p>
        </p:txBody>
      </p:sp>
      <p:sp>
        <p:nvSpPr>
          <p:cNvPr id="21" name="Text 19"/>
          <p:cNvSpPr/>
          <p:nvPr/>
        </p:nvSpPr>
        <p:spPr>
          <a:xfrm>
            <a:off x="4892040" y="3163824"/>
            <a:ext cx="3840480" cy="384048"/>
          </a:xfrm>
          <a:prstGeom prst="rect">
            <a:avLst/>
          </a:prstGeom>
          <a:noFill/>
          <a:ln/>
        </p:spPr>
        <p:txBody>
          <a:bodyPr wrap="square" rtlCol="0" anchor="ctr"/>
          <a:lstStyle/>
          <a:p>
            <a:pPr marL="0" indent="0">
              <a:buNone/>
            </a:pPr>
            <a:r>
              <a:rPr lang="en-US" sz="1150" b="1">
                <a:solidFill>
                  <a:srgbClr val="F59E0B"/>
                </a:solidFill>
              </a:rPr>
              <a:t>▸  </a:t>
            </a:r>
            <a:r>
              <a:rPr lang="en-US" sz="1150">
                <a:solidFill>
                  <a:srgbClr val="1E293B"/>
                </a:solidFill>
              </a:rPr>
              <a:t>Quản lý đơn hàng</a:t>
            </a:r>
            <a:endParaRPr lang="en-US" sz="1150"/>
          </a:p>
        </p:txBody>
      </p:sp>
      <p:sp>
        <p:nvSpPr>
          <p:cNvPr id="22" name="Text 20"/>
          <p:cNvSpPr/>
          <p:nvPr/>
        </p:nvSpPr>
        <p:spPr>
          <a:xfrm>
            <a:off x="4892040" y="3584448"/>
            <a:ext cx="3840480" cy="384048"/>
          </a:xfrm>
          <a:prstGeom prst="rect">
            <a:avLst/>
          </a:prstGeom>
          <a:noFill/>
          <a:ln/>
        </p:spPr>
        <p:txBody>
          <a:bodyPr wrap="square" rtlCol="0" anchor="ctr"/>
          <a:lstStyle/>
          <a:p>
            <a:pPr marL="0" indent="0">
              <a:buNone/>
            </a:pPr>
            <a:r>
              <a:rPr lang="en-US" sz="1150" b="1">
                <a:solidFill>
                  <a:srgbClr val="F59E0B"/>
                </a:solidFill>
              </a:rPr>
              <a:t>▸  </a:t>
            </a:r>
            <a:r>
              <a:rPr lang="en-US" sz="1150">
                <a:solidFill>
                  <a:srgbClr val="1E293B"/>
                </a:solidFill>
              </a:rPr>
              <a:t>Chi tiết hóa đơn &amp; chỉnh sửa</a:t>
            </a:r>
            <a:endParaRPr lang="en-US" sz="11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THIẾT KẾ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Giao Diện Hệ Thống</a:t>
            </a:r>
            <a:endParaRPr lang="en-US" sz="2200"/>
          </a:p>
        </p:txBody>
      </p:sp>
      <p:pic>
        <p:nvPicPr>
          <p:cNvPr id="24" name="Picture 23">
            <a:extLst>
              <a:ext uri="{FF2B5EF4-FFF2-40B4-BE49-F238E27FC236}">
                <a16:creationId xmlns:a16="http://schemas.microsoft.com/office/drawing/2014/main" id="{BA970791-09BA-6EB2-E55B-F1E5660C0175}"/>
              </a:ext>
            </a:extLst>
          </p:cNvPr>
          <p:cNvPicPr>
            <a:picLocks noChangeAspect="1"/>
          </p:cNvPicPr>
          <p:nvPr/>
        </p:nvPicPr>
        <p:blipFill>
          <a:blip r:embed="rId3"/>
          <a:stretch>
            <a:fillRect/>
          </a:stretch>
        </p:blipFill>
        <p:spPr>
          <a:xfrm>
            <a:off x="497604" y="1101622"/>
            <a:ext cx="8097756" cy="3950438"/>
          </a:xfrm>
          <a:prstGeom prst="rect">
            <a:avLst/>
          </a:prstGeom>
        </p:spPr>
      </p:pic>
    </p:spTree>
    <p:extLst>
      <p:ext uri="{BB962C8B-B14F-4D97-AF65-F5344CB8AC3E}">
        <p14:creationId xmlns:p14="http://schemas.microsoft.com/office/powerpoint/2010/main" val="2228508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THIẾT KẾ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Giao Diện Hệ Thống</a:t>
            </a:r>
            <a:endParaRPr lang="en-US" sz="2200"/>
          </a:p>
        </p:txBody>
      </p:sp>
      <p:pic>
        <p:nvPicPr>
          <p:cNvPr id="6" name="Picture 5">
            <a:extLst>
              <a:ext uri="{FF2B5EF4-FFF2-40B4-BE49-F238E27FC236}">
                <a16:creationId xmlns:a16="http://schemas.microsoft.com/office/drawing/2014/main" id="{6E5EF72A-A421-778E-6C88-4BD92FFE9CA7}"/>
              </a:ext>
            </a:extLst>
          </p:cNvPr>
          <p:cNvPicPr>
            <a:picLocks noChangeAspect="1"/>
          </p:cNvPicPr>
          <p:nvPr/>
        </p:nvPicPr>
        <p:blipFill>
          <a:blip r:embed="rId3"/>
          <a:stretch>
            <a:fillRect/>
          </a:stretch>
        </p:blipFill>
        <p:spPr>
          <a:xfrm>
            <a:off x="552892" y="914400"/>
            <a:ext cx="8084495" cy="4073071"/>
          </a:xfrm>
          <a:prstGeom prst="rect">
            <a:avLst/>
          </a:prstGeom>
        </p:spPr>
      </p:pic>
    </p:spTree>
    <p:extLst>
      <p:ext uri="{BB962C8B-B14F-4D97-AF65-F5344CB8AC3E}">
        <p14:creationId xmlns:p14="http://schemas.microsoft.com/office/powerpoint/2010/main" val="436607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03  |  THIẾT KẾ HỆ THỐNG</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Giao Diện Hệ Thống</a:t>
            </a:r>
            <a:endParaRPr lang="en-US" sz="2200"/>
          </a:p>
        </p:txBody>
      </p:sp>
      <p:pic>
        <p:nvPicPr>
          <p:cNvPr id="24" name="Picture 23">
            <a:extLst>
              <a:ext uri="{FF2B5EF4-FFF2-40B4-BE49-F238E27FC236}">
                <a16:creationId xmlns:a16="http://schemas.microsoft.com/office/drawing/2014/main" id="{E82A84EB-A164-103C-5ACA-FB5C5BFED7D9}"/>
              </a:ext>
            </a:extLst>
          </p:cNvPr>
          <p:cNvPicPr>
            <a:picLocks noChangeAspect="1"/>
          </p:cNvPicPr>
          <p:nvPr/>
        </p:nvPicPr>
        <p:blipFill>
          <a:blip r:embed="rId3"/>
          <a:stretch>
            <a:fillRect/>
          </a:stretch>
        </p:blipFill>
        <p:spPr>
          <a:xfrm>
            <a:off x="388443" y="914400"/>
            <a:ext cx="8367114" cy="4064406"/>
          </a:xfrm>
          <a:prstGeom prst="rect">
            <a:avLst/>
          </a:prstGeom>
        </p:spPr>
      </p:pic>
    </p:spTree>
    <p:extLst>
      <p:ext uri="{BB962C8B-B14F-4D97-AF65-F5344CB8AC3E}">
        <p14:creationId xmlns:p14="http://schemas.microsoft.com/office/powerpoint/2010/main" val="493123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04  |  XÂY DỰNG CHATBOT</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Kiến Trúc &amp; Luồng Xử Lý ChatBot</a:t>
            </a:r>
            <a:endParaRPr lang="en-US" sz="2200"/>
          </a:p>
        </p:txBody>
      </p:sp>
      <p:sp>
        <p:nvSpPr>
          <p:cNvPr id="5" name="Shape 3"/>
          <p:cNvSpPr/>
          <p:nvPr/>
        </p:nvSpPr>
        <p:spPr>
          <a:xfrm>
            <a:off x="256032" y="1051560"/>
            <a:ext cx="1280160" cy="137160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6" name="Shape 4"/>
          <p:cNvSpPr/>
          <p:nvPr/>
        </p:nvSpPr>
        <p:spPr>
          <a:xfrm>
            <a:off x="256032" y="1051560"/>
            <a:ext cx="1280160" cy="73152"/>
          </a:xfrm>
          <a:prstGeom prst="rect">
            <a:avLst/>
          </a:prstGeom>
          <a:solidFill>
            <a:srgbClr val="0D9488"/>
          </a:solidFill>
          <a:ln/>
        </p:spPr>
      </p:sp>
      <p:sp>
        <p:nvSpPr>
          <p:cNvPr id="7" name="Text 5"/>
          <p:cNvSpPr/>
          <p:nvPr/>
        </p:nvSpPr>
        <p:spPr>
          <a:xfrm>
            <a:off x="256032" y="1143000"/>
            <a:ext cx="12801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8" name="Text 6"/>
          <p:cNvSpPr/>
          <p:nvPr/>
        </p:nvSpPr>
        <p:spPr>
          <a:xfrm>
            <a:off x="256032" y="1490472"/>
            <a:ext cx="1280160" cy="329184"/>
          </a:xfrm>
          <a:prstGeom prst="rect">
            <a:avLst/>
          </a:prstGeom>
          <a:noFill/>
          <a:ln/>
        </p:spPr>
        <p:txBody>
          <a:bodyPr wrap="square" rtlCol="0" anchor="ctr"/>
          <a:lstStyle/>
          <a:p>
            <a:pPr marL="0" indent="0" algn="ctr">
              <a:buNone/>
            </a:pPr>
            <a:r>
              <a:rPr lang="en-US" sz="1050" b="1">
                <a:solidFill>
                  <a:srgbClr val="0D1B2A"/>
                </a:solidFill>
              </a:rPr>
              <a:t>ChatBox UI</a:t>
            </a:r>
            <a:endParaRPr lang="en-US" sz="1050"/>
          </a:p>
        </p:txBody>
      </p:sp>
      <p:sp>
        <p:nvSpPr>
          <p:cNvPr id="9" name="Text 7"/>
          <p:cNvSpPr/>
          <p:nvPr/>
        </p:nvSpPr>
        <p:spPr>
          <a:xfrm>
            <a:off x="256032" y="1801368"/>
            <a:ext cx="1280160" cy="502920"/>
          </a:xfrm>
          <a:prstGeom prst="rect">
            <a:avLst/>
          </a:prstGeom>
          <a:noFill/>
          <a:ln/>
        </p:spPr>
        <p:txBody>
          <a:bodyPr wrap="square" rtlCol="0" anchor="ctr"/>
          <a:lstStyle/>
          <a:p>
            <a:pPr marL="0" indent="0" algn="ctr">
              <a:buNone/>
            </a:pPr>
            <a:r>
              <a:rPr lang="en-US" sz="950">
                <a:solidFill>
                  <a:srgbClr val="64748B"/>
                </a:solidFill>
              </a:rPr>
              <a:t>Giao diện</a:t>
            </a:r>
            <a:endParaRPr lang="en-US" sz="950"/>
          </a:p>
          <a:p>
            <a:pPr marL="0" indent="0" algn="ctr">
              <a:buNone/>
            </a:pPr>
            <a:r>
              <a:rPr lang="en-US" sz="950">
                <a:solidFill>
                  <a:srgbClr val="64748B"/>
                </a:solidFill>
              </a:rPr>
              <a:t>nhập tin nhắn</a:t>
            </a:r>
            <a:endParaRPr lang="en-US" sz="950"/>
          </a:p>
        </p:txBody>
      </p:sp>
      <p:sp>
        <p:nvSpPr>
          <p:cNvPr id="10" name="Shape 8"/>
          <p:cNvSpPr/>
          <p:nvPr/>
        </p:nvSpPr>
        <p:spPr>
          <a:xfrm>
            <a:off x="1554480" y="1719072"/>
            <a:ext cx="146304" cy="0"/>
          </a:xfrm>
          <a:prstGeom prst="line">
            <a:avLst/>
          </a:prstGeom>
          <a:noFill/>
          <a:ln w="25400">
            <a:solidFill>
              <a:srgbClr val="0D9488"/>
            </a:solidFill>
            <a:prstDash val="solid"/>
          </a:ln>
        </p:spPr>
      </p:sp>
      <p:sp>
        <p:nvSpPr>
          <p:cNvPr id="11" name="Text 9"/>
          <p:cNvSpPr/>
          <p:nvPr/>
        </p:nvSpPr>
        <p:spPr>
          <a:xfrm>
            <a:off x="1572768" y="1618488"/>
            <a:ext cx="182880" cy="274320"/>
          </a:xfrm>
          <a:prstGeom prst="rect">
            <a:avLst/>
          </a:prstGeom>
          <a:noFill/>
          <a:ln/>
        </p:spPr>
        <p:txBody>
          <a:bodyPr wrap="square" rtlCol="0" anchor="ctr"/>
          <a:lstStyle/>
          <a:p>
            <a:pPr marL="0" indent="0">
              <a:buNone/>
            </a:pPr>
            <a:r>
              <a:rPr lang="en-US" sz="1300">
                <a:solidFill>
                  <a:srgbClr val="0D9488"/>
                </a:solidFill>
              </a:rPr>
              <a:t>▶</a:t>
            </a:r>
            <a:endParaRPr lang="en-US" sz="1300"/>
          </a:p>
        </p:txBody>
      </p:sp>
      <p:sp>
        <p:nvSpPr>
          <p:cNvPr id="12" name="Shape 10"/>
          <p:cNvSpPr/>
          <p:nvPr/>
        </p:nvSpPr>
        <p:spPr>
          <a:xfrm>
            <a:off x="1719072" y="1051560"/>
            <a:ext cx="1280160" cy="137160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13" name="Shape 11"/>
          <p:cNvSpPr/>
          <p:nvPr/>
        </p:nvSpPr>
        <p:spPr>
          <a:xfrm>
            <a:off x="1719072" y="1051560"/>
            <a:ext cx="1280160" cy="73152"/>
          </a:xfrm>
          <a:prstGeom prst="rect">
            <a:avLst/>
          </a:prstGeom>
          <a:solidFill>
            <a:srgbClr val="0D9488"/>
          </a:solidFill>
          <a:ln/>
        </p:spPr>
      </p:sp>
      <p:sp>
        <p:nvSpPr>
          <p:cNvPr id="14" name="Text 12"/>
          <p:cNvSpPr/>
          <p:nvPr/>
        </p:nvSpPr>
        <p:spPr>
          <a:xfrm>
            <a:off x="1719072" y="1143000"/>
            <a:ext cx="12801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15" name="Text 13"/>
          <p:cNvSpPr/>
          <p:nvPr/>
        </p:nvSpPr>
        <p:spPr>
          <a:xfrm>
            <a:off x="1719072" y="1490472"/>
            <a:ext cx="1280160" cy="329184"/>
          </a:xfrm>
          <a:prstGeom prst="rect">
            <a:avLst/>
          </a:prstGeom>
          <a:noFill/>
          <a:ln/>
        </p:spPr>
        <p:txBody>
          <a:bodyPr wrap="square" rtlCol="0" anchor="ctr"/>
          <a:lstStyle/>
          <a:p>
            <a:pPr marL="0" indent="0" algn="ctr">
              <a:buNone/>
            </a:pPr>
            <a:r>
              <a:rPr lang="en-US" sz="1050" b="1">
                <a:solidFill>
                  <a:srgbClr val="0D1B2A"/>
                </a:solidFill>
              </a:rPr>
              <a:t>Xử lý Text</a:t>
            </a:r>
            <a:endParaRPr lang="en-US" sz="1050"/>
          </a:p>
        </p:txBody>
      </p:sp>
      <p:sp>
        <p:nvSpPr>
          <p:cNvPr id="16" name="Text 14"/>
          <p:cNvSpPr/>
          <p:nvPr/>
        </p:nvSpPr>
        <p:spPr>
          <a:xfrm>
            <a:off x="1719072" y="1801368"/>
            <a:ext cx="1280160" cy="502920"/>
          </a:xfrm>
          <a:prstGeom prst="rect">
            <a:avLst/>
          </a:prstGeom>
          <a:noFill/>
          <a:ln/>
        </p:spPr>
        <p:txBody>
          <a:bodyPr wrap="square" rtlCol="0" anchor="ctr"/>
          <a:lstStyle/>
          <a:p>
            <a:pPr marL="0" indent="0" algn="ctr">
              <a:buNone/>
            </a:pPr>
            <a:r>
              <a:rPr lang="en-US" sz="950">
                <a:solidFill>
                  <a:srgbClr val="64748B"/>
                </a:solidFill>
              </a:rPr>
              <a:t>Chuẩn hóa</a:t>
            </a:r>
            <a:endParaRPr lang="en-US" sz="950"/>
          </a:p>
          <a:p>
            <a:pPr marL="0" indent="0" algn="ctr">
              <a:buNone/>
            </a:pPr>
            <a:r>
              <a:rPr lang="en-US" sz="950">
                <a:solidFill>
                  <a:srgbClr val="64748B"/>
                </a:solidFill>
              </a:rPr>
              <a:t>nội dung</a:t>
            </a:r>
            <a:endParaRPr lang="en-US" sz="950"/>
          </a:p>
        </p:txBody>
      </p:sp>
      <p:sp>
        <p:nvSpPr>
          <p:cNvPr id="17" name="Shape 15"/>
          <p:cNvSpPr/>
          <p:nvPr/>
        </p:nvSpPr>
        <p:spPr>
          <a:xfrm>
            <a:off x="3017520" y="1719072"/>
            <a:ext cx="146304" cy="0"/>
          </a:xfrm>
          <a:prstGeom prst="line">
            <a:avLst/>
          </a:prstGeom>
          <a:noFill/>
          <a:ln w="25400">
            <a:solidFill>
              <a:srgbClr val="0D9488"/>
            </a:solidFill>
            <a:prstDash val="solid"/>
          </a:ln>
        </p:spPr>
      </p:sp>
      <p:sp>
        <p:nvSpPr>
          <p:cNvPr id="18" name="Text 16"/>
          <p:cNvSpPr/>
          <p:nvPr/>
        </p:nvSpPr>
        <p:spPr>
          <a:xfrm>
            <a:off x="3035808" y="1618488"/>
            <a:ext cx="182880" cy="274320"/>
          </a:xfrm>
          <a:prstGeom prst="rect">
            <a:avLst/>
          </a:prstGeom>
          <a:noFill/>
          <a:ln/>
        </p:spPr>
        <p:txBody>
          <a:bodyPr wrap="square" rtlCol="0" anchor="ctr"/>
          <a:lstStyle/>
          <a:p>
            <a:pPr marL="0" indent="0">
              <a:buNone/>
            </a:pPr>
            <a:r>
              <a:rPr lang="en-US" sz="1300">
                <a:solidFill>
                  <a:srgbClr val="0D9488"/>
                </a:solidFill>
              </a:rPr>
              <a:t>▶</a:t>
            </a:r>
            <a:endParaRPr lang="en-US" sz="1300"/>
          </a:p>
        </p:txBody>
      </p:sp>
      <p:sp>
        <p:nvSpPr>
          <p:cNvPr id="19" name="Shape 17"/>
          <p:cNvSpPr/>
          <p:nvPr/>
        </p:nvSpPr>
        <p:spPr>
          <a:xfrm>
            <a:off x="3182112" y="1051560"/>
            <a:ext cx="1280160" cy="137160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20" name="Shape 18"/>
          <p:cNvSpPr/>
          <p:nvPr/>
        </p:nvSpPr>
        <p:spPr>
          <a:xfrm>
            <a:off x="3182112" y="1051560"/>
            <a:ext cx="1280160" cy="73152"/>
          </a:xfrm>
          <a:prstGeom prst="rect">
            <a:avLst/>
          </a:prstGeom>
          <a:solidFill>
            <a:srgbClr val="0D9488"/>
          </a:solidFill>
          <a:ln/>
        </p:spPr>
      </p:sp>
      <p:sp>
        <p:nvSpPr>
          <p:cNvPr id="21" name="Text 19"/>
          <p:cNvSpPr/>
          <p:nvPr/>
        </p:nvSpPr>
        <p:spPr>
          <a:xfrm>
            <a:off x="3182112" y="1143000"/>
            <a:ext cx="12801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22" name="Text 20"/>
          <p:cNvSpPr/>
          <p:nvPr/>
        </p:nvSpPr>
        <p:spPr>
          <a:xfrm>
            <a:off x="3182112" y="1490472"/>
            <a:ext cx="1280160" cy="329184"/>
          </a:xfrm>
          <a:prstGeom prst="rect">
            <a:avLst/>
          </a:prstGeom>
          <a:noFill/>
          <a:ln/>
        </p:spPr>
        <p:txBody>
          <a:bodyPr wrap="square" rtlCol="0" anchor="ctr"/>
          <a:lstStyle/>
          <a:p>
            <a:pPr marL="0" indent="0" algn="ctr">
              <a:buNone/>
            </a:pPr>
            <a:r>
              <a:rPr lang="en-US" sz="1050" b="1">
                <a:solidFill>
                  <a:srgbClr val="0D1B2A"/>
                </a:solidFill>
              </a:rPr>
              <a:t>Phân tích</a:t>
            </a:r>
            <a:endParaRPr lang="en-US" sz="1050"/>
          </a:p>
          <a:p>
            <a:pPr marL="0" indent="0" algn="ctr">
              <a:buNone/>
            </a:pPr>
            <a:r>
              <a:rPr lang="en-US" sz="1050" b="1">
                <a:solidFill>
                  <a:srgbClr val="0D1B2A"/>
                </a:solidFill>
              </a:rPr>
              <a:t>Intent</a:t>
            </a:r>
            <a:endParaRPr lang="en-US" sz="1050"/>
          </a:p>
        </p:txBody>
      </p:sp>
      <p:sp>
        <p:nvSpPr>
          <p:cNvPr id="23" name="Text 21"/>
          <p:cNvSpPr/>
          <p:nvPr/>
        </p:nvSpPr>
        <p:spPr>
          <a:xfrm>
            <a:off x="3182112" y="1801368"/>
            <a:ext cx="1280160" cy="502920"/>
          </a:xfrm>
          <a:prstGeom prst="rect">
            <a:avLst/>
          </a:prstGeom>
          <a:noFill/>
          <a:ln/>
        </p:spPr>
        <p:txBody>
          <a:bodyPr wrap="square" rtlCol="0" anchor="ctr"/>
          <a:lstStyle/>
          <a:p>
            <a:pPr marL="0" indent="0" algn="ctr">
              <a:buNone/>
            </a:pPr>
            <a:r>
              <a:rPr lang="en-US" sz="950">
                <a:solidFill>
                  <a:srgbClr val="64748B"/>
                </a:solidFill>
              </a:rPr>
              <a:t>Xác định</a:t>
            </a:r>
            <a:endParaRPr lang="en-US" sz="950"/>
          </a:p>
          <a:p>
            <a:pPr marL="0" indent="0" algn="ctr">
              <a:buNone/>
            </a:pPr>
            <a:r>
              <a:rPr lang="en-US" sz="950">
                <a:solidFill>
                  <a:srgbClr val="64748B"/>
                </a:solidFill>
              </a:rPr>
              <a:t>ý định</a:t>
            </a:r>
            <a:endParaRPr lang="en-US" sz="950"/>
          </a:p>
        </p:txBody>
      </p:sp>
      <p:sp>
        <p:nvSpPr>
          <p:cNvPr id="24" name="Shape 22"/>
          <p:cNvSpPr/>
          <p:nvPr/>
        </p:nvSpPr>
        <p:spPr>
          <a:xfrm>
            <a:off x="4480560" y="1719072"/>
            <a:ext cx="146304" cy="0"/>
          </a:xfrm>
          <a:prstGeom prst="line">
            <a:avLst/>
          </a:prstGeom>
          <a:noFill/>
          <a:ln w="25400">
            <a:solidFill>
              <a:srgbClr val="0D9488"/>
            </a:solidFill>
            <a:prstDash val="solid"/>
          </a:ln>
        </p:spPr>
      </p:sp>
      <p:sp>
        <p:nvSpPr>
          <p:cNvPr id="25" name="Text 23"/>
          <p:cNvSpPr/>
          <p:nvPr/>
        </p:nvSpPr>
        <p:spPr>
          <a:xfrm>
            <a:off x="4498848" y="1618488"/>
            <a:ext cx="182880" cy="274320"/>
          </a:xfrm>
          <a:prstGeom prst="rect">
            <a:avLst/>
          </a:prstGeom>
          <a:noFill/>
          <a:ln/>
        </p:spPr>
        <p:txBody>
          <a:bodyPr wrap="square" rtlCol="0" anchor="ctr"/>
          <a:lstStyle/>
          <a:p>
            <a:pPr marL="0" indent="0">
              <a:buNone/>
            </a:pPr>
            <a:r>
              <a:rPr lang="en-US" sz="1300">
                <a:solidFill>
                  <a:srgbClr val="0D9488"/>
                </a:solidFill>
              </a:rPr>
              <a:t>▶</a:t>
            </a:r>
            <a:endParaRPr lang="en-US" sz="1300"/>
          </a:p>
        </p:txBody>
      </p:sp>
      <p:sp>
        <p:nvSpPr>
          <p:cNvPr id="26" name="Shape 24"/>
          <p:cNvSpPr/>
          <p:nvPr/>
        </p:nvSpPr>
        <p:spPr>
          <a:xfrm>
            <a:off x="4645152" y="1051560"/>
            <a:ext cx="1280160" cy="137160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27" name="Shape 25"/>
          <p:cNvSpPr/>
          <p:nvPr/>
        </p:nvSpPr>
        <p:spPr>
          <a:xfrm>
            <a:off x="4645152" y="1051560"/>
            <a:ext cx="1280160" cy="73152"/>
          </a:xfrm>
          <a:prstGeom prst="rect">
            <a:avLst/>
          </a:prstGeom>
          <a:solidFill>
            <a:srgbClr val="0D9488"/>
          </a:solidFill>
          <a:ln/>
        </p:spPr>
      </p:sp>
      <p:sp>
        <p:nvSpPr>
          <p:cNvPr id="28" name="Text 26"/>
          <p:cNvSpPr/>
          <p:nvPr/>
        </p:nvSpPr>
        <p:spPr>
          <a:xfrm>
            <a:off x="4645152" y="1143000"/>
            <a:ext cx="12801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29" name="Text 27"/>
          <p:cNvSpPr/>
          <p:nvPr/>
        </p:nvSpPr>
        <p:spPr>
          <a:xfrm>
            <a:off x="4645152" y="1490472"/>
            <a:ext cx="1280160" cy="329184"/>
          </a:xfrm>
          <a:prstGeom prst="rect">
            <a:avLst/>
          </a:prstGeom>
          <a:noFill/>
          <a:ln/>
        </p:spPr>
        <p:txBody>
          <a:bodyPr wrap="square" rtlCol="0" anchor="ctr"/>
          <a:lstStyle/>
          <a:p>
            <a:pPr marL="0" indent="0" algn="ctr">
              <a:buNone/>
            </a:pPr>
            <a:r>
              <a:rPr lang="en-US" sz="1050" b="1">
                <a:solidFill>
                  <a:srgbClr val="0D1B2A"/>
                </a:solidFill>
              </a:rPr>
              <a:t>Lấy dữ liệu</a:t>
            </a:r>
            <a:endParaRPr lang="en-US" sz="1050"/>
          </a:p>
        </p:txBody>
      </p:sp>
      <p:sp>
        <p:nvSpPr>
          <p:cNvPr id="30" name="Text 28"/>
          <p:cNvSpPr/>
          <p:nvPr/>
        </p:nvSpPr>
        <p:spPr>
          <a:xfrm>
            <a:off x="4645152" y="1801368"/>
            <a:ext cx="1280160" cy="502920"/>
          </a:xfrm>
          <a:prstGeom prst="rect">
            <a:avLst/>
          </a:prstGeom>
          <a:noFill/>
          <a:ln/>
        </p:spPr>
        <p:txBody>
          <a:bodyPr wrap="square" rtlCol="0" anchor="ctr"/>
          <a:lstStyle/>
          <a:p>
            <a:pPr marL="0" indent="0" algn="ctr">
              <a:buNone/>
            </a:pPr>
            <a:r>
              <a:rPr lang="en-US" sz="950">
                <a:solidFill>
                  <a:srgbClr val="64748B"/>
                </a:solidFill>
              </a:rPr>
              <a:t>FrontEnd</a:t>
            </a:r>
            <a:endParaRPr lang="en-US" sz="950"/>
          </a:p>
          <a:p>
            <a:pPr marL="0" indent="0" algn="ctr">
              <a:buNone/>
            </a:pPr>
            <a:r>
              <a:rPr lang="en-US" sz="950">
                <a:solidFill>
                  <a:srgbClr val="64748B"/>
                </a:solidFill>
              </a:rPr>
              <a:t>Data</a:t>
            </a:r>
            <a:endParaRPr lang="en-US" sz="950"/>
          </a:p>
        </p:txBody>
      </p:sp>
      <p:sp>
        <p:nvSpPr>
          <p:cNvPr id="31" name="Shape 29"/>
          <p:cNvSpPr/>
          <p:nvPr/>
        </p:nvSpPr>
        <p:spPr>
          <a:xfrm>
            <a:off x="5943600" y="1719072"/>
            <a:ext cx="146304" cy="0"/>
          </a:xfrm>
          <a:prstGeom prst="line">
            <a:avLst/>
          </a:prstGeom>
          <a:noFill/>
          <a:ln w="25400">
            <a:solidFill>
              <a:srgbClr val="0D9488"/>
            </a:solidFill>
            <a:prstDash val="solid"/>
          </a:ln>
        </p:spPr>
      </p:sp>
      <p:sp>
        <p:nvSpPr>
          <p:cNvPr id="32" name="Text 30"/>
          <p:cNvSpPr/>
          <p:nvPr/>
        </p:nvSpPr>
        <p:spPr>
          <a:xfrm>
            <a:off x="5961888" y="1618488"/>
            <a:ext cx="182880" cy="274320"/>
          </a:xfrm>
          <a:prstGeom prst="rect">
            <a:avLst/>
          </a:prstGeom>
          <a:noFill/>
          <a:ln/>
        </p:spPr>
        <p:txBody>
          <a:bodyPr wrap="square" rtlCol="0" anchor="ctr"/>
          <a:lstStyle/>
          <a:p>
            <a:pPr marL="0" indent="0">
              <a:buNone/>
            </a:pPr>
            <a:r>
              <a:rPr lang="en-US" sz="1300">
                <a:solidFill>
                  <a:srgbClr val="0D9488"/>
                </a:solidFill>
              </a:rPr>
              <a:t>▶</a:t>
            </a:r>
            <a:endParaRPr lang="en-US" sz="1300"/>
          </a:p>
        </p:txBody>
      </p:sp>
      <p:sp>
        <p:nvSpPr>
          <p:cNvPr id="33" name="Shape 31"/>
          <p:cNvSpPr/>
          <p:nvPr/>
        </p:nvSpPr>
        <p:spPr>
          <a:xfrm>
            <a:off x="6108192" y="1051560"/>
            <a:ext cx="1280160" cy="137160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34" name="Shape 32"/>
          <p:cNvSpPr/>
          <p:nvPr/>
        </p:nvSpPr>
        <p:spPr>
          <a:xfrm>
            <a:off x="6108192" y="1051560"/>
            <a:ext cx="1280160" cy="73152"/>
          </a:xfrm>
          <a:prstGeom prst="rect">
            <a:avLst/>
          </a:prstGeom>
          <a:solidFill>
            <a:srgbClr val="0D9488"/>
          </a:solidFill>
          <a:ln/>
        </p:spPr>
      </p:sp>
      <p:sp>
        <p:nvSpPr>
          <p:cNvPr id="35" name="Text 33"/>
          <p:cNvSpPr/>
          <p:nvPr/>
        </p:nvSpPr>
        <p:spPr>
          <a:xfrm>
            <a:off x="6108192" y="1143000"/>
            <a:ext cx="12801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36" name="Text 34"/>
          <p:cNvSpPr/>
          <p:nvPr/>
        </p:nvSpPr>
        <p:spPr>
          <a:xfrm>
            <a:off x="6108192" y="1490472"/>
            <a:ext cx="1280160" cy="329184"/>
          </a:xfrm>
          <a:prstGeom prst="rect">
            <a:avLst/>
          </a:prstGeom>
          <a:noFill/>
          <a:ln/>
        </p:spPr>
        <p:txBody>
          <a:bodyPr wrap="square" rtlCol="0" anchor="ctr"/>
          <a:lstStyle/>
          <a:p>
            <a:pPr marL="0" indent="0" algn="ctr">
              <a:buNone/>
            </a:pPr>
            <a:r>
              <a:rPr lang="en-US" sz="1050" b="1">
                <a:solidFill>
                  <a:srgbClr val="0D1B2A"/>
                </a:solidFill>
              </a:rPr>
              <a:t>LocalStorage</a:t>
            </a:r>
            <a:endParaRPr lang="en-US" sz="1050"/>
          </a:p>
        </p:txBody>
      </p:sp>
      <p:sp>
        <p:nvSpPr>
          <p:cNvPr id="37" name="Text 35"/>
          <p:cNvSpPr/>
          <p:nvPr/>
        </p:nvSpPr>
        <p:spPr>
          <a:xfrm>
            <a:off x="6108192" y="1801368"/>
            <a:ext cx="1280160" cy="502920"/>
          </a:xfrm>
          <a:prstGeom prst="rect">
            <a:avLst/>
          </a:prstGeom>
          <a:noFill/>
          <a:ln/>
        </p:spPr>
        <p:txBody>
          <a:bodyPr wrap="square" rtlCol="0" anchor="ctr"/>
          <a:lstStyle/>
          <a:p>
            <a:pPr marL="0" indent="0" algn="ctr">
              <a:buNone/>
            </a:pPr>
            <a:r>
              <a:rPr lang="en-US" sz="950">
                <a:solidFill>
                  <a:srgbClr val="64748B"/>
                </a:solidFill>
              </a:rPr>
              <a:t>Lưu hành vi</a:t>
            </a:r>
            <a:endParaRPr lang="en-US" sz="950"/>
          </a:p>
          <a:p>
            <a:pPr marL="0" indent="0" algn="ctr">
              <a:buNone/>
            </a:pPr>
            <a:r>
              <a:rPr lang="en-US" sz="950">
                <a:solidFill>
                  <a:srgbClr val="64748B"/>
                </a:solidFill>
              </a:rPr>
              <a:t>người dùng</a:t>
            </a:r>
            <a:endParaRPr lang="en-US" sz="950"/>
          </a:p>
        </p:txBody>
      </p:sp>
      <p:sp>
        <p:nvSpPr>
          <p:cNvPr id="38" name="Shape 36"/>
          <p:cNvSpPr/>
          <p:nvPr/>
        </p:nvSpPr>
        <p:spPr>
          <a:xfrm>
            <a:off x="7406640" y="1719072"/>
            <a:ext cx="146304" cy="0"/>
          </a:xfrm>
          <a:prstGeom prst="line">
            <a:avLst/>
          </a:prstGeom>
          <a:noFill/>
          <a:ln w="25400">
            <a:solidFill>
              <a:srgbClr val="0D9488"/>
            </a:solidFill>
            <a:prstDash val="solid"/>
          </a:ln>
        </p:spPr>
      </p:sp>
      <p:sp>
        <p:nvSpPr>
          <p:cNvPr id="39" name="Text 37"/>
          <p:cNvSpPr/>
          <p:nvPr/>
        </p:nvSpPr>
        <p:spPr>
          <a:xfrm>
            <a:off x="7424928" y="1618488"/>
            <a:ext cx="182880" cy="274320"/>
          </a:xfrm>
          <a:prstGeom prst="rect">
            <a:avLst/>
          </a:prstGeom>
          <a:noFill/>
          <a:ln/>
        </p:spPr>
        <p:txBody>
          <a:bodyPr wrap="square" rtlCol="0" anchor="ctr"/>
          <a:lstStyle/>
          <a:p>
            <a:pPr marL="0" indent="0">
              <a:buNone/>
            </a:pPr>
            <a:r>
              <a:rPr lang="en-US" sz="1300">
                <a:solidFill>
                  <a:srgbClr val="0D9488"/>
                </a:solidFill>
              </a:rPr>
              <a:t>▶</a:t>
            </a:r>
            <a:endParaRPr lang="en-US" sz="1300"/>
          </a:p>
        </p:txBody>
      </p:sp>
      <p:sp>
        <p:nvSpPr>
          <p:cNvPr id="40" name="Shape 38"/>
          <p:cNvSpPr/>
          <p:nvPr/>
        </p:nvSpPr>
        <p:spPr>
          <a:xfrm>
            <a:off x="7571232" y="1051560"/>
            <a:ext cx="1280160" cy="1371600"/>
          </a:xfrm>
          <a:prstGeom prst="rect">
            <a:avLst/>
          </a:prstGeom>
          <a:solidFill>
            <a:srgbClr val="FFFFFF"/>
          </a:solidFill>
          <a:ln w="6350">
            <a:solidFill>
              <a:srgbClr val="E2E8F0"/>
            </a:solidFill>
            <a:prstDash val="solid"/>
          </a:ln>
          <a:effectLst>
            <a:outerShdw blurRad="101600" dist="38100" dir="8100000" algn="bl" rotWithShape="0">
              <a:srgbClr val="000000">
                <a:alpha val="18000"/>
              </a:srgbClr>
            </a:outerShdw>
          </a:effectLst>
        </p:spPr>
      </p:sp>
      <p:sp>
        <p:nvSpPr>
          <p:cNvPr id="41" name="Shape 39"/>
          <p:cNvSpPr/>
          <p:nvPr/>
        </p:nvSpPr>
        <p:spPr>
          <a:xfrm>
            <a:off x="7571232" y="1051560"/>
            <a:ext cx="1280160" cy="73152"/>
          </a:xfrm>
          <a:prstGeom prst="rect">
            <a:avLst/>
          </a:prstGeom>
          <a:solidFill>
            <a:srgbClr val="0D9488"/>
          </a:solidFill>
          <a:ln/>
        </p:spPr>
      </p:sp>
      <p:sp>
        <p:nvSpPr>
          <p:cNvPr id="42" name="Text 40"/>
          <p:cNvSpPr/>
          <p:nvPr/>
        </p:nvSpPr>
        <p:spPr>
          <a:xfrm>
            <a:off x="7571232" y="1143000"/>
            <a:ext cx="1280160" cy="36576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43" name="Text 41"/>
          <p:cNvSpPr/>
          <p:nvPr/>
        </p:nvSpPr>
        <p:spPr>
          <a:xfrm>
            <a:off x="7571232" y="1490472"/>
            <a:ext cx="1280160" cy="329184"/>
          </a:xfrm>
          <a:prstGeom prst="rect">
            <a:avLst/>
          </a:prstGeom>
          <a:noFill/>
          <a:ln/>
        </p:spPr>
        <p:txBody>
          <a:bodyPr wrap="square" rtlCol="0" anchor="ctr"/>
          <a:lstStyle/>
          <a:p>
            <a:pPr marL="0" indent="0" algn="ctr">
              <a:buNone/>
            </a:pPr>
            <a:r>
              <a:rPr lang="en-US" sz="1050" b="1">
                <a:solidFill>
                  <a:srgbClr val="0D1B2A"/>
                </a:solidFill>
              </a:rPr>
              <a:t>Trả kết quả</a:t>
            </a:r>
            <a:endParaRPr lang="en-US" sz="1050"/>
          </a:p>
        </p:txBody>
      </p:sp>
      <p:sp>
        <p:nvSpPr>
          <p:cNvPr id="44" name="Text 42"/>
          <p:cNvSpPr/>
          <p:nvPr/>
        </p:nvSpPr>
        <p:spPr>
          <a:xfrm>
            <a:off x="7571232" y="1801368"/>
            <a:ext cx="1280160" cy="502920"/>
          </a:xfrm>
          <a:prstGeom prst="rect">
            <a:avLst/>
          </a:prstGeom>
          <a:noFill/>
          <a:ln/>
        </p:spPr>
        <p:txBody>
          <a:bodyPr wrap="square" rtlCol="0" anchor="ctr"/>
          <a:lstStyle/>
          <a:p>
            <a:pPr marL="0" indent="0" algn="ctr">
              <a:buNone/>
            </a:pPr>
            <a:r>
              <a:rPr lang="en-US" sz="950">
                <a:solidFill>
                  <a:srgbClr val="64748B"/>
                </a:solidFill>
              </a:rPr>
              <a:t>Hiển thị</a:t>
            </a:r>
            <a:endParaRPr lang="en-US" sz="950"/>
          </a:p>
          <a:p>
            <a:pPr marL="0" indent="0" algn="ctr">
              <a:buNone/>
            </a:pPr>
            <a:r>
              <a:rPr lang="en-US" sz="950">
                <a:solidFill>
                  <a:srgbClr val="64748B"/>
                </a:solidFill>
              </a:rPr>
              <a:t>phản hồi</a:t>
            </a:r>
            <a:endParaRPr lang="en-US" sz="950"/>
          </a:p>
        </p:txBody>
      </p:sp>
      <p:sp>
        <p:nvSpPr>
          <p:cNvPr id="45" name="Shape 43"/>
          <p:cNvSpPr/>
          <p:nvPr/>
        </p:nvSpPr>
        <p:spPr>
          <a:xfrm>
            <a:off x="274320" y="2606040"/>
            <a:ext cx="8595360" cy="2286000"/>
          </a:xfrm>
          <a:prstGeom prst="rect">
            <a:avLst/>
          </a:prstGeom>
          <a:solidFill>
            <a:srgbClr val="FFFFFF"/>
          </a:solidFill>
          <a:ln/>
          <a:effectLst>
            <a:outerShdw blurRad="101600" dist="38100" dir="8100000" algn="bl" rotWithShape="0">
              <a:srgbClr val="000000">
                <a:alpha val="18000"/>
              </a:srgbClr>
            </a:outerShdw>
          </a:effectLst>
        </p:spPr>
      </p:sp>
      <p:sp>
        <p:nvSpPr>
          <p:cNvPr id="46" name="Shape 44"/>
          <p:cNvSpPr/>
          <p:nvPr/>
        </p:nvSpPr>
        <p:spPr>
          <a:xfrm>
            <a:off x="274320" y="2606040"/>
            <a:ext cx="8595360" cy="347472"/>
          </a:xfrm>
          <a:prstGeom prst="rect">
            <a:avLst/>
          </a:prstGeom>
          <a:solidFill>
            <a:srgbClr val="0D1B2A"/>
          </a:solidFill>
          <a:ln/>
        </p:spPr>
      </p:sp>
      <p:sp>
        <p:nvSpPr>
          <p:cNvPr id="47" name="Text 45"/>
          <p:cNvSpPr/>
          <p:nvPr/>
        </p:nvSpPr>
        <p:spPr>
          <a:xfrm>
            <a:off x="384048" y="2651760"/>
            <a:ext cx="8229600" cy="256032"/>
          </a:xfrm>
          <a:prstGeom prst="rect">
            <a:avLst/>
          </a:prstGeom>
          <a:noFill/>
          <a:ln/>
        </p:spPr>
        <p:txBody>
          <a:bodyPr wrap="square" rtlCol="0" anchor="ctr"/>
          <a:lstStyle/>
          <a:p>
            <a:pPr marL="0" indent="0">
              <a:buNone/>
            </a:pPr>
            <a:r>
              <a:rPr lang="en-US" sz="1200" b="1">
                <a:solidFill>
                  <a:srgbClr val="FFFFFF"/>
                </a:solidFill>
              </a:rPr>
              <a:t>🧩  THÀNH PHẦN CHÍNH</a:t>
            </a:r>
            <a:endParaRPr lang="en-US" sz="1200"/>
          </a:p>
        </p:txBody>
      </p:sp>
      <p:sp>
        <p:nvSpPr>
          <p:cNvPr id="48" name="Shape 46"/>
          <p:cNvSpPr/>
          <p:nvPr/>
        </p:nvSpPr>
        <p:spPr>
          <a:xfrm>
            <a:off x="365760" y="3017520"/>
            <a:ext cx="4114800" cy="731520"/>
          </a:xfrm>
          <a:prstGeom prst="rect">
            <a:avLst/>
          </a:prstGeom>
          <a:solidFill>
            <a:srgbClr val="F0F9FF"/>
          </a:solidFill>
          <a:ln w="3810">
            <a:solidFill>
              <a:srgbClr val="E2E8F0"/>
            </a:solidFill>
            <a:prstDash val="solid"/>
          </a:ln>
        </p:spPr>
      </p:sp>
      <p:sp>
        <p:nvSpPr>
          <p:cNvPr id="49" name="Shape 47"/>
          <p:cNvSpPr/>
          <p:nvPr/>
        </p:nvSpPr>
        <p:spPr>
          <a:xfrm>
            <a:off x="365760" y="3017520"/>
            <a:ext cx="45720" cy="731520"/>
          </a:xfrm>
          <a:prstGeom prst="rect">
            <a:avLst/>
          </a:prstGeom>
          <a:solidFill>
            <a:srgbClr val="0D9488"/>
          </a:solidFill>
          <a:ln/>
        </p:spPr>
      </p:sp>
      <p:sp>
        <p:nvSpPr>
          <p:cNvPr id="50" name="Text 48"/>
          <p:cNvSpPr/>
          <p:nvPr/>
        </p:nvSpPr>
        <p:spPr>
          <a:xfrm>
            <a:off x="411480" y="3044952"/>
            <a:ext cx="3977640" cy="256032"/>
          </a:xfrm>
          <a:prstGeom prst="rect">
            <a:avLst/>
          </a:prstGeom>
          <a:noFill/>
          <a:ln/>
        </p:spPr>
        <p:txBody>
          <a:bodyPr wrap="square" rtlCol="0" anchor="ctr"/>
          <a:lstStyle/>
          <a:p>
            <a:pPr marL="0" indent="0">
              <a:buNone/>
            </a:pPr>
            <a:r>
              <a:rPr lang="en-US" sz="1100" b="1">
                <a:solidFill>
                  <a:srgbClr val="0D9488"/>
                </a:solidFill>
              </a:rPr>
              <a:t>ChatBox Component</a:t>
            </a:r>
            <a:endParaRPr lang="en-US" sz="1100"/>
          </a:p>
        </p:txBody>
      </p:sp>
      <p:sp>
        <p:nvSpPr>
          <p:cNvPr id="51" name="Text 49"/>
          <p:cNvSpPr/>
          <p:nvPr/>
        </p:nvSpPr>
        <p:spPr>
          <a:xfrm>
            <a:off x="411480" y="3319272"/>
            <a:ext cx="3977640" cy="384048"/>
          </a:xfrm>
          <a:prstGeom prst="rect">
            <a:avLst/>
          </a:prstGeom>
          <a:noFill/>
          <a:ln/>
        </p:spPr>
        <p:txBody>
          <a:bodyPr wrap="square" rtlCol="0" anchor="ctr"/>
          <a:lstStyle/>
          <a:p>
            <a:pPr marL="0" indent="0">
              <a:buNone/>
            </a:pPr>
            <a:r>
              <a:rPr lang="en-US" sz="1050">
                <a:solidFill>
                  <a:srgbClr val="1E293B"/>
                </a:solidFill>
              </a:rPr>
              <a:t>Quản lý UI nhập/hiện tin nhắn, useState &amp; useEffect</a:t>
            </a:r>
            <a:endParaRPr lang="en-US" sz="1050"/>
          </a:p>
        </p:txBody>
      </p:sp>
      <p:sp>
        <p:nvSpPr>
          <p:cNvPr id="52" name="Shape 50"/>
          <p:cNvSpPr/>
          <p:nvPr/>
        </p:nvSpPr>
        <p:spPr>
          <a:xfrm>
            <a:off x="4663440" y="3017520"/>
            <a:ext cx="4114800" cy="731520"/>
          </a:xfrm>
          <a:prstGeom prst="rect">
            <a:avLst/>
          </a:prstGeom>
          <a:solidFill>
            <a:srgbClr val="F0F9FF"/>
          </a:solidFill>
          <a:ln w="3810">
            <a:solidFill>
              <a:srgbClr val="E2E8F0"/>
            </a:solidFill>
            <a:prstDash val="solid"/>
          </a:ln>
        </p:spPr>
      </p:sp>
      <p:sp>
        <p:nvSpPr>
          <p:cNvPr id="53" name="Shape 51"/>
          <p:cNvSpPr/>
          <p:nvPr/>
        </p:nvSpPr>
        <p:spPr>
          <a:xfrm>
            <a:off x="4663440" y="3017520"/>
            <a:ext cx="45720" cy="731520"/>
          </a:xfrm>
          <a:prstGeom prst="rect">
            <a:avLst/>
          </a:prstGeom>
          <a:solidFill>
            <a:srgbClr val="0D9488"/>
          </a:solidFill>
          <a:ln/>
        </p:spPr>
      </p:sp>
      <p:sp>
        <p:nvSpPr>
          <p:cNvPr id="54" name="Text 52"/>
          <p:cNvSpPr/>
          <p:nvPr/>
        </p:nvSpPr>
        <p:spPr>
          <a:xfrm>
            <a:off x="4709160" y="3044952"/>
            <a:ext cx="3977640" cy="256032"/>
          </a:xfrm>
          <a:prstGeom prst="rect">
            <a:avLst/>
          </a:prstGeom>
          <a:noFill/>
          <a:ln/>
        </p:spPr>
        <p:txBody>
          <a:bodyPr wrap="square" rtlCol="0" anchor="ctr"/>
          <a:lstStyle/>
          <a:p>
            <a:pPr marL="0" indent="0">
              <a:buNone/>
            </a:pPr>
            <a:r>
              <a:rPr lang="en-US" sz="1100" b="1">
                <a:solidFill>
                  <a:srgbClr val="0D9488"/>
                </a:solidFill>
              </a:rPr>
              <a:t>handleBotResponse()</a:t>
            </a:r>
            <a:endParaRPr lang="en-US" sz="1100"/>
          </a:p>
        </p:txBody>
      </p:sp>
      <p:sp>
        <p:nvSpPr>
          <p:cNvPr id="55" name="Text 53"/>
          <p:cNvSpPr/>
          <p:nvPr/>
        </p:nvSpPr>
        <p:spPr>
          <a:xfrm>
            <a:off x="4709160" y="3319272"/>
            <a:ext cx="3977640" cy="384048"/>
          </a:xfrm>
          <a:prstGeom prst="rect">
            <a:avLst/>
          </a:prstGeom>
          <a:noFill/>
          <a:ln/>
        </p:spPr>
        <p:txBody>
          <a:bodyPr wrap="square" rtlCol="0" anchor="ctr"/>
          <a:lstStyle/>
          <a:p>
            <a:pPr marL="0" indent="0">
              <a:buNone/>
            </a:pPr>
            <a:r>
              <a:rPr lang="en-US" sz="1050">
                <a:solidFill>
                  <a:srgbClr val="1E293B"/>
                </a:solidFill>
              </a:rPr>
              <a:t>Hàm xử lý trung tâm, điều phối toàn bộ logic chatbot</a:t>
            </a:r>
            <a:endParaRPr lang="en-US" sz="1050"/>
          </a:p>
        </p:txBody>
      </p:sp>
      <p:sp>
        <p:nvSpPr>
          <p:cNvPr id="56" name="Shape 54"/>
          <p:cNvSpPr/>
          <p:nvPr/>
        </p:nvSpPr>
        <p:spPr>
          <a:xfrm>
            <a:off x="365760" y="3822192"/>
            <a:ext cx="4114800" cy="731520"/>
          </a:xfrm>
          <a:prstGeom prst="rect">
            <a:avLst/>
          </a:prstGeom>
          <a:solidFill>
            <a:srgbClr val="F0F9FF"/>
          </a:solidFill>
          <a:ln w="3810">
            <a:solidFill>
              <a:srgbClr val="E2E8F0"/>
            </a:solidFill>
            <a:prstDash val="solid"/>
          </a:ln>
        </p:spPr>
      </p:sp>
      <p:sp>
        <p:nvSpPr>
          <p:cNvPr id="57" name="Shape 55"/>
          <p:cNvSpPr/>
          <p:nvPr/>
        </p:nvSpPr>
        <p:spPr>
          <a:xfrm>
            <a:off x="365760" y="3822192"/>
            <a:ext cx="45720" cy="731520"/>
          </a:xfrm>
          <a:prstGeom prst="rect">
            <a:avLst/>
          </a:prstGeom>
          <a:solidFill>
            <a:srgbClr val="0D9488"/>
          </a:solidFill>
          <a:ln/>
        </p:spPr>
      </p:sp>
      <p:sp>
        <p:nvSpPr>
          <p:cNvPr id="58" name="Text 56"/>
          <p:cNvSpPr/>
          <p:nvPr/>
        </p:nvSpPr>
        <p:spPr>
          <a:xfrm>
            <a:off x="411480" y="3849624"/>
            <a:ext cx="3977640" cy="256032"/>
          </a:xfrm>
          <a:prstGeom prst="rect">
            <a:avLst/>
          </a:prstGeom>
          <a:noFill/>
          <a:ln/>
        </p:spPr>
        <p:txBody>
          <a:bodyPr wrap="square" rtlCol="0" anchor="ctr"/>
          <a:lstStyle/>
          <a:p>
            <a:pPr marL="0" indent="0">
              <a:buNone/>
            </a:pPr>
            <a:r>
              <a:rPr lang="en-US" sz="1100" b="1">
                <a:solidFill>
                  <a:srgbClr val="0D9488"/>
                </a:solidFill>
              </a:rPr>
              <a:t>Text Processor</a:t>
            </a:r>
            <a:endParaRPr lang="en-US" sz="1100"/>
          </a:p>
        </p:txBody>
      </p:sp>
      <p:sp>
        <p:nvSpPr>
          <p:cNvPr id="59" name="Text 57"/>
          <p:cNvSpPr/>
          <p:nvPr/>
        </p:nvSpPr>
        <p:spPr>
          <a:xfrm>
            <a:off x="411480" y="4123944"/>
            <a:ext cx="3977640" cy="384048"/>
          </a:xfrm>
          <a:prstGeom prst="rect">
            <a:avLst/>
          </a:prstGeom>
          <a:noFill/>
          <a:ln/>
        </p:spPr>
        <p:txBody>
          <a:bodyPr wrap="square" rtlCol="0" anchor="ctr"/>
          <a:lstStyle/>
          <a:p>
            <a:pPr marL="0" indent="0">
              <a:buNone/>
            </a:pPr>
            <a:r>
              <a:rPr lang="en-US" sz="1050">
                <a:solidFill>
                  <a:srgbClr val="1E293B"/>
                </a:solidFill>
              </a:rPr>
              <a:t>Chuẩn hóa lowercase, loại ký tự đặc biệt, chuẩn hóa tiếng Việt</a:t>
            </a:r>
            <a:endParaRPr lang="en-US" sz="1050"/>
          </a:p>
        </p:txBody>
      </p:sp>
      <p:sp>
        <p:nvSpPr>
          <p:cNvPr id="60" name="Shape 58"/>
          <p:cNvSpPr/>
          <p:nvPr/>
        </p:nvSpPr>
        <p:spPr>
          <a:xfrm>
            <a:off x="4663440" y="3822192"/>
            <a:ext cx="4114800" cy="731520"/>
          </a:xfrm>
          <a:prstGeom prst="rect">
            <a:avLst/>
          </a:prstGeom>
          <a:solidFill>
            <a:srgbClr val="F0F9FF"/>
          </a:solidFill>
          <a:ln w="3810">
            <a:solidFill>
              <a:srgbClr val="E2E8F0"/>
            </a:solidFill>
            <a:prstDash val="solid"/>
          </a:ln>
        </p:spPr>
      </p:sp>
      <p:sp>
        <p:nvSpPr>
          <p:cNvPr id="61" name="Shape 59"/>
          <p:cNvSpPr/>
          <p:nvPr/>
        </p:nvSpPr>
        <p:spPr>
          <a:xfrm>
            <a:off x="4663440" y="3822192"/>
            <a:ext cx="45720" cy="731520"/>
          </a:xfrm>
          <a:prstGeom prst="rect">
            <a:avLst/>
          </a:prstGeom>
          <a:solidFill>
            <a:srgbClr val="0D9488"/>
          </a:solidFill>
          <a:ln/>
        </p:spPr>
      </p:sp>
      <p:sp>
        <p:nvSpPr>
          <p:cNvPr id="62" name="Text 60"/>
          <p:cNvSpPr/>
          <p:nvPr/>
        </p:nvSpPr>
        <p:spPr>
          <a:xfrm>
            <a:off x="4709160" y="3849624"/>
            <a:ext cx="3977640" cy="256032"/>
          </a:xfrm>
          <a:prstGeom prst="rect">
            <a:avLst/>
          </a:prstGeom>
          <a:noFill/>
          <a:ln/>
        </p:spPr>
        <p:txBody>
          <a:bodyPr wrap="square" rtlCol="0" anchor="ctr"/>
          <a:lstStyle/>
          <a:p>
            <a:pPr marL="0" indent="0">
              <a:buNone/>
            </a:pPr>
            <a:r>
              <a:rPr lang="en-US" sz="1100" b="1">
                <a:solidFill>
                  <a:srgbClr val="0D9488"/>
                </a:solidFill>
              </a:rPr>
              <a:t>Phân Loại ý định</a:t>
            </a:r>
            <a:endParaRPr lang="en-US" sz="1100"/>
          </a:p>
        </p:txBody>
      </p:sp>
      <p:sp>
        <p:nvSpPr>
          <p:cNvPr id="63" name="Text 61"/>
          <p:cNvSpPr/>
          <p:nvPr/>
        </p:nvSpPr>
        <p:spPr>
          <a:xfrm>
            <a:off x="4709160" y="4123944"/>
            <a:ext cx="3977640" cy="384048"/>
          </a:xfrm>
          <a:prstGeom prst="rect">
            <a:avLst/>
          </a:prstGeom>
          <a:noFill/>
          <a:ln/>
        </p:spPr>
        <p:txBody>
          <a:bodyPr wrap="square" rtlCol="0" anchor="ctr"/>
          <a:lstStyle/>
          <a:p>
            <a:pPr marL="0" indent="0">
              <a:buNone/>
            </a:pPr>
            <a:r>
              <a:rPr lang="en-US" sz="1050">
                <a:solidFill>
                  <a:srgbClr val="1E293B"/>
                </a:solidFill>
              </a:rPr>
              <a:t>Rule-based: giá, loại SP, FAQ, bán chạy, mới, gợi ý</a:t>
            </a:r>
            <a:endParaRPr lang="en-US" sz="10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04  |  XÂY DỰNG CHATBOT</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Các Chức Năng Chính</a:t>
            </a:r>
            <a:endParaRPr lang="en-US" sz="2200"/>
          </a:p>
        </p:txBody>
      </p:sp>
      <p:sp>
        <p:nvSpPr>
          <p:cNvPr id="5" name="Shape 3"/>
          <p:cNvSpPr/>
          <p:nvPr/>
        </p:nvSpPr>
        <p:spPr>
          <a:xfrm>
            <a:off x="228600" y="1005840"/>
            <a:ext cx="278892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6" name="Shape 4"/>
          <p:cNvSpPr/>
          <p:nvPr/>
        </p:nvSpPr>
        <p:spPr>
          <a:xfrm>
            <a:off x="228600" y="1005840"/>
            <a:ext cx="64008" cy="1783080"/>
          </a:xfrm>
          <a:prstGeom prst="rect">
            <a:avLst/>
          </a:prstGeom>
          <a:solidFill>
            <a:srgbClr val="0D9488"/>
          </a:solidFill>
          <a:ln/>
        </p:spPr>
      </p:sp>
      <p:sp>
        <p:nvSpPr>
          <p:cNvPr id="7" name="Shape 5"/>
          <p:cNvSpPr/>
          <p:nvPr/>
        </p:nvSpPr>
        <p:spPr>
          <a:xfrm>
            <a:off x="356616" y="1133856"/>
            <a:ext cx="457200" cy="457200"/>
          </a:xfrm>
          <a:prstGeom prst="ellipse">
            <a:avLst/>
          </a:prstGeom>
          <a:solidFill>
            <a:srgbClr val="0D9488"/>
          </a:solidFill>
          <a:ln w="12700">
            <a:solidFill>
              <a:srgbClr val="0D9488"/>
            </a:solidFill>
            <a:prstDash val="solid"/>
          </a:ln>
        </p:spPr>
      </p:sp>
      <p:sp>
        <p:nvSpPr>
          <p:cNvPr id="8" name="Text 6"/>
          <p:cNvSpPr/>
          <p:nvPr/>
        </p:nvSpPr>
        <p:spPr>
          <a:xfrm>
            <a:off x="356616" y="1133856"/>
            <a:ext cx="457200" cy="457200"/>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9" name="Text 7"/>
          <p:cNvSpPr/>
          <p:nvPr/>
        </p:nvSpPr>
        <p:spPr>
          <a:xfrm>
            <a:off x="886968" y="1152144"/>
            <a:ext cx="2057400" cy="365760"/>
          </a:xfrm>
          <a:prstGeom prst="rect">
            <a:avLst/>
          </a:prstGeom>
          <a:noFill/>
          <a:ln/>
        </p:spPr>
        <p:txBody>
          <a:bodyPr wrap="square" rtlCol="0" anchor="ctr"/>
          <a:lstStyle/>
          <a:p>
            <a:pPr marL="0" indent="0">
              <a:buNone/>
            </a:pPr>
            <a:r>
              <a:rPr lang="en-US" sz="1200" b="1">
                <a:solidFill>
                  <a:srgbClr val="0D9488"/>
                </a:solidFill>
              </a:rPr>
              <a:t>Trả lời FAQ</a:t>
            </a:r>
            <a:endParaRPr lang="en-US" sz="1200"/>
          </a:p>
        </p:txBody>
      </p:sp>
      <p:sp>
        <p:nvSpPr>
          <p:cNvPr id="10" name="Text 8"/>
          <p:cNvSpPr/>
          <p:nvPr/>
        </p:nvSpPr>
        <p:spPr>
          <a:xfrm>
            <a:off x="356616" y="1682496"/>
            <a:ext cx="2560320" cy="1005840"/>
          </a:xfrm>
          <a:prstGeom prst="rect">
            <a:avLst/>
          </a:prstGeom>
          <a:noFill/>
          <a:ln/>
        </p:spPr>
        <p:txBody>
          <a:bodyPr wrap="square" rtlCol="0" anchor="ctr"/>
          <a:lstStyle/>
          <a:p>
            <a:pPr marL="0" indent="0">
              <a:buNone/>
            </a:pPr>
            <a:r>
              <a:rPr lang="en-US" sz="1400">
                <a:solidFill>
                  <a:srgbClr val="1E293B"/>
                </a:solidFill>
              </a:rPr>
              <a:t>Dữ liệu từ file .txt (câu hỏi–trả lời). Dùng Levenshtein để khớp câu hỏi gần giống nhất.</a:t>
            </a:r>
            <a:endParaRPr lang="en-US" sz="1400"/>
          </a:p>
        </p:txBody>
      </p:sp>
      <p:sp>
        <p:nvSpPr>
          <p:cNvPr id="11" name="Shape 9"/>
          <p:cNvSpPr/>
          <p:nvPr/>
        </p:nvSpPr>
        <p:spPr>
          <a:xfrm>
            <a:off x="3172968" y="1005840"/>
            <a:ext cx="278892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2" name="Shape 10"/>
          <p:cNvSpPr/>
          <p:nvPr/>
        </p:nvSpPr>
        <p:spPr>
          <a:xfrm>
            <a:off x="3172968" y="1005840"/>
            <a:ext cx="64008" cy="1783080"/>
          </a:xfrm>
          <a:prstGeom prst="rect">
            <a:avLst/>
          </a:prstGeom>
          <a:solidFill>
            <a:srgbClr val="0369A1"/>
          </a:solidFill>
          <a:ln/>
        </p:spPr>
      </p:sp>
      <p:sp>
        <p:nvSpPr>
          <p:cNvPr id="13" name="Shape 11"/>
          <p:cNvSpPr/>
          <p:nvPr/>
        </p:nvSpPr>
        <p:spPr>
          <a:xfrm>
            <a:off x="3300984" y="1133856"/>
            <a:ext cx="457200" cy="457200"/>
          </a:xfrm>
          <a:prstGeom prst="ellipse">
            <a:avLst/>
          </a:prstGeom>
          <a:solidFill>
            <a:srgbClr val="0369A1"/>
          </a:solidFill>
          <a:ln w="12700">
            <a:solidFill>
              <a:srgbClr val="0369A1"/>
            </a:solidFill>
            <a:prstDash val="solid"/>
          </a:ln>
        </p:spPr>
      </p:sp>
      <p:sp>
        <p:nvSpPr>
          <p:cNvPr id="14" name="Text 12"/>
          <p:cNvSpPr/>
          <p:nvPr/>
        </p:nvSpPr>
        <p:spPr>
          <a:xfrm>
            <a:off x="3300984" y="1133856"/>
            <a:ext cx="457200" cy="457200"/>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15" name="Text 13"/>
          <p:cNvSpPr/>
          <p:nvPr/>
        </p:nvSpPr>
        <p:spPr>
          <a:xfrm>
            <a:off x="3831336" y="1152144"/>
            <a:ext cx="2057400" cy="365760"/>
          </a:xfrm>
          <a:prstGeom prst="rect">
            <a:avLst/>
          </a:prstGeom>
          <a:noFill/>
          <a:ln/>
        </p:spPr>
        <p:txBody>
          <a:bodyPr wrap="square" rtlCol="0" anchor="ctr"/>
          <a:lstStyle/>
          <a:p>
            <a:pPr marL="0" indent="0">
              <a:buNone/>
            </a:pPr>
            <a:r>
              <a:rPr lang="en-US" sz="1200" b="1">
                <a:solidFill>
                  <a:srgbClr val="0369A1"/>
                </a:solidFill>
              </a:rPr>
              <a:t>Tìm kiếm theo giá</a:t>
            </a:r>
            <a:endParaRPr lang="en-US" sz="1200"/>
          </a:p>
        </p:txBody>
      </p:sp>
      <p:sp>
        <p:nvSpPr>
          <p:cNvPr id="16" name="Text 14"/>
          <p:cNvSpPr/>
          <p:nvPr/>
        </p:nvSpPr>
        <p:spPr>
          <a:xfrm>
            <a:off x="3300984" y="1682496"/>
            <a:ext cx="2560320" cy="1005840"/>
          </a:xfrm>
          <a:prstGeom prst="rect">
            <a:avLst/>
          </a:prstGeom>
          <a:noFill/>
          <a:ln/>
        </p:spPr>
        <p:txBody>
          <a:bodyPr wrap="square" rtlCol="0" anchor="ctr"/>
          <a:lstStyle/>
          <a:p>
            <a:pPr marL="0" indent="0">
              <a:buNone/>
            </a:pPr>
            <a:r>
              <a:rPr lang="en-US" sz="1400">
                <a:solidFill>
                  <a:srgbClr val="1E293B"/>
                </a:solidFill>
              </a:rPr>
              <a:t>Ví dụ: "dưới 300k", "từ 100k đến 500k". Trích xuất số bằng regex, lọc sản phẩm theo khoảng.</a:t>
            </a:r>
            <a:endParaRPr lang="en-US" sz="1400"/>
          </a:p>
        </p:txBody>
      </p:sp>
      <p:sp>
        <p:nvSpPr>
          <p:cNvPr id="17" name="Shape 15"/>
          <p:cNvSpPr/>
          <p:nvPr/>
        </p:nvSpPr>
        <p:spPr>
          <a:xfrm>
            <a:off x="6117336" y="1005840"/>
            <a:ext cx="278892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18" name="Shape 16"/>
          <p:cNvSpPr/>
          <p:nvPr/>
        </p:nvSpPr>
        <p:spPr>
          <a:xfrm>
            <a:off x="6117336" y="1005840"/>
            <a:ext cx="64008" cy="1783080"/>
          </a:xfrm>
          <a:prstGeom prst="rect">
            <a:avLst/>
          </a:prstGeom>
          <a:solidFill>
            <a:srgbClr val="16A34A"/>
          </a:solidFill>
          <a:ln/>
        </p:spPr>
      </p:sp>
      <p:sp>
        <p:nvSpPr>
          <p:cNvPr id="19" name="Shape 17"/>
          <p:cNvSpPr/>
          <p:nvPr/>
        </p:nvSpPr>
        <p:spPr>
          <a:xfrm>
            <a:off x="6245352" y="1133856"/>
            <a:ext cx="457200" cy="457200"/>
          </a:xfrm>
          <a:prstGeom prst="ellipse">
            <a:avLst/>
          </a:prstGeom>
          <a:solidFill>
            <a:srgbClr val="16A34A"/>
          </a:solidFill>
          <a:ln w="12700">
            <a:solidFill>
              <a:srgbClr val="16A34A"/>
            </a:solidFill>
            <a:prstDash val="solid"/>
          </a:ln>
        </p:spPr>
      </p:sp>
      <p:sp>
        <p:nvSpPr>
          <p:cNvPr id="20" name="Text 18"/>
          <p:cNvSpPr/>
          <p:nvPr/>
        </p:nvSpPr>
        <p:spPr>
          <a:xfrm>
            <a:off x="6245352" y="1133856"/>
            <a:ext cx="457200" cy="457200"/>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1" name="Text 19"/>
          <p:cNvSpPr/>
          <p:nvPr/>
        </p:nvSpPr>
        <p:spPr>
          <a:xfrm>
            <a:off x="6775704" y="1152144"/>
            <a:ext cx="2057400" cy="365760"/>
          </a:xfrm>
          <a:prstGeom prst="rect">
            <a:avLst/>
          </a:prstGeom>
          <a:noFill/>
          <a:ln/>
        </p:spPr>
        <p:txBody>
          <a:bodyPr wrap="square" rtlCol="0" anchor="ctr"/>
          <a:lstStyle/>
          <a:p>
            <a:pPr marL="0" indent="0">
              <a:buNone/>
            </a:pPr>
            <a:r>
              <a:rPr lang="en-US" sz="1200" b="1">
                <a:solidFill>
                  <a:srgbClr val="16A34A"/>
                </a:solidFill>
              </a:rPr>
              <a:t>Lọc theo loại SP</a:t>
            </a:r>
            <a:endParaRPr lang="en-US" sz="1200"/>
          </a:p>
        </p:txBody>
      </p:sp>
      <p:sp>
        <p:nvSpPr>
          <p:cNvPr id="22" name="Text 20"/>
          <p:cNvSpPr/>
          <p:nvPr/>
        </p:nvSpPr>
        <p:spPr>
          <a:xfrm>
            <a:off x="6245352" y="1682496"/>
            <a:ext cx="2560320" cy="1005840"/>
          </a:xfrm>
          <a:prstGeom prst="rect">
            <a:avLst/>
          </a:prstGeom>
          <a:noFill/>
          <a:ln/>
        </p:spPr>
        <p:txBody>
          <a:bodyPr wrap="square" rtlCol="0" anchor="ctr"/>
          <a:lstStyle/>
          <a:p>
            <a:pPr marL="0" indent="0">
              <a:buNone/>
            </a:pPr>
            <a:r>
              <a:rPr lang="en-US" sz="1400">
                <a:solidFill>
                  <a:srgbClr val="1E293B"/>
                </a:solidFill>
              </a:rPr>
              <a:t>Hỗ trợ: HG, RG, MG, PG, Figure. Ví dụ: "HG dưới 300k". Kết hợp lọc loại và giá.</a:t>
            </a:r>
            <a:endParaRPr lang="en-US" sz="1400"/>
          </a:p>
        </p:txBody>
      </p:sp>
      <p:sp>
        <p:nvSpPr>
          <p:cNvPr id="23" name="Shape 21"/>
          <p:cNvSpPr/>
          <p:nvPr/>
        </p:nvSpPr>
        <p:spPr>
          <a:xfrm>
            <a:off x="228600" y="2999232"/>
            <a:ext cx="278892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24" name="Shape 22"/>
          <p:cNvSpPr/>
          <p:nvPr/>
        </p:nvSpPr>
        <p:spPr>
          <a:xfrm>
            <a:off x="228600" y="2999232"/>
            <a:ext cx="64008" cy="1783080"/>
          </a:xfrm>
          <a:prstGeom prst="rect">
            <a:avLst/>
          </a:prstGeom>
          <a:solidFill>
            <a:srgbClr val="DC2626"/>
          </a:solidFill>
          <a:ln/>
        </p:spPr>
      </p:sp>
      <p:sp>
        <p:nvSpPr>
          <p:cNvPr id="25" name="Shape 23"/>
          <p:cNvSpPr/>
          <p:nvPr/>
        </p:nvSpPr>
        <p:spPr>
          <a:xfrm>
            <a:off x="356616" y="3127248"/>
            <a:ext cx="457200" cy="457200"/>
          </a:xfrm>
          <a:prstGeom prst="ellipse">
            <a:avLst/>
          </a:prstGeom>
          <a:solidFill>
            <a:srgbClr val="DC2626"/>
          </a:solidFill>
          <a:ln w="12700">
            <a:solidFill>
              <a:srgbClr val="DC2626"/>
            </a:solidFill>
            <a:prstDash val="solid"/>
          </a:ln>
        </p:spPr>
      </p:sp>
      <p:sp>
        <p:nvSpPr>
          <p:cNvPr id="26" name="Text 24"/>
          <p:cNvSpPr/>
          <p:nvPr/>
        </p:nvSpPr>
        <p:spPr>
          <a:xfrm>
            <a:off x="356616" y="3127248"/>
            <a:ext cx="457200" cy="457200"/>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7" name="Text 25"/>
          <p:cNvSpPr/>
          <p:nvPr/>
        </p:nvSpPr>
        <p:spPr>
          <a:xfrm>
            <a:off x="886968" y="3145536"/>
            <a:ext cx="2057400" cy="365760"/>
          </a:xfrm>
          <a:prstGeom prst="rect">
            <a:avLst/>
          </a:prstGeom>
          <a:noFill/>
          <a:ln/>
        </p:spPr>
        <p:txBody>
          <a:bodyPr wrap="square" rtlCol="0" anchor="ctr"/>
          <a:lstStyle/>
          <a:p>
            <a:pPr marL="0" indent="0">
              <a:buNone/>
            </a:pPr>
            <a:r>
              <a:rPr lang="en-US" sz="1200" b="1">
                <a:solidFill>
                  <a:srgbClr val="DC2626"/>
                </a:solidFill>
              </a:rPr>
              <a:t>Sản phẩm bán chạy</a:t>
            </a:r>
            <a:endParaRPr lang="en-US" sz="1200"/>
          </a:p>
        </p:txBody>
      </p:sp>
      <p:sp>
        <p:nvSpPr>
          <p:cNvPr id="28" name="Text 26"/>
          <p:cNvSpPr/>
          <p:nvPr/>
        </p:nvSpPr>
        <p:spPr>
          <a:xfrm>
            <a:off x="356616" y="3675888"/>
            <a:ext cx="2560320" cy="1005840"/>
          </a:xfrm>
          <a:prstGeom prst="rect">
            <a:avLst/>
          </a:prstGeom>
          <a:noFill/>
          <a:ln/>
        </p:spPr>
        <p:txBody>
          <a:bodyPr wrap="square" rtlCol="0" anchor="ctr"/>
          <a:lstStyle/>
          <a:p>
            <a:pPr marL="0" indent="0">
              <a:buNone/>
            </a:pPr>
            <a:r>
              <a:rPr lang="en-US" sz="1200">
                <a:solidFill>
                  <a:srgbClr val="1E293B"/>
                </a:solidFill>
              </a:rPr>
              <a:t>Từ khóa: "bán chạy", "hot", "best seller". Gọi API lấy top sản phẩm bán nhiều nhất</a:t>
            </a:r>
            <a:r>
              <a:rPr lang="en-US" sz="1050">
                <a:solidFill>
                  <a:srgbClr val="1E293B"/>
                </a:solidFill>
              </a:rPr>
              <a:t>.</a:t>
            </a:r>
            <a:endParaRPr lang="en-US" sz="1050"/>
          </a:p>
        </p:txBody>
      </p:sp>
      <p:sp>
        <p:nvSpPr>
          <p:cNvPr id="29" name="Shape 27"/>
          <p:cNvSpPr/>
          <p:nvPr/>
        </p:nvSpPr>
        <p:spPr>
          <a:xfrm>
            <a:off x="3172968" y="2999232"/>
            <a:ext cx="278892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30" name="Shape 28"/>
          <p:cNvSpPr/>
          <p:nvPr/>
        </p:nvSpPr>
        <p:spPr>
          <a:xfrm>
            <a:off x="3172968" y="2999232"/>
            <a:ext cx="64008" cy="1783080"/>
          </a:xfrm>
          <a:prstGeom prst="rect">
            <a:avLst/>
          </a:prstGeom>
          <a:solidFill>
            <a:srgbClr val="7C3AED"/>
          </a:solidFill>
          <a:ln/>
        </p:spPr>
      </p:sp>
      <p:sp>
        <p:nvSpPr>
          <p:cNvPr id="31" name="Shape 29"/>
          <p:cNvSpPr/>
          <p:nvPr/>
        </p:nvSpPr>
        <p:spPr>
          <a:xfrm>
            <a:off x="3300984" y="3127248"/>
            <a:ext cx="457200" cy="457200"/>
          </a:xfrm>
          <a:prstGeom prst="ellipse">
            <a:avLst/>
          </a:prstGeom>
          <a:solidFill>
            <a:srgbClr val="7C3AED"/>
          </a:solidFill>
          <a:ln w="12700">
            <a:solidFill>
              <a:srgbClr val="7C3AED"/>
            </a:solidFill>
            <a:prstDash val="solid"/>
          </a:ln>
        </p:spPr>
      </p:sp>
      <p:sp>
        <p:nvSpPr>
          <p:cNvPr id="32" name="Text 30"/>
          <p:cNvSpPr/>
          <p:nvPr/>
        </p:nvSpPr>
        <p:spPr>
          <a:xfrm>
            <a:off x="3300984" y="3127248"/>
            <a:ext cx="457200" cy="457200"/>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33" name="Text 31"/>
          <p:cNvSpPr/>
          <p:nvPr/>
        </p:nvSpPr>
        <p:spPr>
          <a:xfrm>
            <a:off x="3831336" y="3145536"/>
            <a:ext cx="2057400" cy="365760"/>
          </a:xfrm>
          <a:prstGeom prst="rect">
            <a:avLst/>
          </a:prstGeom>
          <a:noFill/>
          <a:ln/>
        </p:spPr>
        <p:txBody>
          <a:bodyPr wrap="square" rtlCol="0" anchor="ctr"/>
          <a:lstStyle/>
          <a:p>
            <a:pPr marL="0" indent="0">
              <a:buNone/>
            </a:pPr>
            <a:r>
              <a:rPr lang="en-US" sz="1200" b="1">
                <a:solidFill>
                  <a:srgbClr val="7C3AED"/>
                </a:solidFill>
              </a:rPr>
              <a:t>Sản phẩm mới</a:t>
            </a:r>
            <a:endParaRPr lang="en-US" sz="1200"/>
          </a:p>
        </p:txBody>
      </p:sp>
      <p:sp>
        <p:nvSpPr>
          <p:cNvPr id="34" name="Text 32"/>
          <p:cNvSpPr/>
          <p:nvPr/>
        </p:nvSpPr>
        <p:spPr>
          <a:xfrm>
            <a:off x="3300984" y="3675888"/>
            <a:ext cx="2560320" cy="1005840"/>
          </a:xfrm>
          <a:prstGeom prst="rect">
            <a:avLst/>
          </a:prstGeom>
          <a:noFill/>
          <a:ln/>
        </p:spPr>
        <p:txBody>
          <a:bodyPr wrap="square" rtlCol="0" anchor="ctr"/>
          <a:lstStyle/>
          <a:p>
            <a:pPr marL="0" indent="0">
              <a:buNone/>
            </a:pPr>
            <a:r>
              <a:rPr lang="en-US" sz="1400">
                <a:solidFill>
                  <a:srgbClr val="1E293B"/>
                </a:solidFill>
              </a:rPr>
              <a:t>Từ khóa: "mới", "new". Sắp xếp sản phẩm theo ngày tạo, trả về danh sách mới nhất.</a:t>
            </a:r>
            <a:endParaRPr lang="en-US" sz="1400"/>
          </a:p>
        </p:txBody>
      </p:sp>
      <p:sp>
        <p:nvSpPr>
          <p:cNvPr id="35" name="Shape 33"/>
          <p:cNvSpPr/>
          <p:nvPr/>
        </p:nvSpPr>
        <p:spPr>
          <a:xfrm>
            <a:off x="6117336" y="2999232"/>
            <a:ext cx="2788920" cy="1783080"/>
          </a:xfrm>
          <a:prstGeom prst="rect">
            <a:avLst/>
          </a:prstGeom>
          <a:solidFill>
            <a:srgbClr val="FFFFFF"/>
          </a:solidFill>
          <a:ln w="3810">
            <a:solidFill>
              <a:srgbClr val="E2E8F0"/>
            </a:solidFill>
            <a:prstDash val="solid"/>
          </a:ln>
          <a:effectLst>
            <a:outerShdw blurRad="101600" dist="38100" dir="8100000" algn="bl" rotWithShape="0">
              <a:srgbClr val="000000">
                <a:alpha val="18000"/>
              </a:srgbClr>
            </a:outerShdw>
          </a:effectLst>
        </p:spPr>
      </p:sp>
      <p:sp>
        <p:nvSpPr>
          <p:cNvPr id="36" name="Shape 34"/>
          <p:cNvSpPr/>
          <p:nvPr/>
        </p:nvSpPr>
        <p:spPr>
          <a:xfrm>
            <a:off x="6117336" y="2999232"/>
            <a:ext cx="64008" cy="1783080"/>
          </a:xfrm>
          <a:prstGeom prst="rect">
            <a:avLst/>
          </a:prstGeom>
          <a:solidFill>
            <a:srgbClr val="DB2777"/>
          </a:solidFill>
          <a:ln/>
        </p:spPr>
      </p:sp>
      <p:sp>
        <p:nvSpPr>
          <p:cNvPr id="37" name="Shape 35"/>
          <p:cNvSpPr/>
          <p:nvPr/>
        </p:nvSpPr>
        <p:spPr>
          <a:xfrm>
            <a:off x="6245352" y="3127248"/>
            <a:ext cx="457200" cy="457200"/>
          </a:xfrm>
          <a:prstGeom prst="ellipse">
            <a:avLst/>
          </a:prstGeom>
          <a:solidFill>
            <a:srgbClr val="DB2777"/>
          </a:solidFill>
          <a:ln w="12700">
            <a:solidFill>
              <a:srgbClr val="DB2777"/>
            </a:solidFill>
            <a:prstDash val="solid"/>
          </a:ln>
        </p:spPr>
      </p:sp>
      <p:sp>
        <p:nvSpPr>
          <p:cNvPr id="38" name="Text 36"/>
          <p:cNvSpPr/>
          <p:nvPr/>
        </p:nvSpPr>
        <p:spPr>
          <a:xfrm>
            <a:off x="6245352" y="3127248"/>
            <a:ext cx="457200" cy="457200"/>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39" name="Text 37"/>
          <p:cNvSpPr/>
          <p:nvPr/>
        </p:nvSpPr>
        <p:spPr>
          <a:xfrm>
            <a:off x="6775704" y="3145536"/>
            <a:ext cx="2057400" cy="365760"/>
          </a:xfrm>
          <a:prstGeom prst="rect">
            <a:avLst/>
          </a:prstGeom>
          <a:noFill/>
          <a:ln/>
        </p:spPr>
        <p:txBody>
          <a:bodyPr wrap="square" rtlCol="0" anchor="ctr"/>
          <a:lstStyle/>
          <a:p>
            <a:pPr marL="0" indent="0">
              <a:buNone/>
            </a:pPr>
            <a:r>
              <a:rPr lang="en-US" sz="1200" b="1">
                <a:solidFill>
                  <a:srgbClr val="DB2777"/>
                </a:solidFill>
              </a:rPr>
              <a:t>Gợi ý thông minh</a:t>
            </a:r>
            <a:endParaRPr lang="en-US" sz="1200"/>
          </a:p>
        </p:txBody>
      </p:sp>
      <p:sp>
        <p:nvSpPr>
          <p:cNvPr id="40" name="Text 38"/>
          <p:cNvSpPr/>
          <p:nvPr/>
        </p:nvSpPr>
        <p:spPr>
          <a:xfrm>
            <a:off x="6245352" y="3675888"/>
            <a:ext cx="2560320" cy="1005840"/>
          </a:xfrm>
          <a:prstGeom prst="rect">
            <a:avLst/>
          </a:prstGeom>
          <a:noFill/>
          <a:ln/>
        </p:spPr>
        <p:txBody>
          <a:bodyPr wrap="square" rtlCol="0" anchor="ctr"/>
          <a:lstStyle/>
          <a:p>
            <a:pPr marL="0" indent="0">
              <a:buNone/>
            </a:pPr>
            <a:r>
              <a:rPr lang="en-US" sz="1400">
                <a:solidFill>
                  <a:srgbClr val="1E293B"/>
                </a:solidFill>
              </a:rPr>
              <a:t>Dựa trên hành vi người dùng lưu trong localStorage + loại/giá ưa thích. "gợi ý riêng" cho kết quả cá nhân.</a:t>
            </a:r>
            <a:endParaRPr 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04  |  XÂY DỰNG CHATBOT</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Thuật Toán Xử Lý Cốt Lõi</a:t>
            </a:r>
            <a:endParaRPr lang="en-US" sz="2200"/>
          </a:p>
        </p:txBody>
      </p:sp>
      <p:sp>
        <p:nvSpPr>
          <p:cNvPr id="5" name="Shape 3"/>
          <p:cNvSpPr/>
          <p:nvPr/>
        </p:nvSpPr>
        <p:spPr>
          <a:xfrm>
            <a:off x="274320" y="1005840"/>
            <a:ext cx="5029200" cy="404622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74320" y="1005840"/>
            <a:ext cx="5029200" cy="384048"/>
          </a:xfrm>
          <a:prstGeom prst="rect">
            <a:avLst/>
          </a:prstGeom>
          <a:solidFill>
            <a:srgbClr val="0D9488"/>
          </a:solidFill>
          <a:ln/>
        </p:spPr>
      </p:sp>
      <p:sp>
        <p:nvSpPr>
          <p:cNvPr id="7" name="Text 5"/>
          <p:cNvSpPr/>
          <p:nvPr/>
        </p:nvSpPr>
        <p:spPr>
          <a:xfrm>
            <a:off x="384048" y="1051560"/>
            <a:ext cx="4754880" cy="292608"/>
          </a:xfrm>
          <a:prstGeom prst="rect">
            <a:avLst/>
          </a:prstGeom>
          <a:noFill/>
          <a:ln/>
        </p:spPr>
        <p:txBody>
          <a:bodyPr wrap="square" rtlCol="0" anchor="ctr"/>
          <a:lstStyle/>
          <a:p>
            <a:pPr marL="0" indent="0">
              <a:buNone/>
            </a:pPr>
            <a:r>
              <a:rPr lang="en-US" sz="1200" b="1">
                <a:solidFill>
                  <a:srgbClr val="FFFFFF"/>
                </a:solidFill>
              </a:rPr>
              <a:t>📐  Thuật toán Levenshtein Distance</a:t>
            </a:r>
            <a:endParaRPr lang="en-US" sz="1200"/>
          </a:p>
        </p:txBody>
      </p:sp>
      <p:sp>
        <p:nvSpPr>
          <p:cNvPr id="8" name="Text 6"/>
          <p:cNvSpPr/>
          <p:nvPr/>
        </p:nvSpPr>
        <p:spPr>
          <a:xfrm>
            <a:off x="411480" y="1463040"/>
            <a:ext cx="4754880" cy="502920"/>
          </a:xfrm>
          <a:prstGeom prst="rect">
            <a:avLst/>
          </a:prstGeom>
          <a:noFill/>
          <a:ln/>
        </p:spPr>
        <p:txBody>
          <a:bodyPr wrap="square" rtlCol="0" anchor="ctr"/>
          <a:lstStyle/>
          <a:p>
            <a:pPr marL="0" indent="0">
              <a:buNone/>
            </a:pPr>
            <a:r>
              <a:rPr lang="en-US" sz="1150">
                <a:solidFill>
                  <a:srgbClr val="1E293B"/>
                </a:solidFill>
              </a:rPr>
              <a:t>Đo độ tương đồng giữa hai chuỗi ký tự để nhận diện câu hỏi gần giống và xử lý lỗi chính tả.</a:t>
            </a:r>
            <a:endParaRPr lang="en-US" sz="1150"/>
          </a:p>
        </p:txBody>
      </p:sp>
      <p:sp>
        <p:nvSpPr>
          <p:cNvPr id="9" name="Shape 7"/>
          <p:cNvSpPr/>
          <p:nvPr/>
        </p:nvSpPr>
        <p:spPr>
          <a:xfrm>
            <a:off x="365760" y="1883664"/>
            <a:ext cx="4846320" cy="3106550"/>
          </a:xfrm>
          <a:prstGeom prst="rect">
            <a:avLst/>
          </a:prstGeom>
          <a:solidFill>
            <a:srgbClr val="F0F9FF"/>
          </a:solidFill>
          <a:ln w="6350">
            <a:solidFill>
              <a:srgbClr val="E2E8F0"/>
            </a:solidFill>
            <a:prstDash val="solid"/>
          </a:ln>
        </p:spPr>
      </p:sp>
      <mc:AlternateContent xmlns:mc="http://schemas.openxmlformats.org/markup-compatibility/2006" xmlns:a14="http://schemas.microsoft.com/office/drawing/2010/main">
        <mc:Choice Requires="a14">
          <p:sp>
            <p:nvSpPr>
              <p:cNvPr id="10" name="Text 8"/>
              <p:cNvSpPr/>
              <p:nvPr/>
            </p:nvSpPr>
            <p:spPr>
              <a:xfrm>
                <a:off x="-45720" y="2007108"/>
                <a:ext cx="4663440" cy="594360"/>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sSub>
                        <m:sSubPr>
                          <m:ctrlPr>
                            <a:rPr lang="en-US" sz="1000" i="1" smtClean="0">
                              <a:effectLst/>
                              <a:latin typeface="Cambria Math" panose="02040503050406030204" pitchFamily="18" charset="0"/>
                              <a:ea typeface="Times New Roman" panose="02020603050405020304" pitchFamily="18" charset="0"/>
                            </a:rPr>
                          </m:ctrlPr>
                        </m:sSubPr>
                        <m:e>
                          <m:r>
                            <m:rPr>
                              <m:sty m:val="p"/>
                            </m:rPr>
                            <a:rPr lang="en-US" sz="1000">
                              <a:effectLst/>
                              <a:latin typeface="Cambria Math" panose="02040503050406030204" pitchFamily="18" charset="0"/>
                              <a:ea typeface="Times New Roman" panose="02020603050405020304" pitchFamily="18" charset="0"/>
                            </a:rPr>
                            <m:t>lev</m:t>
                          </m:r>
                        </m:e>
                        <m:sub>
                          <m:r>
                            <a:rPr lang="en-US" sz="1000" i="1">
                              <a:effectLst/>
                              <a:latin typeface="Cambria Math" panose="02040503050406030204" pitchFamily="18" charset="0"/>
                              <a:ea typeface="Times New Roman" panose="02020603050405020304" pitchFamily="18" charset="0"/>
                            </a:rPr>
                            <m:t>𝑎</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𝑏</m:t>
                          </m:r>
                        </m:sub>
                      </m:sSub>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e>
                      </m:d>
                      <m:r>
                        <a:rPr lang="en-US" sz="1000">
                          <a:effectLst/>
                          <a:latin typeface="Cambria Math" panose="02040503050406030204" pitchFamily="18" charset="0"/>
                          <a:ea typeface="Times New Roman" panose="02020603050405020304" pitchFamily="18" charset="0"/>
                        </a:rPr>
                        <m:t>=</m:t>
                      </m:r>
                      <m:d>
                        <m:dPr>
                          <m:begChr m:val="{"/>
                          <m:endChr m:val=""/>
                          <m:ctrlPr>
                            <a:rPr lang="en-US" sz="1000" i="1">
                              <a:effectLst/>
                              <a:latin typeface="Cambria Math" panose="02040503050406030204" pitchFamily="18" charset="0"/>
                              <a:ea typeface="Times New Roman" panose="02020603050405020304" pitchFamily="18" charset="0"/>
                            </a:rPr>
                          </m:ctrlPr>
                        </m:dPr>
                        <m:e>
                          <m:m>
                            <m:mPr>
                              <m:plcHide m:val="on"/>
                              <m:mcs>
                                <m:mc>
                                  <m:mcPr>
                                    <m:count m:val="2"/>
                                    <m:mcJc m:val="center"/>
                                  </m:mcPr>
                                </m:mc>
                              </m:mcs>
                              <m:ctrlPr>
                                <a:rPr lang="en-US" sz="1000" i="1">
                                  <a:effectLst/>
                                  <a:latin typeface="Cambria Math" panose="02040503050406030204" pitchFamily="18" charset="0"/>
                                  <a:ea typeface="Times New Roman" panose="02020603050405020304" pitchFamily="18" charset="0"/>
                                </a:rPr>
                              </m:ctrlPr>
                            </m:mPr>
                            <m:mr>
                              <m:e>
                                <m:r>
                                  <m:rPr>
                                    <m:sty m:val="p"/>
                                  </m:rPr>
                                  <a:rPr lang="en-US" sz="1000">
                                    <a:effectLst/>
                                    <a:latin typeface="Cambria Math" panose="02040503050406030204" pitchFamily="18" charset="0"/>
                                    <a:ea typeface="Times New Roman" panose="02020603050405020304" pitchFamily="18" charset="0"/>
                                  </a:rPr>
                                  <m:t>max</m:t>
                                </m:r>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e>
                                </m:d>
                              </m:e>
                              <m:e>
                                <m:r>
                                  <m:rPr>
                                    <m:sty m:val="p"/>
                                  </m:rPr>
                                  <a:rPr lang="en-US" sz="1000">
                                    <a:effectLst/>
                                    <a:latin typeface="Cambria Math" panose="02040503050406030204" pitchFamily="18" charset="0"/>
                                    <a:ea typeface="Times New Roman" panose="02020603050405020304" pitchFamily="18" charset="0"/>
                                  </a:rPr>
                                  <m:t>if</m:t>
                                </m:r>
                                <m:r>
                                  <a:rPr lang="en-US" sz="1000">
                                    <a:effectLst/>
                                    <a:latin typeface="Cambria Math" panose="02040503050406030204" pitchFamily="18" charset="0"/>
                                    <a:ea typeface="Times New Roman" panose="02020603050405020304" pitchFamily="18" charset="0"/>
                                  </a:rPr>
                                  <m:t> </m:t>
                                </m:r>
                                <m:r>
                                  <m:rPr>
                                    <m:sty m:val="p"/>
                                  </m:rPr>
                                  <a:rPr lang="en-US" sz="1000">
                                    <a:effectLst/>
                                    <a:latin typeface="Cambria Math" panose="02040503050406030204" pitchFamily="18" charset="0"/>
                                    <a:ea typeface="Times New Roman" panose="02020603050405020304" pitchFamily="18" charset="0"/>
                                  </a:rPr>
                                  <m:t>min</m:t>
                                </m:r>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e>
                                </m:d>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0</m:t>
                                </m:r>
                                <m:r>
                                  <a:rPr lang="en-US" sz="1000">
                                    <a:effectLst/>
                                    <a:latin typeface="Cambria Math" panose="02040503050406030204" pitchFamily="18" charset="0"/>
                                    <a:ea typeface="Times New Roman" panose="02020603050405020304" pitchFamily="18" charset="0"/>
                                  </a:rPr>
                                  <m:t>,</m:t>
                                </m:r>
                              </m:e>
                            </m:mr>
                            <m:mr>
                              <m:e>
                                <m:r>
                                  <m:rPr>
                                    <m:sty m:val="p"/>
                                  </m:rPr>
                                  <a:rPr lang="en-US" sz="1000">
                                    <a:effectLst/>
                                    <a:latin typeface="Cambria Math" panose="02040503050406030204" pitchFamily="18" charset="0"/>
                                    <a:ea typeface="Times New Roman" panose="02020603050405020304" pitchFamily="18" charset="0"/>
                                  </a:rPr>
                                  <m:t>min</m:t>
                                </m:r>
                                <m:d>
                                  <m:dPr>
                                    <m:begChr m:val="{"/>
                                    <m:endChr m:val=""/>
                                    <m:ctrlPr>
                                      <a:rPr lang="en-US" sz="1000" i="1">
                                        <a:effectLst/>
                                        <a:latin typeface="Cambria Math" panose="02040503050406030204" pitchFamily="18" charset="0"/>
                                        <a:ea typeface="Times New Roman" panose="02020603050405020304" pitchFamily="18" charset="0"/>
                                      </a:rPr>
                                    </m:ctrlPr>
                                  </m:dPr>
                                  <m:e>
                                    <m:m>
                                      <m:mPr>
                                        <m:plcHide m:val="on"/>
                                        <m:mcs>
                                          <m:mc>
                                            <m:mcPr>
                                              <m:count m:val="1"/>
                                              <m:mcJc m:val="center"/>
                                            </m:mcPr>
                                          </m:mc>
                                        </m:mcs>
                                        <m:ctrlPr>
                                          <a:rPr lang="en-US" sz="1000" i="1">
                                            <a:effectLst/>
                                            <a:latin typeface="Cambria Math" panose="02040503050406030204" pitchFamily="18" charset="0"/>
                                            <a:ea typeface="Times New Roman" panose="02020603050405020304" pitchFamily="18" charset="0"/>
                                          </a:rPr>
                                        </m:ctrlPr>
                                      </m:mPr>
                                      <m:mr>
                                        <m:e>
                                          <m:sSub>
                                            <m:sSubPr>
                                              <m:ctrlPr>
                                                <a:rPr lang="en-US" sz="1000" i="1">
                                                  <a:effectLst/>
                                                  <a:latin typeface="Cambria Math" panose="02040503050406030204" pitchFamily="18" charset="0"/>
                                                  <a:ea typeface="Times New Roman" panose="02020603050405020304" pitchFamily="18" charset="0"/>
                                                </a:rPr>
                                              </m:ctrlPr>
                                            </m:sSubPr>
                                            <m:e>
                                              <m:r>
                                                <m:rPr>
                                                  <m:sty m:val="p"/>
                                                </m:rPr>
                                                <a:rPr lang="en-US" sz="1000">
                                                  <a:effectLst/>
                                                  <a:latin typeface="Cambria Math" panose="02040503050406030204" pitchFamily="18" charset="0"/>
                                                  <a:ea typeface="Times New Roman" panose="02020603050405020304" pitchFamily="18" charset="0"/>
                                                </a:rPr>
                                                <m:t>lev</m:t>
                                              </m:r>
                                            </m:e>
                                            <m:sub>
                                              <m:r>
                                                <a:rPr lang="en-US" sz="1000" i="1">
                                                  <a:effectLst/>
                                                  <a:latin typeface="Cambria Math" panose="02040503050406030204" pitchFamily="18" charset="0"/>
                                                  <a:ea typeface="Times New Roman" panose="02020603050405020304" pitchFamily="18" charset="0"/>
                                                </a:rPr>
                                                <m:t>𝑎</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𝑏</m:t>
                                              </m:r>
                                            </m:sub>
                                          </m:sSub>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i="1">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e>
                                          </m:d>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e>
                                      </m:mr>
                                      <m:mr>
                                        <m:e>
                                          <m:sSub>
                                            <m:sSubPr>
                                              <m:ctrlPr>
                                                <a:rPr lang="en-US" sz="1000" i="1">
                                                  <a:effectLst/>
                                                  <a:latin typeface="Cambria Math" panose="02040503050406030204" pitchFamily="18" charset="0"/>
                                                  <a:ea typeface="Times New Roman" panose="02020603050405020304" pitchFamily="18" charset="0"/>
                                                </a:rPr>
                                              </m:ctrlPr>
                                            </m:sSubPr>
                                            <m:e>
                                              <m:r>
                                                <m:rPr>
                                                  <m:sty m:val="p"/>
                                                </m:rPr>
                                                <a:rPr lang="en-US" sz="1000">
                                                  <a:effectLst/>
                                                  <a:latin typeface="Cambria Math" panose="02040503050406030204" pitchFamily="18" charset="0"/>
                                                  <a:ea typeface="Times New Roman" panose="02020603050405020304" pitchFamily="18" charset="0"/>
                                                </a:rPr>
                                                <m:t>lev</m:t>
                                              </m:r>
                                            </m:e>
                                            <m:sub>
                                              <m:r>
                                                <a:rPr lang="en-US" sz="1000" i="1">
                                                  <a:effectLst/>
                                                  <a:latin typeface="Cambria Math" panose="02040503050406030204" pitchFamily="18" charset="0"/>
                                                  <a:ea typeface="Times New Roman" panose="02020603050405020304" pitchFamily="18" charset="0"/>
                                                </a:rPr>
                                                <m:t>𝑎</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𝑏</m:t>
                                              </m:r>
                                            </m:sub>
                                          </m:sSub>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r>
                                                <a:rPr lang="en-US" sz="1000" i="1">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e>
                                          </m:d>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e>
                                      </m:mr>
                                      <m:mr>
                                        <m:e>
                                          <m:sSub>
                                            <m:sSubPr>
                                              <m:ctrlPr>
                                                <a:rPr lang="en-US" sz="1000" i="1">
                                                  <a:effectLst/>
                                                  <a:latin typeface="Cambria Math" panose="02040503050406030204" pitchFamily="18" charset="0"/>
                                                  <a:ea typeface="Times New Roman" panose="02020603050405020304" pitchFamily="18" charset="0"/>
                                                </a:rPr>
                                              </m:ctrlPr>
                                            </m:sSubPr>
                                            <m:e>
                                              <m:r>
                                                <m:rPr>
                                                  <m:sty m:val="p"/>
                                                </m:rPr>
                                                <a:rPr lang="en-US" sz="1000">
                                                  <a:effectLst/>
                                                  <a:latin typeface="Cambria Math" panose="02040503050406030204" pitchFamily="18" charset="0"/>
                                                  <a:ea typeface="Times New Roman" panose="02020603050405020304" pitchFamily="18" charset="0"/>
                                                </a:rPr>
                                                <m:t>lev</m:t>
                                              </m:r>
                                            </m:e>
                                            <m:sub>
                                              <m:r>
                                                <a:rPr lang="en-US" sz="1000" i="1">
                                                  <a:effectLst/>
                                                  <a:latin typeface="Cambria Math" panose="02040503050406030204" pitchFamily="18" charset="0"/>
                                                  <a:ea typeface="Times New Roman" panose="02020603050405020304" pitchFamily="18" charset="0"/>
                                                </a:rPr>
                                                <m:t>𝑎</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𝑏</m:t>
                                              </m:r>
                                            </m:sub>
                                          </m:sSub>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i="1">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r>
                                                <a:rPr lang="en-US" sz="1000" i="1">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e>
                                          </m:d>
                                          <m:r>
                                            <a:rPr lang="en-US" sz="1000">
                                              <a:effectLst/>
                                              <a:latin typeface="Cambria Math" panose="02040503050406030204" pitchFamily="18" charset="0"/>
                                              <a:ea typeface="Times New Roman" panose="02020603050405020304" pitchFamily="18" charset="0"/>
                                            </a:rPr>
                                            <m:t>+</m:t>
                                          </m:r>
                                          <m:sSub>
                                            <m:sSubPr>
                                              <m:ctrlPr>
                                                <a:rPr lang="en-US" sz="1000" i="1">
                                                  <a:effectLst/>
                                                  <a:latin typeface="Cambria Math" panose="02040503050406030204" pitchFamily="18" charset="0"/>
                                                  <a:ea typeface="Times New Roman" panose="02020603050405020304" pitchFamily="18" charset="0"/>
                                                </a:rPr>
                                              </m:ctrlPr>
                                            </m:sSubPr>
                                            <m:e>
                                              <m:r>
                                                <a:rPr lang="en-US" sz="1000" i="1">
                                                  <a:effectLst/>
                                                  <a:latin typeface="Cambria Math" panose="02040503050406030204" pitchFamily="18" charset="0"/>
                                                  <a:ea typeface="Times New Roman" panose="02020603050405020304" pitchFamily="18" charset="0"/>
                                                </a:rPr>
                                                <m:t>1</m:t>
                                              </m:r>
                                            </m:e>
                                            <m:sub>
                                              <m:d>
                                                <m:dPr>
                                                  <m:ctrlPr>
                                                    <a:rPr lang="en-US" sz="1000" i="1">
                                                      <a:effectLst/>
                                                      <a:latin typeface="Cambria Math" panose="02040503050406030204" pitchFamily="18" charset="0"/>
                                                      <a:ea typeface="Times New Roman" panose="02020603050405020304" pitchFamily="18" charset="0"/>
                                                    </a:rPr>
                                                  </m:ctrlPr>
                                                </m:dPr>
                                                <m:e>
                                                  <m:sSub>
                                                    <m:sSubPr>
                                                      <m:ctrlPr>
                                                        <a:rPr lang="en-US" sz="1000" i="1">
                                                          <a:effectLst/>
                                                          <a:latin typeface="Cambria Math" panose="02040503050406030204" pitchFamily="18" charset="0"/>
                                                          <a:ea typeface="Times New Roman" panose="02020603050405020304" pitchFamily="18" charset="0"/>
                                                        </a:rPr>
                                                      </m:ctrlPr>
                                                    </m:sSubPr>
                                                    <m:e>
                                                      <m:r>
                                                        <a:rPr lang="en-US" sz="1000" i="1">
                                                          <a:effectLst/>
                                                          <a:latin typeface="Cambria Math" panose="02040503050406030204" pitchFamily="18" charset="0"/>
                                                          <a:ea typeface="Times New Roman" panose="02020603050405020304" pitchFamily="18" charset="0"/>
                                                        </a:rPr>
                                                        <m:t>𝑎</m:t>
                                                      </m:r>
                                                    </m:e>
                                                    <m:sub>
                                                      <m:r>
                                                        <a:rPr lang="en-US" sz="1000" i="1">
                                                          <a:effectLst/>
                                                          <a:latin typeface="Cambria Math" panose="02040503050406030204" pitchFamily="18" charset="0"/>
                                                          <a:ea typeface="Times New Roman" panose="02020603050405020304" pitchFamily="18" charset="0"/>
                                                        </a:rPr>
                                                        <m:t>𝑖</m:t>
                                                      </m:r>
                                                    </m:sub>
                                                  </m:sSub>
                                                  <m:r>
                                                    <a:rPr lang="en-US" sz="1000">
                                                      <a:effectLst/>
                                                      <a:latin typeface="Cambria Math" panose="02040503050406030204" pitchFamily="18" charset="0"/>
                                                      <a:ea typeface="Times New Roman" panose="02020603050405020304" pitchFamily="18" charset="0"/>
                                                    </a:rPr>
                                                    <m:t>≠</m:t>
                                                  </m:r>
                                                  <m:sSub>
                                                    <m:sSubPr>
                                                      <m:ctrlPr>
                                                        <a:rPr lang="en-US" sz="1000" i="1">
                                                          <a:effectLst/>
                                                          <a:latin typeface="Cambria Math" panose="02040503050406030204" pitchFamily="18" charset="0"/>
                                                          <a:ea typeface="Times New Roman" panose="02020603050405020304" pitchFamily="18" charset="0"/>
                                                        </a:rPr>
                                                      </m:ctrlPr>
                                                    </m:sSubPr>
                                                    <m:e>
                                                      <m:r>
                                                        <a:rPr lang="en-US" sz="1000" i="1">
                                                          <a:effectLst/>
                                                          <a:latin typeface="Cambria Math" panose="02040503050406030204" pitchFamily="18" charset="0"/>
                                                          <a:ea typeface="Times New Roman" panose="02020603050405020304" pitchFamily="18" charset="0"/>
                                                        </a:rPr>
                                                        <m:t>𝑏</m:t>
                                                      </m:r>
                                                    </m:e>
                                                    <m:sub>
                                                      <m:r>
                                                        <a:rPr lang="en-US" sz="1000" i="1">
                                                          <a:effectLst/>
                                                          <a:latin typeface="Cambria Math" panose="02040503050406030204" pitchFamily="18" charset="0"/>
                                                          <a:ea typeface="Times New Roman" panose="02020603050405020304" pitchFamily="18" charset="0"/>
                                                        </a:rPr>
                                                        <m:t>𝑗</m:t>
                                                      </m:r>
                                                    </m:sub>
                                                  </m:sSub>
                                                </m:e>
                                              </m:d>
                                            </m:sub>
                                          </m:sSub>
                                        </m:e>
                                      </m:mr>
                                    </m:m>
                                  </m:e>
                                </m:d>
                              </m:e>
                              <m:e>
                                <m:r>
                                  <m:rPr>
                                    <m:sty m:val="p"/>
                                  </m:rPr>
                                  <a:rPr lang="en-US" sz="1000">
                                    <a:effectLst/>
                                    <a:latin typeface="Cambria Math" panose="02040503050406030204" pitchFamily="18" charset="0"/>
                                    <a:ea typeface="Times New Roman" panose="02020603050405020304" pitchFamily="18" charset="0"/>
                                  </a:rPr>
                                  <m:t>otherwise</m:t>
                                </m:r>
                                <m:r>
                                  <a:rPr lang="en-US" sz="1000">
                                    <a:effectLst/>
                                    <a:latin typeface="Cambria Math" panose="02040503050406030204" pitchFamily="18" charset="0"/>
                                    <a:ea typeface="Times New Roman" panose="02020603050405020304" pitchFamily="18" charset="0"/>
                                  </a:rPr>
                                  <m:t>.</m:t>
                                </m:r>
                              </m:e>
                            </m:mr>
                          </m:m>
                        </m:e>
                      </m:d>
                    </m:oMath>
                  </m:oMathPara>
                </a14:m>
                <a:endParaRPr lang="en-US" sz="1800">
                  <a:effectLst/>
                  <a:latin typeface="Times New Roman" panose="02020603050405020304" pitchFamily="18" charset="0"/>
                  <a:ea typeface="Times New Roman" panose="02020603050405020304" pitchFamily="18" charset="0"/>
                </a:endParaRPr>
              </a:p>
              <a:p>
                <a:pPr marL="0" indent="0">
                  <a:buNone/>
                </a:pPr>
                <a:endParaRPr lang="en-US" sz="1050"/>
              </a:p>
            </p:txBody>
          </p:sp>
        </mc:Choice>
        <mc:Fallback xmlns="">
          <p:sp>
            <p:nvSpPr>
              <p:cNvPr id="10" name="Text 8"/>
              <p:cNvSpPr>
                <a:spLocks noRot="1" noChangeAspect="1" noMove="1" noResize="1" noEditPoints="1" noAdjustHandles="1" noChangeArrowheads="1" noChangeShapeType="1" noTextEdit="1"/>
              </p:cNvSpPr>
              <p:nvPr/>
            </p:nvSpPr>
            <p:spPr>
              <a:xfrm>
                <a:off x="-45720" y="2007108"/>
                <a:ext cx="4663440" cy="594360"/>
              </a:xfrm>
              <a:prstGeom prst="rect">
                <a:avLst/>
              </a:prstGeom>
              <a:blipFill>
                <a:blip r:embed="rId3"/>
                <a:stretch>
                  <a:fillRect t="-24490" b="-1020"/>
                </a:stretch>
              </a:blipFill>
              <a:ln/>
            </p:spPr>
            <p:txBody>
              <a:bodyPr/>
              <a:lstStyle/>
              <a:p>
                <a:r>
                  <a:rPr lang="en-US">
                    <a:noFill/>
                  </a:rPr>
                  <a:t> </a:t>
                </a:r>
              </a:p>
            </p:txBody>
          </p:sp>
        </mc:Fallback>
      </mc:AlternateContent>
      <p:sp>
        <p:nvSpPr>
          <p:cNvPr id="12" name="Shape 10"/>
          <p:cNvSpPr/>
          <p:nvPr/>
        </p:nvSpPr>
        <p:spPr>
          <a:xfrm>
            <a:off x="5577840" y="1005840"/>
            <a:ext cx="3291840" cy="4046220"/>
          </a:xfrm>
          <a:prstGeom prst="rect">
            <a:avLst/>
          </a:prstGeom>
          <a:solidFill>
            <a:srgbClr val="FFFFFF"/>
          </a:solidFill>
          <a:ln/>
          <a:effectLst>
            <a:outerShdw blurRad="101600" dist="38100" dir="8100000" algn="bl" rotWithShape="0">
              <a:srgbClr val="000000">
                <a:alpha val="18000"/>
              </a:srgbClr>
            </a:outerShdw>
          </a:effectLst>
        </p:spPr>
      </p:sp>
      <p:sp>
        <p:nvSpPr>
          <p:cNvPr id="13" name="Shape 11"/>
          <p:cNvSpPr/>
          <p:nvPr/>
        </p:nvSpPr>
        <p:spPr>
          <a:xfrm>
            <a:off x="5577840" y="1005840"/>
            <a:ext cx="3291840" cy="384048"/>
          </a:xfrm>
          <a:prstGeom prst="rect">
            <a:avLst/>
          </a:prstGeom>
          <a:solidFill>
            <a:srgbClr val="0D1B2A"/>
          </a:solidFill>
          <a:ln/>
        </p:spPr>
      </p:sp>
      <p:sp>
        <p:nvSpPr>
          <p:cNvPr id="14" name="Text 12"/>
          <p:cNvSpPr/>
          <p:nvPr/>
        </p:nvSpPr>
        <p:spPr>
          <a:xfrm>
            <a:off x="5687568" y="1051560"/>
            <a:ext cx="3017520" cy="292608"/>
          </a:xfrm>
          <a:prstGeom prst="rect">
            <a:avLst/>
          </a:prstGeom>
          <a:noFill/>
          <a:ln/>
        </p:spPr>
        <p:txBody>
          <a:bodyPr wrap="square" rtlCol="0" anchor="ctr"/>
          <a:lstStyle/>
          <a:p>
            <a:pPr marL="0" indent="0">
              <a:buNone/>
            </a:pPr>
            <a:r>
              <a:rPr lang="en-US" sz="1200" b="1">
                <a:solidFill>
                  <a:srgbClr val="FFFFFF"/>
                </a:solidFill>
              </a:rPr>
              <a:t>⚙️  Các kỹ thuật khác</a:t>
            </a:r>
            <a:endParaRPr lang="en-US" sz="1200"/>
          </a:p>
        </p:txBody>
      </p:sp>
      <p:sp>
        <p:nvSpPr>
          <p:cNvPr id="15" name="Text 13"/>
          <p:cNvSpPr/>
          <p:nvPr/>
        </p:nvSpPr>
        <p:spPr>
          <a:xfrm>
            <a:off x="5687568" y="1481328"/>
            <a:ext cx="3017520" cy="219456"/>
          </a:xfrm>
          <a:prstGeom prst="rect">
            <a:avLst/>
          </a:prstGeom>
          <a:noFill/>
          <a:ln/>
        </p:spPr>
        <p:txBody>
          <a:bodyPr wrap="square" rtlCol="0" anchor="ctr"/>
          <a:lstStyle/>
          <a:p>
            <a:pPr marL="0" indent="0">
              <a:buNone/>
            </a:pPr>
            <a:r>
              <a:rPr lang="en-US" sz="1100" b="1">
                <a:solidFill>
                  <a:srgbClr val="0D9488"/>
                </a:solidFill>
              </a:rPr>
              <a:t>Chuẩn hóa đầu vào</a:t>
            </a:r>
            <a:endParaRPr lang="en-US" sz="1100"/>
          </a:p>
        </p:txBody>
      </p:sp>
      <p:sp>
        <p:nvSpPr>
          <p:cNvPr id="16" name="Text 14"/>
          <p:cNvSpPr/>
          <p:nvPr/>
        </p:nvSpPr>
        <p:spPr>
          <a:xfrm>
            <a:off x="5687568" y="1682496"/>
            <a:ext cx="3017520" cy="201168"/>
          </a:xfrm>
          <a:prstGeom prst="rect">
            <a:avLst/>
          </a:prstGeom>
          <a:noFill/>
          <a:ln/>
        </p:spPr>
        <p:txBody>
          <a:bodyPr wrap="square" rtlCol="0" anchor="ctr"/>
          <a:lstStyle/>
          <a:p>
            <a:pPr marL="0" indent="0">
              <a:buNone/>
            </a:pPr>
            <a:r>
              <a:rPr lang="en-US" sz="1050">
                <a:solidFill>
                  <a:srgbClr val="1E293B"/>
                </a:solidFill>
              </a:rPr>
              <a:t>Lowercase, loại ký tự đặc biệt</a:t>
            </a:r>
            <a:endParaRPr lang="en-US" sz="1050"/>
          </a:p>
        </p:txBody>
      </p:sp>
      <p:sp>
        <p:nvSpPr>
          <p:cNvPr id="17" name="Text 15"/>
          <p:cNvSpPr/>
          <p:nvPr/>
        </p:nvSpPr>
        <p:spPr>
          <a:xfrm>
            <a:off x="5687568" y="1901952"/>
            <a:ext cx="3017520" cy="219456"/>
          </a:xfrm>
          <a:prstGeom prst="rect">
            <a:avLst/>
          </a:prstGeom>
          <a:noFill/>
          <a:ln/>
        </p:spPr>
        <p:txBody>
          <a:bodyPr wrap="square" rtlCol="0" anchor="ctr"/>
          <a:lstStyle/>
          <a:p>
            <a:pPr marL="0" indent="0">
              <a:buNone/>
            </a:pPr>
            <a:r>
              <a:rPr lang="en-US" sz="1100" b="1">
                <a:solidFill>
                  <a:srgbClr val="0D9488"/>
                </a:solidFill>
              </a:rPr>
              <a:t>Advanced Matching</a:t>
            </a:r>
            <a:endParaRPr lang="en-US" sz="1100"/>
          </a:p>
        </p:txBody>
      </p:sp>
      <p:sp>
        <p:nvSpPr>
          <p:cNvPr id="18" name="Text 16"/>
          <p:cNvSpPr/>
          <p:nvPr/>
        </p:nvSpPr>
        <p:spPr>
          <a:xfrm>
            <a:off x="5687568" y="2103120"/>
            <a:ext cx="3017520" cy="201168"/>
          </a:xfrm>
          <a:prstGeom prst="rect">
            <a:avLst/>
          </a:prstGeom>
          <a:noFill/>
          <a:ln/>
        </p:spPr>
        <p:txBody>
          <a:bodyPr wrap="square" rtlCol="0" anchor="ctr"/>
          <a:lstStyle/>
          <a:p>
            <a:pPr marL="0" indent="0">
              <a:buNone/>
            </a:pPr>
            <a:r>
              <a:rPr lang="en-US" sz="1050">
                <a:solidFill>
                  <a:srgbClr val="1E293B"/>
                </a:solidFill>
              </a:rPr>
              <a:t>Đếm từ trùng, cụm từ liên tiếp</a:t>
            </a:r>
            <a:endParaRPr lang="en-US" sz="1050"/>
          </a:p>
        </p:txBody>
      </p:sp>
      <p:sp>
        <p:nvSpPr>
          <p:cNvPr id="19" name="Text 17"/>
          <p:cNvSpPr/>
          <p:nvPr/>
        </p:nvSpPr>
        <p:spPr>
          <a:xfrm>
            <a:off x="5687568" y="2322576"/>
            <a:ext cx="3017520" cy="219456"/>
          </a:xfrm>
          <a:prstGeom prst="rect">
            <a:avLst/>
          </a:prstGeom>
          <a:noFill/>
          <a:ln/>
        </p:spPr>
        <p:txBody>
          <a:bodyPr wrap="square" rtlCol="0" anchor="ctr"/>
          <a:lstStyle/>
          <a:p>
            <a:pPr marL="0" indent="0">
              <a:buNone/>
            </a:pPr>
            <a:r>
              <a:rPr lang="en-US" sz="1100" b="1">
                <a:solidFill>
                  <a:srgbClr val="0D9488"/>
                </a:solidFill>
              </a:rPr>
              <a:t>Regex Price Extract</a:t>
            </a:r>
            <a:endParaRPr lang="en-US" sz="1100"/>
          </a:p>
        </p:txBody>
      </p:sp>
      <p:sp>
        <p:nvSpPr>
          <p:cNvPr id="20" name="Text 18"/>
          <p:cNvSpPr/>
          <p:nvPr/>
        </p:nvSpPr>
        <p:spPr>
          <a:xfrm>
            <a:off x="5687568" y="2523744"/>
            <a:ext cx="3017520" cy="201168"/>
          </a:xfrm>
          <a:prstGeom prst="rect">
            <a:avLst/>
          </a:prstGeom>
          <a:noFill/>
          <a:ln/>
        </p:spPr>
        <p:txBody>
          <a:bodyPr wrap="square" rtlCol="0" anchor="ctr"/>
          <a:lstStyle/>
          <a:p>
            <a:pPr marL="0" indent="0">
              <a:buNone/>
            </a:pPr>
            <a:r>
              <a:rPr lang="en-US" sz="1050">
                <a:solidFill>
                  <a:srgbClr val="1E293B"/>
                </a:solidFill>
              </a:rPr>
              <a:t>Trích xuất min/max giá từ câu</a:t>
            </a:r>
            <a:endParaRPr lang="en-US" sz="1050"/>
          </a:p>
        </p:txBody>
      </p:sp>
      <p:sp>
        <p:nvSpPr>
          <p:cNvPr id="21" name="Text 19"/>
          <p:cNvSpPr/>
          <p:nvPr/>
        </p:nvSpPr>
        <p:spPr>
          <a:xfrm>
            <a:off x="5687568" y="2743200"/>
            <a:ext cx="3017520" cy="219456"/>
          </a:xfrm>
          <a:prstGeom prst="rect">
            <a:avLst/>
          </a:prstGeom>
          <a:noFill/>
          <a:ln/>
        </p:spPr>
        <p:txBody>
          <a:bodyPr wrap="square" rtlCol="0" anchor="ctr"/>
          <a:lstStyle/>
          <a:p>
            <a:pPr marL="0" indent="0">
              <a:buNone/>
            </a:pPr>
            <a:r>
              <a:rPr lang="en-US" sz="1100" b="1">
                <a:solidFill>
                  <a:srgbClr val="0D9488"/>
                </a:solidFill>
              </a:rPr>
              <a:t>Content-based Filter</a:t>
            </a:r>
            <a:endParaRPr lang="en-US" sz="1100"/>
          </a:p>
        </p:txBody>
      </p:sp>
      <p:sp>
        <p:nvSpPr>
          <p:cNvPr id="22" name="Text 20"/>
          <p:cNvSpPr/>
          <p:nvPr/>
        </p:nvSpPr>
        <p:spPr>
          <a:xfrm>
            <a:off x="5687568" y="2944368"/>
            <a:ext cx="3017520" cy="201168"/>
          </a:xfrm>
          <a:prstGeom prst="rect">
            <a:avLst/>
          </a:prstGeom>
          <a:noFill/>
          <a:ln/>
        </p:spPr>
        <p:txBody>
          <a:bodyPr wrap="square" rtlCol="0" anchor="ctr"/>
          <a:lstStyle/>
          <a:p>
            <a:pPr marL="0" indent="0">
              <a:buNone/>
            </a:pPr>
            <a:r>
              <a:rPr lang="en-US" sz="1050">
                <a:solidFill>
                  <a:srgbClr val="1E293B"/>
                </a:solidFill>
              </a:rPr>
              <a:t>Lọc theo loại SP + kết hợp random</a:t>
            </a:r>
            <a:endParaRPr lang="en-US" sz="1050"/>
          </a:p>
        </p:txBody>
      </p:sp>
      <p:sp>
        <p:nvSpPr>
          <p:cNvPr id="11" name="Text 9"/>
          <p:cNvSpPr/>
          <p:nvPr/>
        </p:nvSpPr>
        <p:spPr>
          <a:xfrm>
            <a:off x="365760" y="2624328"/>
            <a:ext cx="4846320" cy="2068706"/>
          </a:xfrm>
          <a:prstGeom prst="rect">
            <a:avLst/>
          </a:prstGeom>
          <a:noFill/>
          <a:ln/>
        </p:spPr>
        <p:txBody>
          <a:bodyPr wrap="square" rtlCol="0" anchor="ctr"/>
          <a:lstStyle/>
          <a:p>
            <a:pPr marL="228600" marR="0" indent="274320">
              <a:lnSpc>
                <a:spcPct val="150000"/>
              </a:lnSpc>
              <a:spcBef>
                <a:spcPts val="0"/>
              </a:spcBef>
              <a:spcAft>
                <a:spcPts val="600"/>
              </a:spcAft>
            </a:pPr>
            <a:r>
              <a:rPr lang="en-US" sz="1200">
                <a:effectLst/>
                <a:ea typeface="Times New Roman" panose="02020603050405020304" pitchFamily="18" charset="0"/>
              </a:rPr>
              <a:t>a là chuỗi thứ 1, b là chuỗi thứ 2, i,j là vị trí đầu cuối (tính từ kí tự đầu đến kí tự i, j của 2 chuỗi).</a:t>
            </a:r>
          </a:p>
          <a:p>
            <a:pPr marL="228600" marR="0" indent="274320">
              <a:lnSpc>
                <a:spcPct val="150000"/>
              </a:lnSpc>
              <a:spcBef>
                <a:spcPts val="0"/>
              </a:spcBef>
              <a:spcAft>
                <a:spcPts val="600"/>
              </a:spcAft>
            </a:pPr>
            <a:r>
              <a:rPr lang="en-US" sz="1200">
                <a:effectLst/>
                <a:ea typeface="Times New Roman" panose="02020603050405020304" pitchFamily="18" charset="0"/>
              </a:rPr>
              <a:t>Nếu i hoặc j = 0 thì số khác biệt là số lớn nhất trong i và j.</a:t>
            </a:r>
          </a:p>
          <a:p>
            <a:pPr marL="228600" marR="0" indent="274320">
              <a:lnSpc>
                <a:spcPct val="150000"/>
              </a:lnSpc>
              <a:spcBef>
                <a:spcPts val="0"/>
              </a:spcBef>
              <a:spcAft>
                <a:spcPts val="600"/>
              </a:spcAft>
            </a:pPr>
            <a:r>
              <a:rPr lang="en-US" sz="1200">
                <a:effectLst/>
                <a:ea typeface="Times New Roman" panose="02020603050405020304" pitchFamily="18" charset="0"/>
              </a:rPr>
              <a:t>Trường hợp còn lại, số khác biệt là số nhỏ nhất trong 3</a:t>
            </a:r>
            <a:r>
              <a:rPr lang="en-US" sz="1800">
                <a:effectLst/>
                <a:ea typeface="Times New Roman" panose="02020603050405020304" pitchFamily="18" charset="0"/>
              </a:rPr>
              <a:t> </a:t>
            </a:r>
            <a:r>
              <a:rPr lang="en-US" sz="1200">
                <a:effectLst/>
                <a:ea typeface="Times New Roman" panose="02020603050405020304" pitchFamily="18" charset="0"/>
              </a:rPr>
              <a:t>công thức:</a:t>
            </a:r>
          </a:p>
          <a:p>
            <a:r>
              <a:rPr lang="en-US" sz="1200">
                <a:effectLst/>
                <a:ea typeface="Times New Roman" panose="02020603050405020304" pitchFamily="18" charset="0"/>
              </a:rPr>
              <a:t>	</a:t>
            </a:r>
            <a:r>
              <a:rPr lang="vi-VN" sz="1200">
                <a:effectLst/>
                <a:ea typeface="Times New Roman" panose="02020603050405020304" pitchFamily="18" charset="0"/>
              </a:rPr>
              <a:t>lev(i-1,j)+1  //  lev(i,j-1)+1 // lev(i-1,j-1)</a:t>
            </a:r>
            <a:r>
              <a:rPr lang="vi-VN" sz="1200" b="1">
                <a:effectLst/>
                <a:ea typeface="Times New Roman" panose="02020603050405020304" pitchFamily="18" charset="0"/>
              </a:rPr>
              <a:t>+</a:t>
            </a:r>
            <a:r>
              <a:rPr lang="vi-VN" sz="1200">
                <a:effectLst/>
                <a:ea typeface="Times New Roman" panose="02020603050405020304" pitchFamily="18" charset="0"/>
              </a:rPr>
              <a:t>1*</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04  |  XÂY DỰNG CHATBOT</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Thuật Toán Xử Lý Cốt Lõi</a:t>
            </a:r>
            <a:endParaRPr lang="en-US" sz="2200"/>
          </a:p>
        </p:txBody>
      </p:sp>
      <p:sp>
        <p:nvSpPr>
          <p:cNvPr id="5" name="Shape 3"/>
          <p:cNvSpPr/>
          <p:nvPr/>
        </p:nvSpPr>
        <p:spPr>
          <a:xfrm>
            <a:off x="274320" y="1005840"/>
            <a:ext cx="5029200" cy="228600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74320" y="1005840"/>
            <a:ext cx="5029200" cy="384048"/>
          </a:xfrm>
          <a:prstGeom prst="rect">
            <a:avLst/>
          </a:prstGeom>
          <a:solidFill>
            <a:srgbClr val="0D9488"/>
          </a:solidFill>
          <a:ln/>
        </p:spPr>
      </p:sp>
      <p:sp>
        <p:nvSpPr>
          <p:cNvPr id="7" name="Text 5"/>
          <p:cNvSpPr/>
          <p:nvPr/>
        </p:nvSpPr>
        <p:spPr>
          <a:xfrm>
            <a:off x="384048" y="1051560"/>
            <a:ext cx="4754880" cy="292608"/>
          </a:xfrm>
          <a:prstGeom prst="rect">
            <a:avLst/>
          </a:prstGeom>
          <a:noFill/>
          <a:ln/>
        </p:spPr>
        <p:txBody>
          <a:bodyPr wrap="square" rtlCol="0" anchor="ctr"/>
          <a:lstStyle/>
          <a:p>
            <a:pPr marL="0" indent="0">
              <a:buNone/>
            </a:pPr>
            <a:r>
              <a:rPr lang="en-US" sz="1200" b="1">
                <a:solidFill>
                  <a:srgbClr val="FFFFFF"/>
                </a:solidFill>
              </a:rPr>
              <a:t>📐  Thuật toán Levenshtein Distance</a:t>
            </a:r>
            <a:endParaRPr lang="en-US" sz="1200"/>
          </a:p>
        </p:txBody>
      </p:sp>
      <p:sp>
        <p:nvSpPr>
          <p:cNvPr id="8" name="Text 6"/>
          <p:cNvSpPr/>
          <p:nvPr/>
        </p:nvSpPr>
        <p:spPr>
          <a:xfrm>
            <a:off x="411480" y="1463040"/>
            <a:ext cx="4754880" cy="502920"/>
          </a:xfrm>
          <a:prstGeom prst="rect">
            <a:avLst/>
          </a:prstGeom>
          <a:noFill/>
          <a:ln/>
        </p:spPr>
        <p:txBody>
          <a:bodyPr wrap="square" rtlCol="0" anchor="ctr"/>
          <a:lstStyle/>
          <a:p>
            <a:pPr marL="0" indent="0">
              <a:buNone/>
            </a:pPr>
            <a:r>
              <a:rPr lang="en-US" sz="1150">
                <a:solidFill>
                  <a:srgbClr val="1E293B"/>
                </a:solidFill>
              </a:rPr>
              <a:t>Đo độ tương đồng giữa hai chuỗi ký tự để nhận diện câu hỏi gần giống và xử lý lỗi chính tả.</a:t>
            </a:r>
            <a:endParaRPr lang="en-US" sz="1150"/>
          </a:p>
        </p:txBody>
      </p:sp>
      <p:sp>
        <p:nvSpPr>
          <p:cNvPr id="9" name="Shape 7"/>
          <p:cNvSpPr/>
          <p:nvPr/>
        </p:nvSpPr>
        <p:spPr>
          <a:xfrm>
            <a:off x="411480" y="1961388"/>
            <a:ext cx="4846320" cy="1014984"/>
          </a:xfrm>
          <a:prstGeom prst="rect">
            <a:avLst/>
          </a:prstGeom>
          <a:solidFill>
            <a:srgbClr val="F0F9FF"/>
          </a:solidFill>
          <a:ln w="6350">
            <a:solidFill>
              <a:srgbClr val="E2E8F0"/>
            </a:solidFill>
            <a:prstDash val="solid"/>
          </a:ln>
        </p:spPr>
      </p:sp>
      <mc:AlternateContent xmlns:mc="http://schemas.openxmlformats.org/markup-compatibility/2006" xmlns:a14="http://schemas.microsoft.com/office/drawing/2010/main">
        <mc:Choice Requires="a14">
          <p:sp>
            <p:nvSpPr>
              <p:cNvPr id="10" name="Text 8"/>
              <p:cNvSpPr/>
              <p:nvPr/>
            </p:nvSpPr>
            <p:spPr>
              <a:xfrm>
                <a:off x="0" y="2397287"/>
                <a:ext cx="4663440" cy="594360"/>
              </a:xfrm>
              <a:prstGeom prst="rect">
                <a:avLst/>
              </a:prstGeom>
              <a:noFill/>
              <a:ln/>
            </p:spPr>
            <p:txBody>
              <a:bodyPr wrap="square" rtlCol="0" anchor="ctr"/>
              <a:lstStyle/>
              <a:p>
                <a:pPr/>
                <a14:m>
                  <m:oMathPara xmlns:m="http://schemas.openxmlformats.org/officeDocument/2006/math">
                    <m:oMathParaPr>
                      <m:jc m:val="centerGroup"/>
                    </m:oMathParaPr>
                    <m:oMath xmlns:m="http://schemas.openxmlformats.org/officeDocument/2006/math">
                      <m:sSub>
                        <m:sSubPr>
                          <m:ctrlPr>
                            <a:rPr lang="en-US" sz="1000" i="1" smtClean="0">
                              <a:effectLst/>
                              <a:latin typeface="Cambria Math" panose="02040503050406030204" pitchFamily="18" charset="0"/>
                              <a:ea typeface="Times New Roman" panose="02020603050405020304" pitchFamily="18" charset="0"/>
                            </a:rPr>
                          </m:ctrlPr>
                        </m:sSubPr>
                        <m:e>
                          <m:r>
                            <m:rPr>
                              <m:sty m:val="p"/>
                            </m:rPr>
                            <a:rPr lang="en-US" sz="1000">
                              <a:effectLst/>
                              <a:latin typeface="Cambria Math" panose="02040503050406030204" pitchFamily="18" charset="0"/>
                              <a:ea typeface="Times New Roman" panose="02020603050405020304" pitchFamily="18" charset="0"/>
                            </a:rPr>
                            <m:t>lev</m:t>
                          </m:r>
                        </m:e>
                        <m:sub>
                          <m:r>
                            <a:rPr lang="en-US" sz="1000" i="1">
                              <a:effectLst/>
                              <a:latin typeface="Cambria Math" panose="02040503050406030204" pitchFamily="18" charset="0"/>
                              <a:ea typeface="Times New Roman" panose="02020603050405020304" pitchFamily="18" charset="0"/>
                            </a:rPr>
                            <m:t>𝑎</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𝑏</m:t>
                          </m:r>
                        </m:sub>
                      </m:sSub>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e>
                      </m:d>
                      <m:r>
                        <a:rPr lang="en-US" sz="1000">
                          <a:effectLst/>
                          <a:latin typeface="Cambria Math" panose="02040503050406030204" pitchFamily="18" charset="0"/>
                          <a:ea typeface="Times New Roman" panose="02020603050405020304" pitchFamily="18" charset="0"/>
                        </a:rPr>
                        <m:t>=</m:t>
                      </m:r>
                      <m:d>
                        <m:dPr>
                          <m:begChr m:val="{"/>
                          <m:endChr m:val=""/>
                          <m:ctrlPr>
                            <a:rPr lang="en-US" sz="1000" i="1">
                              <a:effectLst/>
                              <a:latin typeface="Cambria Math" panose="02040503050406030204" pitchFamily="18" charset="0"/>
                              <a:ea typeface="Times New Roman" panose="02020603050405020304" pitchFamily="18" charset="0"/>
                            </a:rPr>
                          </m:ctrlPr>
                        </m:dPr>
                        <m:e>
                          <m:m>
                            <m:mPr>
                              <m:plcHide m:val="on"/>
                              <m:mcs>
                                <m:mc>
                                  <m:mcPr>
                                    <m:count m:val="2"/>
                                    <m:mcJc m:val="center"/>
                                  </m:mcPr>
                                </m:mc>
                              </m:mcs>
                              <m:ctrlPr>
                                <a:rPr lang="en-US" sz="1000" i="1">
                                  <a:effectLst/>
                                  <a:latin typeface="Cambria Math" panose="02040503050406030204" pitchFamily="18" charset="0"/>
                                  <a:ea typeface="Times New Roman" panose="02020603050405020304" pitchFamily="18" charset="0"/>
                                </a:rPr>
                              </m:ctrlPr>
                            </m:mPr>
                            <m:mr>
                              <m:e>
                                <m:r>
                                  <m:rPr>
                                    <m:sty m:val="p"/>
                                  </m:rPr>
                                  <a:rPr lang="en-US" sz="1000">
                                    <a:effectLst/>
                                    <a:latin typeface="Cambria Math" panose="02040503050406030204" pitchFamily="18" charset="0"/>
                                    <a:ea typeface="Times New Roman" panose="02020603050405020304" pitchFamily="18" charset="0"/>
                                  </a:rPr>
                                  <m:t>max</m:t>
                                </m:r>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e>
                                </m:d>
                              </m:e>
                              <m:e>
                                <m:r>
                                  <m:rPr>
                                    <m:sty m:val="p"/>
                                  </m:rPr>
                                  <a:rPr lang="en-US" sz="1000">
                                    <a:effectLst/>
                                    <a:latin typeface="Cambria Math" panose="02040503050406030204" pitchFamily="18" charset="0"/>
                                    <a:ea typeface="Times New Roman" panose="02020603050405020304" pitchFamily="18" charset="0"/>
                                  </a:rPr>
                                  <m:t>if</m:t>
                                </m:r>
                                <m:r>
                                  <a:rPr lang="en-US" sz="1000">
                                    <a:effectLst/>
                                    <a:latin typeface="Cambria Math" panose="02040503050406030204" pitchFamily="18" charset="0"/>
                                    <a:ea typeface="Times New Roman" panose="02020603050405020304" pitchFamily="18" charset="0"/>
                                  </a:rPr>
                                  <m:t> </m:t>
                                </m:r>
                                <m:r>
                                  <m:rPr>
                                    <m:sty m:val="p"/>
                                  </m:rPr>
                                  <a:rPr lang="en-US" sz="1000">
                                    <a:effectLst/>
                                    <a:latin typeface="Cambria Math" panose="02040503050406030204" pitchFamily="18" charset="0"/>
                                    <a:ea typeface="Times New Roman" panose="02020603050405020304" pitchFamily="18" charset="0"/>
                                  </a:rPr>
                                  <m:t>min</m:t>
                                </m:r>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e>
                                </m:d>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0</m:t>
                                </m:r>
                                <m:r>
                                  <a:rPr lang="en-US" sz="1000">
                                    <a:effectLst/>
                                    <a:latin typeface="Cambria Math" panose="02040503050406030204" pitchFamily="18" charset="0"/>
                                    <a:ea typeface="Times New Roman" panose="02020603050405020304" pitchFamily="18" charset="0"/>
                                  </a:rPr>
                                  <m:t>,</m:t>
                                </m:r>
                              </m:e>
                            </m:mr>
                            <m:mr>
                              <m:e>
                                <m:r>
                                  <m:rPr>
                                    <m:sty m:val="p"/>
                                  </m:rPr>
                                  <a:rPr lang="en-US" sz="1000">
                                    <a:effectLst/>
                                    <a:latin typeface="Cambria Math" panose="02040503050406030204" pitchFamily="18" charset="0"/>
                                    <a:ea typeface="Times New Roman" panose="02020603050405020304" pitchFamily="18" charset="0"/>
                                  </a:rPr>
                                  <m:t>min</m:t>
                                </m:r>
                                <m:d>
                                  <m:dPr>
                                    <m:begChr m:val="{"/>
                                    <m:endChr m:val=""/>
                                    <m:ctrlPr>
                                      <a:rPr lang="en-US" sz="1000" i="1">
                                        <a:effectLst/>
                                        <a:latin typeface="Cambria Math" panose="02040503050406030204" pitchFamily="18" charset="0"/>
                                        <a:ea typeface="Times New Roman" panose="02020603050405020304" pitchFamily="18" charset="0"/>
                                      </a:rPr>
                                    </m:ctrlPr>
                                  </m:dPr>
                                  <m:e>
                                    <m:m>
                                      <m:mPr>
                                        <m:plcHide m:val="on"/>
                                        <m:mcs>
                                          <m:mc>
                                            <m:mcPr>
                                              <m:count m:val="1"/>
                                              <m:mcJc m:val="center"/>
                                            </m:mcPr>
                                          </m:mc>
                                        </m:mcs>
                                        <m:ctrlPr>
                                          <a:rPr lang="en-US" sz="1000" i="1">
                                            <a:effectLst/>
                                            <a:latin typeface="Cambria Math" panose="02040503050406030204" pitchFamily="18" charset="0"/>
                                            <a:ea typeface="Times New Roman" panose="02020603050405020304" pitchFamily="18" charset="0"/>
                                          </a:rPr>
                                        </m:ctrlPr>
                                      </m:mPr>
                                      <m:mr>
                                        <m:e>
                                          <m:sSub>
                                            <m:sSubPr>
                                              <m:ctrlPr>
                                                <a:rPr lang="en-US" sz="1000" i="1">
                                                  <a:effectLst/>
                                                  <a:latin typeface="Cambria Math" panose="02040503050406030204" pitchFamily="18" charset="0"/>
                                                  <a:ea typeface="Times New Roman" panose="02020603050405020304" pitchFamily="18" charset="0"/>
                                                </a:rPr>
                                              </m:ctrlPr>
                                            </m:sSubPr>
                                            <m:e>
                                              <m:r>
                                                <m:rPr>
                                                  <m:sty m:val="p"/>
                                                </m:rPr>
                                                <a:rPr lang="en-US" sz="1000">
                                                  <a:effectLst/>
                                                  <a:latin typeface="Cambria Math" panose="02040503050406030204" pitchFamily="18" charset="0"/>
                                                  <a:ea typeface="Times New Roman" panose="02020603050405020304" pitchFamily="18" charset="0"/>
                                                </a:rPr>
                                                <m:t>lev</m:t>
                                              </m:r>
                                            </m:e>
                                            <m:sub>
                                              <m:r>
                                                <a:rPr lang="en-US" sz="1000" i="1">
                                                  <a:effectLst/>
                                                  <a:latin typeface="Cambria Math" panose="02040503050406030204" pitchFamily="18" charset="0"/>
                                                  <a:ea typeface="Times New Roman" panose="02020603050405020304" pitchFamily="18" charset="0"/>
                                                </a:rPr>
                                                <m:t>𝑎</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𝑏</m:t>
                                              </m:r>
                                            </m:sub>
                                          </m:sSub>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i="1">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e>
                                          </m:d>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e>
                                      </m:mr>
                                      <m:mr>
                                        <m:e>
                                          <m:sSub>
                                            <m:sSubPr>
                                              <m:ctrlPr>
                                                <a:rPr lang="en-US" sz="1000" i="1">
                                                  <a:effectLst/>
                                                  <a:latin typeface="Cambria Math" panose="02040503050406030204" pitchFamily="18" charset="0"/>
                                                  <a:ea typeface="Times New Roman" panose="02020603050405020304" pitchFamily="18" charset="0"/>
                                                </a:rPr>
                                              </m:ctrlPr>
                                            </m:sSubPr>
                                            <m:e>
                                              <m:r>
                                                <m:rPr>
                                                  <m:sty m:val="p"/>
                                                </m:rPr>
                                                <a:rPr lang="en-US" sz="1000">
                                                  <a:effectLst/>
                                                  <a:latin typeface="Cambria Math" panose="02040503050406030204" pitchFamily="18" charset="0"/>
                                                  <a:ea typeface="Times New Roman" panose="02020603050405020304" pitchFamily="18" charset="0"/>
                                                </a:rPr>
                                                <m:t>lev</m:t>
                                              </m:r>
                                            </m:e>
                                            <m:sub>
                                              <m:r>
                                                <a:rPr lang="en-US" sz="1000" i="1">
                                                  <a:effectLst/>
                                                  <a:latin typeface="Cambria Math" panose="02040503050406030204" pitchFamily="18" charset="0"/>
                                                  <a:ea typeface="Times New Roman" panose="02020603050405020304" pitchFamily="18" charset="0"/>
                                                </a:rPr>
                                                <m:t>𝑎</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𝑏</m:t>
                                              </m:r>
                                            </m:sub>
                                          </m:sSub>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r>
                                                <a:rPr lang="en-US" sz="1000" i="1">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e>
                                          </m:d>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e>
                                      </m:mr>
                                      <m:mr>
                                        <m:e>
                                          <m:sSub>
                                            <m:sSubPr>
                                              <m:ctrlPr>
                                                <a:rPr lang="en-US" sz="1000" i="1">
                                                  <a:effectLst/>
                                                  <a:latin typeface="Cambria Math" panose="02040503050406030204" pitchFamily="18" charset="0"/>
                                                  <a:ea typeface="Times New Roman" panose="02020603050405020304" pitchFamily="18" charset="0"/>
                                                </a:rPr>
                                              </m:ctrlPr>
                                            </m:sSubPr>
                                            <m:e>
                                              <m:r>
                                                <m:rPr>
                                                  <m:sty m:val="p"/>
                                                </m:rPr>
                                                <a:rPr lang="en-US" sz="1000">
                                                  <a:effectLst/>
                                                  <a:latin typeface="Cambria Math" panose="02040503050406030204" pitchFamily="18" charset="0"/>
                                                  <a:ea typeface="Times New Roman" panose="02020603050405020304" pitchFamily="18" charset="0"/>
                                                </a:rPr>
                                                <m:t>lev</m:t>
                                              </m:r>
                                            </m:e>
                                            <m:sub>
                                              <m:r>
                                                <a:rPr lang="en-US" sz="1000" i="1">
                                                  <a:effectLst/>
                                                  <a:latin typeface="Cambria Math" panose="02040503050406030204" pitchFamily="18" charset="0"/>
                                                  <a:ea typeface="Times New Roman" panose="02020603050405020304" pitchFamily="18" charset="0"/>
                                                </a:rPr>
                                                <m:t>𝑎</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𝑏</m:t>
                                              </m:r>
                                            </m:sub>
                                          </m:sSub>
                                          <m:d>
                                            <m:dPr>
                                              <m:ctrlPr>
                                                <a:rPr lang="en-US" sz="1000" i="1">
                                                  <a:effectLst/>
                                                  <a:latin typeface="Cambria Math" panose="02040503050406030204" pitchFamily="18" charset="0"/>
                                                  <a:ea typeface="Times New Roman" panose="02020603050405020304" pitchFamily="18" charset="0"/>
                                                </a:rPr>
                                              </m:ctrlPr>
                                            </m:dPr>
                                            <m:e>
                                              <m:r>
                                                <a:rPr lang="en-US" sz="1000" i="1">
                                                  <a:effectLst/>
                                                  <a:latin typeface="Cambria Math" panose="02040503050406030204" pitchFamily="18" charset="0"/>
                                                  <a:ea typeface="Times New Roman" panose="02020603050405020304" pitchFamily="18" charset="0"/>
                                                </a:rPr>
                                                <m:t>𝑖</m:t>
                                              </m:r>
                                              <m:r>
                                                <a:rPr lang="en-US" sz="1000" i="1">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r>
                                                <a:rPr lang="en-US" sz="1000">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𝑗</m:t>
                                              </m:r>
                                              <m:r>
                                                <a:rPr lang="en-US" sz="1000" i="1">
                                                  <a:effectLst/>
                                                  <a:latin typeface="Cambria Math" panose="02040503050406030204" pitchFamily="18" charset="0"/>
                                                  <a:ea typeface="Times New Roman" panose="02020603050405020304" pitchFamily="18" charset="0"/>
                                                </a:rPr>
                                                <m:t>−</m:t>
                                              </m:r>
                                              <m:r>
                                                <a:rPr lang="en-US" sz="1000" i="1">
                                                  <a:effectLst/>
                                                  <a:latin typeface="Cambria Math" panose="02040503050406030204" pitchFamily="18" charset="0"/>
                                                  <a:ea typeface="Times New Roman" panose="02020603050405020304" pitchFamily="18" charset="0"/>
                                                </a:rPr>
                                                <m:t>1</m:t>
                                              </m:r>
                                            </m:e>
                                          </m:d>
                                          <m:r>
                                            <a:rPr lang="en-US" sz="1000">
                                              <a:effectLst/>
                                              <a:latin typeface="Cambria Math" panose="02040503050406030204" pitchFamily="18" charset="0"/>
                                              <a:ea typeface="Times New Roman" panose="02020603050405020304" pitchFamily="18" charset="0"/>
                                            </a:rPr>
                                            <m:t>+</m:t>
                                          </m:r>
                                          <m:sSub>
                                            <m:sSubPr>
                                              <m:ctrlPr>
                                                <a:rPr lang="en-US" sz="1000" i="1">
                                                  <a:effectLst/>
                                                  <a:latin typeface="Cambria Math" panose="02040503050406030204" pitchFamily="18" charset="0"/>
                                                  <a:ea typeface="Times New Roman" panose="02020603050405020304" pitchFamily="18" charset="0"/>
                                                </a:rPr>
                                              </m:ctrlPr>
                                            </m:sSubPr>
                                            <m:e>
                                              <m:r>
                                                <a:rPr lang="en-US" sz="1000" i="1">
                                                  <a:effectLst/>
                                                  <a:latin typeface="Cambria Math" panose="02040503050406030204" pitchFamily="18" charset="0"/>
                                                  <a:ea typeface="Times New Roman" panose="02020603050405020304" pitchFamily="18" charset="0"/>
                                                </a:rPr>
                                                <m:t>1</m:t>
                                              </m:r>
                                            </m:e>
                                            <m:sub>
                                              <m:d>
                                                <m:dPr>
                                                  <m:ctrlPr>
                                                    <a:rPr lang="en-US" sz="1000" i="1">
                                                      <a:effectLst/>
                                                      <a:latin typeface="Cambria Math" panose="02040503050406030204" pitchFamily="18" charset="0"/>
                                                      <a:ea typeface="Times New Roman" panose="02020603050405020304" pitchFamily="18" charset="0"/>
                                                    </a:rPr>
                                                  </m:ctrlPr>
                                                </m:dPr>
                                                <m:e>
                                                  <m:sSub>
                                                    <m:sSubPr>
                                                      <m:ctrlPr>
                                                        <a:rPr lang="en-US" sz="1000" i="1">
                                                          <a:effectLst/>
                                                          <a:latin typeface="Cambria Math" panose="02040503050406030204" pitchFamily="18" charset="0"/>
                                                          <a:ea typeface="Times New Roman" panose="02020603050405020304" pitchFamily="18" charset="0"/>
                                                        </a:rPr>
                                                      </m:ctrlPr>
                                                    </m:sSubPr>
                                                    <m:e>
                                                      <m:r>
                                                        <a:rPr lang="en-US" sz="1000" i="1">
                                                          <a:effectLst/>
                                                          <a:latin typeface="Cambria Math" panose="02040503050406030204" pitchFamily="18" charset="0"/>
                                                          <a:ea typeface="Times New Roman" panose="02020603050405020304" pitchFamily="18" charset="0"/>
                                                        </a:rPr>
                                                        <m:t>𝑎</m:t>
                                                      </m:r>
                                                    </m:e>
                                                    <m:sub>
                                                      <m:r>
                                                        <a:rPr lang="en-US" sz="1000" i="1">
                                                          <a:effectLst/>
                                                          <a:latin typeface="Cambria Math" panose="02040503050406030204" pitchFamily="18" charset="0"/>
                                                          <a:ea typeface="Times New Roman" panose="02020603050405020304" pitchFamily="18" charset="0"/>
                                                        </a:rPr>
                                                        <m:t>𝑖</m:t>
                                                      </m:r>
                                                    </m:sub>
                                                  </m:sSub>
                                                  <m:r>
                                                    <a:rPr lang="en-US" sz="1000">
                                                      <a:effectLst/>
                                                      <a:latin typeface="Cambria Math" panose="02040503050406030204" pitchFamily="18" charset="0"/>
                                                      <a:ea typeface="Times New Roman" panose="02020603050405020304" pitchFamily="18" charset="0"/>
                                                    </a:rPr>
                                                    <m:t>≠</m:t>
                                                  </m:r>
                                                  <m:sSub>
                                                    <m:sSubPr>
                                                      <m:ctrlPr>
                                                        <a:rPr lang="en-US" sz="1000" i="1">
                                                          <a:effectLst/>
                                                          <a:latin typeface="Cambria Math" panose="02040503050406030204" pitchFamily="18" charset="0"/>
                                                          <a:ea typeface="Times New Roman" panose="02020603050405020304" pitchFamily="18" charset="0"/>
                                                        </a:rPr>
                                                      </m:ctrlPr>
                                                    </m:sSubPr>
                                                    <m:e>
                                                      <m:r>
                                                        <a:rPr lang="en-US" sz="1000" i="1">
                                                          <a:effectLst/>
                                                          <a:latin typeface="Cambria Math" panose="02040503050406030204" pitchFamily="18" charset="0"/>
                                                          <a:ea typeface="Times New Roman" panose="02020603050405020304" pitchFamily="18" charset="0"/>
                                                        </a:rPr>
                                                        <m:t>𝑏</m:t>
                                                      </m:r>
                                                    </m:e>
                                                    <m:sub>
                                                      <m:r>
                                                        <a:rPr lang="en-US" sz="1000" i="1">
                                                          <a:effectLst/>
                                                          <a:latin typeface="Cambria Math" panose="02040503050406030204" pitchFamily="18" charset="0"/>
                                                          <a:ea typeface="Times New Roman" panose="02020603050405020304" pitchFamily="18" charset="0"/>
                                                        </a:rPr>
                                                        <m:t>𝑗</m:t>
                                                      </m:r>
                                                    </m:sub>
                                                  </m:sSub>
                                                </m:e>
                                              </m:d>
                                            </m:sub>
                                          </m:sSub>
                                        </m:e>
                                      </m:mr>
                                    </m:m>
                                  </m:e>
                                </m:d>
                              </m:e>
                              <m:e>
                                <m:r>
                                  <m:rPr>
                                    <m:sty m:val="p"/>
                                  </m:rPr>
                                  <a:rPr lang="en-US" sz="1000">
                                    <a:effectLst/>
                                    <a:latin typeface="Cambria Math" panose="02040503050406030204" pitchFamily="18" charset="0"/>
                                    <a:ea typeface="Times New Roman" panose="02020603050405020304" pitchFamily="18" charset="0"/>
                                  </a:rPr>
                                  <m:t>otherwise</m:t>
                                </m:r>
                                <m:r>
                                  <a:rPr lang="en-US" sz="1000">
                                    <a:effectLst/>
                                    <a:latin typeface="Cambria Math" panose="02040503050406030204" pitchFamily="18" charset="0"/>
                                    <a:ea typeface="Times New Roman" panose="02020603050405020304" pitchFamily="18" charset="0"/>
                                  </a:rPr>
                                  <m:t>.</m:t>
                                </m:r>
                              </m:e>
                            </m:mr>
                          </m:m>
                        </m:e>
                      </m:d>
                    </m:oMath>
                  </m:oMathPara>
                </a14:m>
                <a:endParaRPr lang="en-US" sz="1800">
                  <a:effectLst/>
                  <a:latin typeface="Times New Roman" panose="02020603050405020304" pitchFamily="18" charset="0"/>
                  <a:ea typeface="Times New Roman" panose="02020603050405020304" pitchFamily="18" charset="0"/>
                </a:endParaRPr>
              </a:p>
              <a:p>
                <a:pPr marL="0" indent="0">
                  <a:buNone/>
                </a:pPr>
                <a:endParaRPr lang="en-US" sz="1050"/>
              </a:p>
            </p:txBody>
          </p:sp>
        </mc:Choice>
        <mc:Fallback xmlns="">
          <p:sp>
            <p:nvSpPr>
              <p:cNvPr id="10" name="Text 8"/>
              <p:cNvSpPr>
                <a:spLocks noRot="1" noChangeAspect="1" noMove="1" noResize="1" noEditPoints="1" noAdjustHandles="1" noChangeArrowheads="1" noChangeShapeType="1" noTextEdit="1"/>
              </p:cNvSpPr>
              <p:nvPr/>
            </p:nvSpPr>
            <p:spPr>
              <a:xfrm>
                <a:off x="0" y="2397287"/>
                <a:ext cx="4663440" cy="594360"/>
              </a:xfrm>
              <a:prstGeom prst="rect">
                <a:avLst/>
              </a:prstGeom>
              <a:blipFill>
                <a:blip r:embed="rId3"/>
                <a:stretch>
                  <a:fillRect t="-24490" b="-1020"/>
                </a:stretch>
              </a:blipFill>
              <a:ln/>
            </p:spPr>
            <p:txBody>
              <a:bodyPr/>
              <a:lstStyle/>
              <a:p>
                <a:r>
                  <a:rPr lang="en-US">
                    <a:noFill/>
                  </a:rPr>
                  <a:t> </a:t>
                </a:r>
              </a:p>
            </p:txBody>
          </p:sp>
        </mc:Fallback>
      </mc:AlternateContent>
      <p:sp>
        <p:nvSpPr>
          <p:cNvPr id="12" name="Shape 10"/>
          <p:cNvSpPr/>
          <p:nvPr/>
        </p:nvSpPr>
        <p:spPr>
          <a:xfrm>
            <a:off x="5577840" y="1005840"/>
            <a:ext cx="3291840" cy="2286000"/>
          </a:xfrm>
          <a:prstGeom prst="rect">
            <a:avLst/>
          </a:prstGeom>
          <a:solidFill>
            <a:srgbClr val="FFFFFF"/>
          </a:solidFill>
          <a:ln/>
          <a:effectLst>
            <a:outerShdw blurRad="101600" dist="38100" dir="8100000" algn="bl" rotWithShape="0">
              <a:srgbClr val="000000">
                <a:alpha val="18000"/>
              </a:srgbClr>
            </a:outerShdw>
          </a:effectLst>
        </p:spPr>
      </p:sp>
      <p:sp>
        <p:nvSpPr>
          <p:cNvPr id="13" name="Shape 11"/>
          <p:cNvSpPr/>
          <p:nvPr/>
        </p:nvSpPr>
        <p:spPr>
          <a:xfrm>
            <a:off x="5577840" y="1005840"/>
            <a:ext cx="3291840" cy="384048"/>
          </a:xfrm>
          <a:prstGeom prst="rect">
            <a:avLst/>
          </a:prstGeom>
          <a:solidFill>
            <a:srgbClr val="0D1B2A"/>
          </a:solidFill>
          <a:ln/>
        </p:spPr>
      </p:sp>
      <p:sp>
        <p:nvSpPr>
          <p:cNvPr id="14" name="Text 12"/>
          <p:cNvSpPr/>
          <p:nvPr/>
        </p:nvSpPr>
        <p:spPr>
          <a:xfrm>
            <a:off x="5687568" y="1051560"/>
            <a:ext cx="3017520" cy="292608"/>
          </a:xfrm>
          <a:prstGeom prst="rect">
            <a:avLst/>
          </a:prstGeom>
          <a:noFill/>
          <a:ln/>
        </p:spPr>
        <p:txBody>
          <a:bodyPr wrap="square" rtlCol="0" anchor="ctr"/>
          <a:lstStyle/>
          <a:p>
            <a:pPr marL="0" indent="0">
              <a:buNone/>
            </a:pPr>
            <a:r>
              <a:rPr lang="en-US" sz="1200" b="1">
                <a:solidFill>
                  <a:srgbClr val="FFFFFF"/>
                </a:solidFill>
              </a:rPr>
              <a:t>⚙️  Các kỹ thuật khác</a:t>
            </a:r>
            <a:endParaRPr lang="en-US" sz="1200"/>
          </a:p>
        </p:txBody>
      </p:sp>
      <p:sp>
        <p:nvSpPr>
          <p:cNvPr id="15" name="Text 13"/>
          <p:cNvSpPr/>
          <p:nvPr/>
        </p:nvSpPr>
        <p:spPr>
          <a:xfrm>
            <a:off x="5687568" y="1481328"/>
            <a:ext cx="3017520" cy="219456"/>
          </a:xfrm>
          <a:prstGeom prst="rect">
            <a:avLst/>
          </a:prstGeom>
          <a:noFill/>
          <a:ln/>
        </p:spPr>
        <p:txBody>
          <a:bodyPr wrap="square" rtlCol="0" anchor="ctr"/>
          <a:lstStyle/>
          <a:p>
            <a:pPr marL="0" indent="0">
              <a:buNone/>
            </a:pPr>
            <a:r>
              <a:rPr lang="en-US" sz="1100" b="1">
                <a:solidFill>
                  <a:srgbClr val="0D9488"/>
                </a:solidFill>
              </a:rPr>
              <a:t>Chuẩn hóa đầu vào</a:t>
            </a:r>
            <a:endParaRPr lang="en-US" sz="1100"/>
          </a:p>
        </p:txBody>
      </p:sp>
      <p:sp>
        <p:nvSpPr>
          <p:cNvPr id="16" name="Text 14"/>
          <p:cNvSpPr/>
          <p:nvPr/>
        </p:nvSpPr>
        <p:spPr>
          <a:xfrm>
            <a:off x="5687568" y="1682496"/>
            <a:ext cx="3017520" cy="201168"/>
          </a:xfrm>
          <a:prstGeom prst="rect">
            <a:avLst/>
          </a:prstGeom>
          <a:noFill/>
          <a:ln/>
        </p:spPr>
        <p:txBody>
          <a:bodyPr wrap="square" rtlCol="0" anchor="ctr"/>
          <a:lstStyle/>
          <a:p>
            <a:pPr marL="0" indent="0">
              <a:buNone/>
            </a:pPr>
            <a:r>
              <a:rPr lang="en-US" sz="1050">
                <a:solidFill>
                  <a:srgbClr val="1E293B"/>
                </a:solidFill>
              </a:rPr>
              <a:t>Lowercase, loại ký tự đặc biệt</a:t>
            </a:r>
            <a:endParaRPr lang="en-US" sz="1050"/>
          </a:p>
        </p:txBody>
      </p:sp>
      <p:sp>
        <p:nvSpPr>
          <p:cNvPr id="17" name="Text 15"/>
          <p:cNvSpPr/>
          <p:nvPr/>
        </p:nvSpPr>
        <p:spPr>
          <a:xfrm>
            <a:off x="5687568" y="1901952"/>
            <a:ext cx="3017520" cy="219456"/>
          </a:xfrm>
          <a:prstGeom prst="rect">
            <a:avLst/>
          </a:prstGeom>
          <a:noFill/>
          <a:ln/>
        </p:spPr>
        <p:txBody>
          <a:bodyPr wrap="square" rtlCol="0" anchor="ctr"/>
          <a:lstStyle/>
          <a:p>
            <a:pPr marL="0" indent="0">
              <a:buNone/>
            </a:pPr>
            <a:r>
              <a:rPr lang="en-US" sz="1100" b="1">
                <a:solidFill>
                  <a:srgbClr val="0D9488"/>
                </a:solidFill>
              </a:rPr>
              <a:t>Advanced Matching</a:t>
            </a:r>
            <a:endParaRPr lang="en-US" sz="1100"/>
          </a:p>
        </p:txBody>
      </p:sp>
      <p:sp>
        <p:nvSpPr>
          <p:cNvPr id="18" name="Text 16"/>
          <p:cNvSpPr/>
          <p:nvPr/>
        </p:nvSpPr>
        <p:spPr>
          <a:xfrm>
            <a:off x="5687568" y="2103120"/>
            <a:ext cx="3017520" cy="201168"/>
          </a:xfrm>
          <a:prstGeom prst="rect">
            <a:avLst/>
          </a:prstGeom>
          <a:noFill/>
          <a:ln/>
        </p:spPr>
        <p:txBody>
          <a:bodyPr wrap="square" rtlCol="0" anchor="ctr"/>
          <a:lstStyle/>
          <a:p>
            <a:pPr marL="0" indent="0">
              <a:buNone/>
            </a:pPr>
            <a:r>
              <a:rPr lang="en-US" sz="1050">
                <a:solidFill>
                  <a:srgbClr val="1E293B"/>
                </a:solidFill>
              </a:rPr>
              <a:t>Đếm từ trùng, cụm từ liên tiếp</a:t>
            </a:r>
            <a:endParaRPr lang="en-US" sz="1050"/>
          </a:p>
        </p:txBody>
      </p:sp>
      <p:sp>
        <p:nvSpPr>
          <p:cNvPr id="19" name="Text 17"/>
          <p:cNvSpPr/>
          <p:nvPr/>
        </p:nvSpPr>
        <p:spPr>
          <a:xfrm>
            <a:off x="5687568" y="2322576"/>
            <a:ext cx="3017520" cy="219456"/>
          </a:xfrm>
          <a:prstGeom prst="rect">
            <a:avLst/>
          </a:prstGeom>
          <a:noFill/>
          <a:ln/>
        </p:spPr>
        <p:txBody>
          <a:bodyPr wrap="square" rtlCol="0" anchor="ctr"/>
          <a:lstStyle/>
          <a:p>
            <a:pPr marL="0" indent="0">
              <a:buNone/>
            </a:pPr>
            <a:r>
              <a:rPr lang="en-US" sz="1100" b="1">
                <a:solidFill>
                  <a:srgbClr val="0D9488"/>
                </a:solidFill>
              </a:rPr>
              <a:t>Regex Price Extract</a:t>
            </a:r>
            <a:endParaRPr lang="en-US" sz="1100"/>
          </a:p>
        </p:txBody>
      </p:sp>
      <p:sp>
        <p:nvSpPr>
          <p:cNvPr id="20" name="Text 18"/>
          <p:cNvSpPr/>
          <p:nvPr/>
        </p:nvSpPr>
        <p:spPr>
          <a:xfrm>
            <a:off x="5687568" y="2523744"/>
            <a:ext cx="3017520" cy="201168"/>
          </a:xfrm>
          <a:prstGeom prst="rect">
            <a:avLst/>
          </a:prstGeom>
          <a:noFill/>
          <a:ln/>
        </p:spPr>
        <p:txBody>
          <a:bodyPr wrap="square" rtlCol="0" anchor="ctr"/>
          <a:lstStyle/>
          <a:p>
            <a:pPr marL="0" indent="0">
              <a:buNone/>
            </a:pPr>
            <a:r>
              <a:rPr lang="en-US" sz="1050">
                <a:solidFill>
                  <a:srgbClr val="1E293B"/>
                </a:solidFill>
              </a:rPr>
              <a:t>Trích xuất min/max giá từ câu</a:t>
            </a:r>
            <a:endParaRPr lang="en-US" sz="1050"/>
          </a:p>
        </p:txBody>
      </p:sp>
      <p:sp>
        <p:nvSpPr>
          <p:cNvPr id="21" name="Text 19"/>
          <p:cNvSpPr/>
          <p:nvPr/>
        </p:nvSpPr>
        <p:spPr>
          <a:xfrm>
            <a:off x="5687568" y="2743200"/>
            <a:ext cx="3017520" cy="219456"/>
          </a:xfrm>
          <a:prstGeom prst="rect">
            <a:avLst/>
          </a:prstGeom>
          <a:noFill/>
          <a:ln/>
        </p:spPr>
        <p:txBody>
          <a:bodyPr wrap="square" rtlCol="0" anchor="ctr"/>
          <a:lstStyle/>
          <a:p>
            <a:pPr marL="0" indent="0">
              <a:buNone/>
            </a:pPr>
            <a:r>
              <a:rPr lang="en-US" sz="1100" b="1">
                <a:solidFill>
                  <a:srgbClr val="0D9488"/>
                </a:solidFill>
              </a:rPr>
              <a:t>Content-based Filter</a:t>
            </a:r>
            <a:endParaRPr lang="en-US" sz="1100"/>
          </a:p>
        </p:txBody>
      </p:sp>
      <p:sp>
        <p:nvSpPr>
          <p:cNvPr id="22" name="Text 20"/>
          <p:cNvSpPr/>
          <p:nvPr/>
        </p:nvSpPr>
        <p:spPr>
          <a:xfrm>
            <a:off x="5687568" y="2944368"/>
            <a:ext cx="3017520" cy="201168"/>
          </a:xfrm>
          <a:prstGeom prst="rect">
            <a:avLst/>
          </a:prstGeom>
          <a:noFill/>
          <a:ln/>
        </p:spPr>
        <p:txBody>
          <a:bodyPr wrap="square" rtlCol="0" anchor="ctr"/>
          <a:lstStyle/>
          <a:p>
            <a:pPr marL="0" indent="0">
              <a:buNone/>
            </a:pPr>
            <a:r>
              <a:rPr lang="en-US" sz="1050">
                <a:solidFill>
                  <a:srgbClr val="1E293B"/>
                </a:solidFill>
              </a:rPr>
              <a:t>Lọc theo loại SP + kết hợp random</a:t>
            </a:r>
            <a:endParaRPr lang="en-US" sz="1050"/>
          </a:p>
        </p:txBody>
      </p:sp>
      <p:sp>
        <p:nvSpPr>
          <p:cNvPr id="23" name="Shape 21"/>
          <p:cNvSpPr/>
          <p:nvPr/>
        </p:nvSpPr>
        <p:spPr>
          <a:xfrm>
            <a:off x="274320" y="3401568"/>
            <a:ext cx="8595360" cy="1463040"/>
          </a:xfrm>
          <a:prstGeom prst="rect">
            <a:avLst/>
          </a:prstGeom>
          <a:solidFill>
            <a:srgbClr val="FFFFFF"/>
          </a:solidFill>
          <a:ln/>
          <a:effectLst>
            <a:outerShdw blurRad="101600" dist="38100" dir="8100000" algn="bl" rotWithShape="0">
              <a:srgbClr val="000000">
                <a:alpha val="18000"/>
              </a:srgbClr>
            </a:outerShdw>
          </a:effectLst>
        </p:spPr>
      </p:sp>
      <p:sp>
        <p:nvSpPr>
          <p:cNvPr id="24" name="Shape 22"/>
          <p:cNvSpPr/>
          <p:nvPr/>
        </p:nvSpPr>
        <p:spPr>
          <a:xfrm>
            <a:off x="274320" y="3401568"/>
            <a:ext cx="8595360" cy="347472"/>
          </a:xfrm>
          <a:prstGeom prst="rect">
            <a:avLst/>
          </a:prstGeom>
          <a:solidFill>
            <a:srgbClr val="7C3AED"/>
          </a:solidFill>
          <a:ln/>
        </p:spPr>
      </p:sp>
      <p:sp>
        <p:nvSpPr>
          <p:cNvPr id="25" name="Text 23"/>
          <p:cNvSpPr/>
          <p:nvPr/>
        </p:nvSpPr>
        <p:spPr>
          <a:xfrm>
            <a:off x="384048" y="3447288"/>
            <a:ext cx="8229600" cy="256032"/>
          </a:xfrm>
          <a:prstGeom prst="rect">
            <a:avLst/>
          </a:prstGeom>
          <a:noFill/>
          <a:ln/>
        </p:spPr>
        <p:txBody>
          <a:bodyPr wrap="square" rtlCol="0" anchor="ctr"/>
          <a:lstStyle/>
          <a:p>
            <a:pPr marL="0" indent="0">
              <a:buNone/>
            </a:pPr>
            <a:r>
              <a:rPr lang="en-US" sz="1200" b="1">
                <a:solidFill>
                  <a:srgbClr val="FFFFFF"/>
                </a:solidFill>
              </a:rPr>
              <a:t>💾  Cơ chế lưu hành vi người dùng (LocalStorage)</a:t>
            </a:r>
            <a:endParaRPr lang="en-US" sz="1200"/>
          </a:p>
        </p:txBody>
      </p:sp>
      <p:sp>
        <p:nvSpPr>
          <p:cNvPr id="26" name="Text 24"/>
          <p:cNvSpPr/>
          <p:nvPr/>
        </p:nvSpPr>
        <p:spPr>
          <a:xfrm>
            <a:off x="411480" y="3822192"/>
            <a:ext cx="8412480" cy="777240"/>
          </a:xfrm>
          <a:prstGeom prst="rect">
            <a:avLst/>
          </a:prstGeom>
          <a:noFill/>
          <a:ln/>
        </p:spPr>
        <p:txBody>
          <a:bodyPr wrap="square" rtlCol="0" anchor="ctr"/>
          <a:lstStyle/>
          <a:p>
            <a:pPr marL="0" indent="0">
              <a:buNone/>
            </a:pPr>
            <a:r>
              <a:rPr lang="en-US" sz="1150">
                <a:solidFill>
                  <a:srgbClr val="64748B"/>
                </a:solidFill>
              </a:rPr>
              <a:t>User chat  →  </a:t>
            </a:r>
            <a:r>
              <a:rPr lang="en-US" sz="1150" b="1">
                <a:solidFill>
                  <a:srgbClr val="0D9488"/>
                </a:solidFill>
              </a:rPr>
              <a:t>Phân tích text  →  Lưu loại SP &amp; giá  →  Cộng dồn hành vi  →  Xác định sở thích  →  </a:t>
            </a:r>
            <a:r>
              <a:rPr lang="en-US" sz="1150" b="1">
                <a:solidFill>
                  <a:srgbClr val="7C3AED"/>
                </a:solidFill>
              </a:rPr>
              <a:t>Recommend sản phẩm</a:t>
            </a:r>
            <a:endParaRPr lang="en-US" sz="1150"/>
          </a:p>
        </p:txBody>
      </p:sp>
    </p:spTree>
    <p:extLst>
      <p:ext uri="{BB962C8B-B14F-4D97-AF65-F5344CB8AC3E}">
        <p14:creationId xmlns:p14="http://schemas.microsoft.com/office/powerpoint/2010/main" val="2270374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04  |  XÂY DỰNG CHATBOT</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Demo sản phẩm</a:t>
            </a:r>
            <a:endParaRPr lang="en-US" sz="2200"/>
          </a:p>
        </p:txBody>
      </p:sp>
    </p:spTree>
    <p:extLst>
      <p:ext uri="{BB962C8B-B14F-4D97-AF65-F5344CB8AC3E}">
        <p14:creationId xmlns:p14="http://schemas.microsoft.com/office/powerpoint/2010/main" val="9065109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p:spPr>
      </p:sp>
      <p:sp>
        <p:nvSpPr>
          <p:cNvPr id="3" name="Text 1"/>
          <p:cNvSpPr/>
          <p:nvPr/>
        </p:nvSpPr>
        <p:spPr>
          <a:xfrm>
            <a:off x="365760" y="91440"/>
            <a:ext cx="6400800" cy="365760"/>
          </a:xfrm>
          <a:prstGeom prst="rect">
            <a:avLst/>
          </a:prstGeom>
          <a:noFill/>
          <a:ln/>
        </p:spPr>
        <p:txBody>
          <a:bodyPr wrap="square" rtlCol="0" anchor="ctr"/>
          <a:lstStyle/>
          <a:p>
            <a:pPr marL="0" indent="0">
              <a:buNone/>
            </a:pPr>
            <a:r>
              <a:rPr lang="en-US" sz="1300" b="1">
                <a:solidFill>
                  <a:srgbClr val="14B8A6"/>
                </a:solidFill>
              </a:rPr>
              <a:t>04  |  XÂY DỰNG CHATBOT</a:t>
            </a:r>
            <a:endParaRPr lang="en-US" sz="1300"/>
          </a:p>
        </p:txBody>
      </p:sp>
      <p:sp>
        <p:nvSpPr>
          <p:cNvPr id="4" name="Text 2"/>
          <p:cNvSpPr/>
          <p:nvPr/>
        </p:nvSpPr>
        <p:spPr>
          <a:xfrm>
            <a:off x="365760" y="420624"/>
            <a:ext cx="8229600" cy="411480"/>
          </a:xfrm>
          <a:prstGeom prst="rect">
            <a:avLst/>
          </a:prstGeom>
          <a:noFill/>
          <a:ln/>
        </p:spPr>
        <p:txBody>
          <a:bodyPr wrap="square" rtlCol="0" anchor="ctr"/>
          <a:lstStyle/>
          <a:p>
            <a:pPr marL="0" indent="0">
              <a:buNone/>
            </a:pPr>
            <a:r>
              <a:rPr lang="en-US" sz="2200" b="1">
                <a:solidFill>
                  <a:srgbClr val="FFFFFF"/>
                </a:solidFill>
              </a:rPr>
              <a:t>Kết Quả Kiểm Thử &amp; Đánh Giá</a:t>
            </a:r>
            <a:endParaRPr lang="en-US" sz="2200"/>
          </a:p>
        </p:txBody>
      </p:sp>
      <p:sp>
        <p:nvSpPr>
          <p:cNvPr id="5" name="Shape 3"/>
          <p:cNvSpPr/>
          <p:nvPr/>
        </p:nvSpPr>
        <p:spPr>
          <a:xfrm>
            <a:off x="274320" y="1005840"/>
            <a:ext cx="8595360" cy="2286000"/>
          </a:xfrm>
          <a:prstGeom prst="rect">
            <a:avLst/>
          </a:prstGeom>
          <a:solidFill>
            <a:srgbClr val="FFFFFF"/>
          </a:solidFill>
          <a:ln/>
          <a:effectLst>
            <a:outerShdw blurRad="101600" dist="38100" dir="8100000" algn="bl" rotWithShape="0">
              <a:srgbClr val="000000">
                <a:alpha val="18000"/>
              </a:srgbClr>
            </a:outerShdw>
          </a:effectLst>
        </p:spPr>
      </p:sp>
      <p:sp>
        <p:nvSpPr>
          <p:cNvPr id="6" name="Shape 4"/>
          <p:cNvSpPr/>
          <p:nvPr/>
        </p:nvSpPr>
        <p:spPr>
          <a:xfrm>
            <a:off x="274320" y="1005840"/>
            <a:ext cx="8595360" cy="347472"/>
          </a:xfrm>
          <a:prstGeom prst="rect">
            <a:avLst/>
          </a:prstGeom>
          <a:solidFill>
            <a:srgbClr val="0D9488"/>
          </a:solidFill>
          <a:ln/>
        </p:spPr>
      </p:sp>
      <p:sp>
        <p:nvSpPr>
          <p:cNvPr id="7" name="Text 5"/>
          <p:cNvSpPr/>
          <p:nvPr/>
        </p:nvSpPr>
        <p:spPr>
          <a:xfrm>
            <a:off x="384048" y="1051560"/>
            <a:ext cx="8229600" cy="256032"/>
          </a:xfrm>
          <a:prstGeom prst="rect">
            <a:avLst/>
          </a:prstGeom>
          <a:noFill/>
          <a:ln/>
        </p:spPr>
        <p:txBody>
          <a:bodyPr wrap="square" rtlCol="0" anchor="ctr"/>
          <a:lstStyle/>
          <a:p>
            <a:pPr marL="0" indent="0">
              <a:buNone/>
            </a:pPr>
            <a:r>
              <a:rPr lang="en-US" sz="1200" b="1">
                <a:solidFill>
                  <a:srgbClr val="FFFFFF"/>
                </a:solidFill>
              </a:rPr>
              <a:t>🧪  Kết Quả Kiểm Thử Chức Năng</a:t>
            </a:r>
            <a:endParaRPr lang="en-US" sz="1200"/>
          </a:p>
        </p:txBody>
      </p:sp>
      <p:sp>
        <p:nvSpPr>
          <p:cNvPr id="8" name="Shape 6"/>
          <p:cNvSpPr/>
          <p:nvPr/>
        </p:nvSpPr>
        <p:spPr>
          <a:xfrm>
            <a:off x="274320" y="1353312"/>
            <a:ext cx="8595360" cy="256032"/>
          </a:xfrm>
          <a:prstGeom prst="rect">
            <a:avLst/>
          </a:prstGeom>
          <a:solidFill>
            <a:srgbClr val="E2E8F0"/>
          </a:solidFill>
          <a:ln/>
        </p:spPr>
      </p:sp>
      <p:sp>
        <p:nvSpPr>
          <p:cNvPr id="9" name="Text 7"/>
          <p:cNvSpPr/>
          <p:nvPr/>
        </p:nvSpPr>
        <p:spPr>
          <a:xfrm>
            <a:off x="347472" y="1371600"/>
            <a:ext cx="2743200" cy="219456"/>
          </a:xfrm>
          <a:prstGeom prst="rect">
            <a:avLst/>
          </a:prstGeom>
          <a:noFill/>
          <a:ln/>
        </p:spPr>
        <p:txBody>
          <a:bodyPr wrap="square" rtlCol="0" anchor="ctr"/>
          <a:lstStyle/>
          <a:p>
            <a:pPr marL="0" indent="0">
              <a:buNone/>
            </a:pPr>
            <a:r>
              <a:rPr lang="en-US" sz="1050" b="1">
                <a:solidFill>
                  <a:srgbClr val="1E293B"/>
                </a:solidFill>
              </a:rPr>
              <a:t>Input mẫu</a:t>
            </a:r>
            <a:endParaRPr lang="en-US" sz="1050"/>
          </a:p>
        </p:txBody>
      </p:sp>
      <p:sp>
        <p:nvSpPr>
          <p:cNvPr id="10" name="Text 8"/>
          <p:cNvSpPr/>
          <p:nvPr/>
        </p:nvSpPr>
        <p:spPr>
          <a:xfrm>
            <a:off x="3127248" y="1371600"/>
            <a:ext cx="3657600" cy="219456"/>
          </a:xfrm>
          <a:prstGeom prst="rect">
            <a:avLst/>
          </a:prstGeom>
          <a:noFill/>
          <a:ln/>
        </p:spPr>
        <p:txBody>
          <a:bodyPr wrap="square" rtlCol="0" anchor="ctr"/>
          <a:lstStyle/>
          <a:p>
            <a:pPr marL="0" indent="0">
              <a:buNone/>
            </a:pPr>
            <a:r>
              <a:rPr lang="en-US" sz="1050" b="1">
                <a:solidFill>
                  <a:srgbClr val="1E293B"/>
                </a:solidFill>
              </a:rPr>
              <a:t>Kết quả mong đợi</a:t>
            </a:r>
            <a:endParaRPr lang="en-US" sz="1050"/>
          </a:p>
        </p:txBody>
      </p:sp>
      <p:sp>
        <p:nvSpPr>
          <p:cNvPr id="11" name="Text 9"/>
          <p:cNvSpPr/>
          <p:nvPr/>
        </p:nvSpPr>
        <p:spPr>
          <a:xfrm>
            <a:off x="6821424" y="1371600"/>
            <a:ext cx="2011680" cy="219456"/>
          </a:xfrm>
          <a:prstGeom prst="rect">
            <a:avLst/>
          </a:prstGeom>
          <a:noFill/>
          <a:ln/>
        </p:spPr>
        <p:txBody>
          <a:bodyPr wrap="square" rtlCol="0" anchor="ctr"/>
          <a:lstStyle/>
          <a:p>
            <a:pPr marL="0" indent="0">
              <a:buNone/>
            </a:pPr>
            <a:r>
              <a:rPr lang="en-US" sz="1050" b="1">
                <a:solidFill>
                  <a:srgbClr val="1E293B"/>
                </a:solidFill>
              </a:rPr>
              <a:t>Thực tế</a:t>
            </a:r>
            <a:endParaRPr lang="en-US" sz="1050"/>
          </a:p>
        </p:txBody>
      </p:sp>
      <p:sp>
        <p:nvSpPr>
          <p:cNvPr id="12" name="Shape 10"/>
          <p:cNvSpPr/>
          <p:nvPr/>
        </p:nvSpPr>
        <p:spPr>
          <a:xfrm>
            <a:off x="274320" y="1627632"/>
            <a:ext cx="8595360" cy="320040"/>
          </a:xfrm>
          <a:prstGeom prst="rect">
            <a:avLst/>
          </a:prstGeom>
          <a:solidFill>
            <a:srgbClr val="F8FAFC"/>
          </a:solidFill>
          <a:ln/>
        </p:spPr>
      </p:sp>
      <p:sp>
        <p:nvSpPr>
          <p:cNvPr id="13" name="Text 11"/>
          <p:cNvSpPr/>
          <p:nvPr/>
        </p:nvSpPr>
        <p:spPr>
          <a:xfrm>
            <a:off x="347472" y="1645920"/>
            <a:ext cx="2743200" cy="274320"/>
          </a:xfrm>
          <a:prstGeom prst="rect">
            <a:avLst/>
          </a:prstGeom>
          <a:noFill/>
          <a:ln/>
        </p:spPr>
        <p:txBody>
          <a:bodyPr wrap="square" rtlCol="0" anchor="ctr"/>
          <a:lstStyle/>
          <a:p>
            <a:pPr marL="0" indent="0">
              <a:buNone/>
            </a:pPr>
            <a:r>
              <a:rPr lang="en-US" sz="1000">
                <a:solidFill>
                  <a:srgbClr val="1E293B"/>
                </a:solidFill>
              </a:rPr>
              <a:t>"hàng mới" / "hang moi"</a:t>
            </a:r>
            <a:endParaRPr lang="en-US" sz="1000"/>
          </a:p>
        </p:txBody>
      </p:sp>
      <p:sp>
        <p:nvSpPr>
          <p:cNvPr id="14" name="Text 12"/>
          <p:cNvSpPr/>
          <p:nvPr/>
        </p:nvSpPr>
        <p:spPr>
          <a:xfrm>
            <a:off x="3127248" y="1645920"/>
            <a:ext cx="3657600" cy="274320"/>
          </a:xfrm>
          <a:prstGeom prst="rect">
            <a:avLst/>
          </a:prstGeom>
          <a:noFill/>
          <a:ln/>
        </p:spPr>
        <p:txBody>
          <a:bodyPr wrap="square" rtlCol="0" anchor="ctr"/>
          <a:lstStyle/>
          <a:p>
            <a:pPr marL="0" indent="0">
              <a:buNone/>
            </a:pPr>
            <a:r>
              <a:rPr lang="en-US" sz="1000">
                <a:solidFill>
                  <a:srgbClr val="1E293B"/>
                </a:solidFill>
              </a:rPr>
              <a:t>5 sản phẩm mới nhất</a:t>
            </a:r>
            <a:endParaRPr lang="en-US" sz="1000"/>
          </a:p>
        </p:txBody>
      </p:sp>
      <p:sp>
        <p:nvSpPr>
          <p:cNvPr id="15" name="Text 13"/>
          <p:cNvSpPr/>
          <p:nvPr/>
        </p:nvSpPr>
        <p:spPr>
          <a:xfrm>
            <a:off x="6821424" y="1645920"/>
            <a:ext cx="2011680" cy="274320"/>
          </a:xfrm>
          <a:prstGeom prst="rect">
            <a:avLst/>
          </a:prstGeom>
          <a:noFill/>
          <a:ln/>
        </p:spPr>
        <p:txBody>
          <a:bodyPr wrap="square" rtlCol="0" anchor="ctr"/>
          <a:lstStyle/>
          <a:p>
            <a:pPr marL="0" indent="0">
              <a:buNone/>
            </a:pPr>
            <a:r>
              <a:rPr lang="en-US" sz="1050" b="1">
                <a:solidFill>
                  <a:srgbClr val="16A34A"/>
                </a:solidFill>
              </a:rPr>
              <a:t>✅ Đúng</a:t>
            </a:r>
            <a:endParaRPr lang="en-US" sz="1050"/>
          </a:p>
        </p:txBody>
      </p:sp>
      <p:sp>
        <p:nvSpPr>
          <p:cNvPr id="16" name="Text 14"/>
          <p:cNvSpPr/>
          <p:nvPr/>
        </p:nvSpPr>
        <p:spPr>
          <a:xfrm>
            <a:off x="347472" y="1965960"/>
            <a:ext cx="2743200" cy="274320"/>
          </a:xfrm>
          <a:prstGeom prst="rect">
            <a:avLst/>
          </a:prstGeom>
          <a:noFill/>
          <a:ln/>
        </p:spPr>
        <p:txBody>
          <a:bodyPr wrap="square" rtlCol="0" anchor="ctr"/>
          <a:lstStyle/>
          <a:p>
            <a:pPr marL="0" indent="0">
              <a:buNone/>
            </a:pPr>
            <a:r>
              <a:rPr lang="en-US" sz="1000">
                <a:solidFill>
                  <a:srgbClr val="1E293B"/>
                </a:solidFill>
              </a:rPr>
              <a:t>"HG dưới 300k" / "HG duoi 300k"</a:t>
            </a:r>
            <a:endParaRPr lang="en-US" sz="1000"/>
          </a:p>
        </p:txBody>
      </p:sp>
      <p:sp>
        <p:nvSpPr>
          <p:cNvPr id="17" name="Text 15"/>
          <p:cNvSpPr/>
          <p:nvPr/>
        </p:nvSpPr>
        <p:spPr>
          <a:xfrm>
            <a:off x="3127248" y="1965960"/>
            <a:ext cx="3657600" cy="274320"/>
          </a:xfrm>
          <a:prstGeom prst="rect">
            <a:avLst/>
          </a:prstGeom>
          <a:noFill/>
          <a:ln/>
        </p:spPr>
        <p:txBody>
          <a:bodyPr wrap="square" rtlCol="0" anchor="ctr"/>
          <a:lstStyle/>
          <a:p>
            <a:pPr marL="0" indent="0">
              <a:buNone/>
            </a:pPr>
            <a:r>
              <a:rPr lang="en-US" sz="1000">
                <a:solidFill>
                  <a:srgbClr val="1E293B"/>
                </a:solidFill>
              </a:rPr>
              <a:t>SP HG có giá &lt; 300k</a:t>
            </a:r>
            <a:endParaRPr lang="en-US" sz="1000"/>
          </a:p>
        </p:txBody>
      </p:sp>
      <p:sp>
        <p:nvSpPr>
          <p:cNvPr id="18" name="Text 16"/>
          <p:cNvSpPr/>
          <p:nvPr/>
        </p:nvSpPr>
        <p:spPr>
          <a:xfrm>
            <a:off x="6821424" y="1965960"/>
            <a:ext cx="2011680" cy="274320"/>
          </a:xfrm>
          <a:prstGeom prst="rect">
            <a:avLst/>
          </a:prstGeom>
          <a:noFill/>
          <a:ln/>
        </p:spPr>
        <p:txBody>
          <a:bodyPr wrap="square" rtlCol="0" anchor="ctr"/>
          <a:lstStyle/>
          <a:p>
            <a:pPr marL="0" indent="0">
              <a:buNone/>
            </a:pPr>
            <a:r>
              <a:rPr lang="en-US" sz="1050" b="1">
                <a:solidFill>
                  <a:srgbClr val="16A34A"/>
                </a:solidFill>
              </a:rPr>
              <a:t>✅ Đúng</a:t>
            </a:r>
            <a:endParaRPr lang="en-US" sz="1050"/>
          </a:p>
        </p:txBody>
      </p:sp>
      <p:sp>
        <p:nvSpPr>
          <p:cNvPr id="19" name="Shape 17"/>
          <p:cNvSpPr/>
          <p:nvPr/>
        </p:nvSpPr>
        <p:spPr>
          <a:xfrm>
            <a:off x="274320" y="2267712"/>
            <a:ext cx="8595360" cy="320040"/>
          </a:xfrm>
          <a:prstGeom prst="rect">
            <a:avLst/>
          </a:prstGeom>
          <a:solidFill>
            <a:srgbClr val="F8FAFC"/>
          </a:solidFill>
          <a:ln/>
        </p:spPr>
      </p:sp>
      <p:sp>
        <p:nvSpPr>
          <p:cNvPr id="20" name="Text 18"/>
          <p:cNvSpPr/>
          <p:nvPr/>
        </p:nvSpPr>
        <p:spPr>
          <a:xfrm>
            <a:off x="347472" y="2286000"/>
            <a:ext cx="2743200" cy="274320"/>
          </a:xfrm>
          <a:prstGeom prst="rect">
            <a:avLst/>
          </a:prstGeom>
          <a:noFill/>
          <a:ln/>
        </p:spPr>
        <p:txBody>
          <a:bodyPr wrap="square" rtlCol="0" anchor="ctr"/>
          <a:lstStyle/>
          <a:p>
            <a:pPr marL="0" indent="0">
              <a:buNone/>
            </a:pPr>
            <a:r>
              <a:rPr lang="en-US" sz="1000">
                <a:solidFill>
                  <a:srgbClr val="1E293B"/>
                </a:solidFill>
              </a:rPr>
              <a:t>"hot" / "best seller"</a:t>
            </a:r>
            <a:endParaRPr lang="en-US" sz="1000"/>
          </a:p>
        </p:txBody>
      </p:sp>
      <p:sp>
        <p:nvSpPr>
          <p:cNvPr id="21" name="Text 19"/>
          <p:cNvSpPr/>
          <p:nvPr/>
        </p:nvSpPr>
        <p:spPr>
          <a:xfrm>
            <a:off x="3127248" y="2286000"/>
            <a:ext cx="3657600" cy="274320"/>
          </a:xfrm>
          <a:prstGeom prst="rect">
            <a:avLst/>
          </a:prstGeom>
          <a:noFill/>
          <a:ln/>
        </p:spPr>
        <p:txBody>
          <a:bodyPr wrap="square" rtlCol="0" anchor="ctr"/>
          <a:lstStyle/>
          <a:p>
            <a:pPr marL="0" indent="0">
              <a:buNone/>
            </a:pPr>
            <a:r>
              <a:rPr lang="en-US" sz="1000">
                <a:solidFill>
                  <a:srgbClr val="1E293B"/>
                </a:solidFill>
              </a:rPr>
              <a:t>Top 5 bán chạy</a:t>
            </a:r>
            <a:endParaRPr lang="en-US" sz="1000"/>
          </a:p>
        </p:txBody>
      </p:sp>
      <p:sp>
        <p:nvSpPr>
          <p:cNvPr id="22" name="Text 20"/>
          <p:cNvSpPr/>
          <p:nvPr/>
        </p:nvSpPr>
        <p:spPr>
          <a:xfrm>
            <a:off x="6821424" y="2286000"/>
            <a:ext cx="2011680" cy="274320"/>
          </a:xfrm>
          <a:prstGeom prst="rect">
            <a:avLst/>
          </a:prstGeom>
          <a:noFill/>
          <a:ln/>
        </p:spPr>
        <p:txBody>
          <a:bodyPr wrap="square" rtlCol="0" anchor="ctr"/>
          <a:lstStyle/>
          <a:p>
            <a:pPr marL="0" indent="0">
              <a:buNone/>
            </a:pPr>
            <a:r>
              <a:rPr lang="en-US" sz="1050" b="1">
                <a:solidFill>
                  <a:srgbClr val="16A34A"/>
                </a:solidFill>
              </a:rPr>
              <a:t>✅ Đúng</a:t>
            </a:r>
            <a:endParaRPr lang="en-US" sz="1050"/>
          </a:p>
        </p:txBody>
      </p:sp>
      <p:sp>
        <p:nvSpPr>
          <p:cNvPr id="23" name="Text 21"/>
          <p:cNvSpPr/>
          <p:nvPr/>
        </p:nvSpPr>
        <p:spPr>
          <a:xfrm>
            <a:off x="347472" y="2606040"/>
            <a:ext cx="2743200" cy="274320"/>
          </a:xfrm>
          <a:prstGeom prst="rect">
            <a:avLst/>
          </a:prstGeom>
          <a:noFill/>
          <a:ln/>
        </p:spPr>
        <p:txBody>
          <a:bodyPr wrap="square" rtlCol="0" anchor="ctr"/>
          <a:lstStyle/>
          <a:p>
            <a:pPr marL="0" indent="0">
              <a:buNone/>
            </a:pPr>
            <a:r>
              <a:rPr lang="en-US" sz="1000">
                <a:solidFill>
                  <a:srgbClr val="1E293B"/>
                </a:solidFill>
              </a:rPr>
              <a:t>"gợi ý riêng" (có lịch sử)</a:t>
            </a:r>
            <a:endParaRPr lang="en-US" sz="1000"/>
          </a:p>
        </p:txBody>
      </p:sp>
      <p:sp>
        <p:nvSpPr>
          <p:cNvPr id="24" name="Text 22"/>
          <p:cNvSpPr/>
          <p:nvPr/>
        </p:nvSpPr>
        <p:spPr>
          <a:xfrm>
            <a:off x="3127248" y="2606040"/>
            <a:ext cx="3657600" cy="274320"/>
          </a:xfrm>
          <a:prstGeom prst="rect">
            <a:avLst/>
          </a:prstGeom>
          <a:noFill/>
          <a:ln/>
        </p:spPr>
        <p:txBody>
          <a:bodyPr wrap="square" rtlCol="0" anchor="ctr"/>
          <a:lstStyle/>
          <a:p>
            <a:pPr marL="0" indent="0">
              <a:buNone/>
            </a:pPr>
            <a:r>
              <a:rPr lang="en-US" sz="1000">
                <a:solidFill>
                  <a:srgbClr val="1E293B"/>
                </a:solidFill>
              </a:rPr>
              <a:t>SP theo loại quan tâm nhất</a:t>
            </a:r>
            <a:endParaRPr lang="en-US" sz="1000"/>
          </a:p>
        </p:txBody>
      </p:sp>
      <p:sp>
        <p:nvSpPr>
          <p:cNvPr id="25" name="Text 23"/>
          <p:cNvSpPr/>
          <p:nvPr/>
        </p:nvSpPr>
        <p:spPr>
          <a:xfrm>
            <a:off x="6821424" y="2606040"/>
            <a:ext cx="2011680" cy="274320"/>
          </a:xfrm>
          <a:prstGeom prst="rect">
            <a:avLst/>
          </a:prstGeom>
          <a:noFill/>
          <a:ln/>
        </p:spPr>
        <p:txBody>
          <a:bodyPr wrap="square" rtlCol="0" anchor="ctr"/>
          <a:lstStyle/>
          <a:p>
            <a:pPr marL="0" indent="0">
              <a:buNone/>
            </a:pPr>
            <a:r>
              <a:rPr lang="en-US" sz="1050" b="1">
                <a:solidFill>
                  <a:srgbClr val="16A34A"/>
                </a:solidFill>
              </a:rPr>
              <a:t>✅ Đúng</a:t>
            </a:r>
            <a:endParaRPr lang="en-US" sz="1050"/>
          </a:p>
        </p:txBody>
      </p:sp>
      <p:sp>
        <p:nvSpPr>
          <p:cNvPr id="26" name="Shape 24"/>
          <p:cNvSpPr/>
          <p:nvPr/>
        </p:nvSpPr>
        <p:spPr>
          <a:xfrm>
            <a:off x="274320" y="2907792"/>
            <a:ext cx="8595360" cy="320040"/>
          </a:xfrm>
          <a:prstGeom prst="rect">
            <a:avLst/>
          </a:prstGeom>
          <a:solidFill>
            <a:srgbClr val="F8FAFC"/>
          </a:solidFill>
          <a:ln/>
        </p:spPr>
      </p:sp>
      <p:sp>
        <p:nvSpPr>
          <p:cNvPr id="27" name="Text 25"/>
          <p:cNvSpPr/>
          <p:nvPr/>
        </p:nvSpPr>
        <p:spPr>
          <a:xfrm>
            <a:off x="347472" y="2926080"/>
            <a:ext cx="2743200" cy="274320"/>
          </a:xfrm>
          <a:prstGeom prst="rect">
            <a:avLst/>
          </a:prstGeom>
          <a:noFill/>
          <a:ln/>
        </p:spPr>
        <p:txBody>
          <a:bodyPr wrap="square" rtlCol="0" anchor="ctr"/>
          <a:lstStyle/>
          <a:p>
            <a:pPr marL="0" indent="0">
              <a:buNone/>
            </a:pPr>
            <a:r>
              <a:rPr lang="en-US" sz="1000">
                <a:solidFill>
                  <a:srgbClr val="1E293B"/>
                </a:solidFill>
              </a:rPr>
              <a:t>"1/144 1/100" (FAQ thiếu ngữ cảnh)</a:t>
            </a:r>
            <a:endParaRPr lang="en-US" sz="1000"/>
          </a:p>
        </p:txBody>
      </p:sp>
      <p:sp>
        <p:nvSpPr>
          <p:cNvPr id="28" name="Text 26"/>
          <p:cNvSpPr/>
          <p:nvPr/>
        </p:nvSpPr>
        <p:spPr>
          <a:xfrm>
            <a:off x="3127248" y="2926080"/>
            <a:ext cx="3657600" cy="274320"/>
          </a:xfrm>
          <a:prstGeom prst="rect">
            <a:avLst/>
          </a:prstGeom>
          <a:noFill/>
          <a:ln/>
        </p:spPr>
        <p:txBody>
          <a:bodyPr wrap="square" rtlCol="0" anchor="ctr"/>
          <a:lstStyle/>
          <a:p>
            <a:pPr marL="0" indent="0">
              <a:buNone/>
            </a:pPr>
            <a:r>
              <a:rPr lang="en-US" sz="1000">
                <a:solidFill>
                  <a:srgbClr val="1E293B"/>
                </a:solidFill>
              </a:rPr>
              <a:t>Câu trả lời FAQ</a:t>
            </a:r>
            <a:endParaRPr lang="en-US" sz="1000"/>
          </a:p>
        </p:txBody>
      </p:sp>
      <p:sp>
        <p:nvSpPr>
          <p:cNvPr id="29" name="Text 27"/>
          <p:cNvSpPr/>
          <p:nvPr/>
        </p:nvSpPr>
        <p:spPr>
          <a:xfrm>
            <a:off x="6821424" y="2926080"/>
            <a:ext cx="2011680" cy="274320"/>
          </a:xfrm>
          <a:prstGeom prst="rect">
            <a:avLst/>
          </a:prstGeom>
          <a:noFill/>
          <a:ln/>
        </p:spPr>
        <p:txBody>
          <a:bodyPr wrap="square" rtlCol="0" anchor="ctr"/>
          <a:lstStyle/>
          <a:p>
            <a:pPr marL="0" indent="0">
              <a:buNone/>
            </a:pPr>
            <a:r>
              <a:rPr lang="en-US" sz="1050" b="1">
                <a:solidFill>
                  <a:srgbClr val="D97706"/>
                </a:solidFill>
              </a:rPr>
              <a:t>⚠️ Default</a:t>
            </a:r>
            <a:endParaRPr lang="en-US" sz="1050"/>
          </a:p>
        </p:txBody>
      </p:sp>
      <p:sp>
        <p:nvSpPr>
          <p:cNvPr id="30" name="Shape 28"/>
          <p:cNvSpPr/>
          <p:nvPr/>
        </p:nvSpPr>
        <p:spPr>
          <a:xfrm>
            <a:off x="274320" y="3383280"/>
            <a:ext cx="4160520" cy="1508760"/>
          </a:xfrm>
          <a:prstGeom prst="rect">
            <a:avLst/>
          </a:prstGeom>
          <a:solidFill>
            <a:srgbClr val="FFFFFF"/>
          </a:solidFill>
          <a:ln/>
          <a:effectLst>
            <a:outerShdw blurRad="101600" dist="38100" dir="8100000" algn="bl" rotWithShape="0">
              <a:srgbClr val="000000">
                <a:alpha val="18000"/>
              </a:srgbClr>
            </a:outerShdw>
          </a:effectLst>
        </p:spPr>
      </p:sp>
      <p:sp>
        <p:nvSpPr>
          <p:cNvPr id="31" name="Shape 29"/>
          <p:cNvSpPr/>
          <p:nvPr/>
        </p:nvSpPr>
        <p:spPr>
          <a:xfrm>
            <a:off x="274320" y="3383280"/>
            <a:ext cx="4160520" cy="347472"/>
          </a:xfrm>
          <a:prstGeom prst="rect">
            <a:avLst/>
          </a:prstGeom>
          <a:solidFill>
            <a:srgbClr val="16A34A"/>
          </a:solidFill>
          <a:ln/>
        </p:spPr>
      </p:sp>
      <p:sp>
        <p:nvSpPr>
          <p:cNvPr id="32" name="Text 30"/>
          <p:cNvSpPr/>
          <p:nvPr/>
        </p:nvSpPr>
        <p:spPr>
          <a:xfrm>
            <a:off x="384048" y="3429000"/>
            <a:ext cx="3840480" cy="256032"/>
          </a:xfrm>
          <a:prstGeom prst="rect">
            <a:avLst/>
          </a:prstGeom>
          <a:noFill/>
          <a:ln/>
        </p:spPr>
        <p:txBody>
          <a:bodyPr wrap="square" rtlCol="0" anchor="ctr"/>
          <a:lstStyle/>
          <a:p>
            <a:pPr marL="0" indent="0">
              <a:buNone/>
            </a:pPr>
            <a:r>
              <a:rPr lang="en-US" sz="1200" b="1">
                <a:solidFill>
                  <a:srgbClr val="FFFFFF"/>
                </a:solidFill>
              </a:rPr>
              <a:t>✅  Ưu điểm</a:t>
            </a:r>
            <a:endParaRPr lang="en-US" sz="1200"/>
          </a:p>
        </p:txBody>
      </p:sp>
      <p:sp>
        <p:nvSpPr>
          <p:cNvPr id="33" name="Text 31"/>
          <p:cNvSpPr/>
          <p:nvPr/>
        </p:nvSpPr>
        <p:spPr>
          <a:xfrm>
            <a:off x="411480" y="3803904"/>
            <a:ext cx="3840480" cy="228600"/>
          </a:xfrm>
          <a:prstGeom prst="rect">
            <a:avLst/>
          </a:prstGeom>
          <a:noFill/>
          <a:ln/>
        </p:spPr>
        <p:txBody>
          <a:bodyPr wrap="square" rtlCol="0" anchor="ctr"/>
          <a:lstStyle/>
          <a:p>
            <a:pPr marL="0" indent="0">
              <a:buNone/>
            </a:pPr>
            <a:r>
              <a:rPr lang="en-US" sz="1100">
                <a:solidFill>
                  <a:srgbClr val="1E293B"/>
                </a:solidFill>
              </a:rPr>
              <a:t>• Phản hồi nhanh</a:t>
            </a:r>
            <a:endParaRPr lang="en-US" sz="1100"/>
          </a:p>
        </p:txBody>
      </p:sp>
      <p:sp>
        <p:nvSpPr>
          <p:cNvPr id="34" name="Text 32"/>
          <p:cNvSpPr/>
          <p:nvPr/>
        </p:nvSpPr>
        <p:spPr>
          <a:xfrm>
            <a:off x="411480" y="4050792"/>
            <a:ext cx="3840480" cy="228600"/>
          </a:xfrm>
          <a:prstGeom prst="rect">
            <a:avLst/>
          </a:prstGeom>
          <a:noFill/>
          <a:ln/>
        </p:spPr>
        <p:txBody>
          <a:bodyPr wrap="square" rtlCol="0" anchor="ctr"/>
          <a:lstStyle/>
          <a:p>
            <a:pPr marL="0" indent="0">
              <a:buNone/>
            </a:pPr>
            <a:r>
              <a:rPr lang="en-US" sz="1100">
                <a:solidFill>
                  <a:srgbClr val="1E293B"/>
                </a:solidFill>
              </a:rPr>
              <a:t>• Dễ triển khai</a:t>
            </a:r>
            <a:endParaRPr lang="en-US" sz="1100"/>
          </a:p>
        </p:txBody>
      </p:sp>
      <p:sp>
        <p:nvSpPr>
          <p:cNvPr id="35" name="Text 33"/>
          <p:cNvSpPr/>
          <p:nvPr/>
        </p:nvSpPr>
        <p:spPr>
          <a:xfrm>
            <a:off x="411480" y="4297680"/>
            <a:ext cx="3840480" cy="228600"/>
          </a:xfrm>
          <a:prstGeom prst="rect">
            <a:avLst/>
          </a:prstGeom>
          <a:noFill/>
          <a:ln/>
        </p:spPr>
        <p:txBody>
          <a:bodyPr wrap="square" rtlCol="0" anchor="ctr"/>
          <a:lstStyle/>
          <a:p>
            <a:pPr marL="0" indent="0">
              <a:buNone/>
            </a:pPr>
            <a:r>
              <a:rPr lang="en-US" sz="1100">
                <a:solidFill>
                  <a:srgbClr val="1E293B"/>
                </a:solidFill>
              </a:rPr>
              <a:t>• Tích hợp tốt với hệ thống</a:t>
            </a:r>
            <a:endParaRPr lang="en-US" sz="1100"/>
          </a:p>
        </p:txBody>
      </p:sp>
      <p:sp>
        <p:nvSpPr>
          <p:cNvPr id="36" name="Text 34"/>
          <p:cNvSpPr/>
          <p:nvPr/>
        </p:nvSpPr>
        <p:spPr>
          <a:xfrm>
            <a:off x="411480" y="4544568"/>
            <a:ext cx="3840480" cy="228600"/>
          </a:xfrm>
          <a:prstGeom prst="rect">
            <a:avLst/>
          </a:prstGeom>
          <a:noFill/>
          <a:ln/>
        </p:spPr>
        <p:txBody>
          <a:bodyPr wrap="square" rtlCol="0" anchor="ctr"/>
          <a:lstStyle/>
          <a:p>
            <a:pPr marL="0" indent="0">
              <a:buNone/>
            </a:pPr>
            <a:r>
              <a:rPr lang="en-US" sz="1100">
                <a:solidFill>
                  <a:srgbClr val="1E293B"/>
                </a:solidFill>
              </a:rPr>
              <a:t>• Không cần backend phức tạp</a:t>
            </a:r>
            <a:endParaRPr lang="en-US" sz="1100"/>
          </a:p>
        </p:txBody>
      </p:sp>
      <p:sp>
        <p:nvSpPr>
          <p:cNvPr id="37" name="Shape 35"/>
          <p:cNvSpPr/>
          <p:nvPr/>
        </p:nvSpPr>
        <p:spPr>
          <a:xfrm>
            <a:off x="4709160" y="3383280"/>
            <a:ext cx="4160520" cy="1508760"/>
          </a:xfrm>
          <a:prstGeom prst="rect">
            <a:avLst/>
          </a:prstGeom>
          <a:solidFill>
            <a:srgbClr val="FFFFFF"/>
          </a:solidFill>
          <a:ln/>
          <a:effectLst>
            <a:outerShdw blurRad="101600" dist="38100" dir="8100000" algn="bl" rotWithShape="0">
              <a:srgbClr val="000000">
                <a:alpha val="18000"/>
              </a:srgbClr>
            </a:outerShdw>
          </a:effectLst>
        </p:spPr>
      </p:sp>
      <p:sp>
        <p:nvSpPr>
          <p:cNvPr id="38" name="Shape 36"/>
          <p:cNvSpPr/>
          <p:nvPr/>
        </p:nvSpPr>
        <p:spPr>
          <a:xfrm>
            <a:off x="4709160" y="3383280"/>
            <a:ext cx="4160520" cy="347472"/>
          </a:xfrm>
          <a:prstGeom prst="rect">
            <a:avLst/>
          </a:prstGeom>
          <a:solidFill>
            <a:srgbClr val="DC2626"/>
          </a:solidFill>
          <a:ln/>
        </p:spPr>
      </p:sp>
      <p:sp>
        <p:nvSpPr>
          <p:cNvPr id="39" name="Text 37"/>
          <p:cNvSpPr/>
          <p:nvPr/>
        </p:nvSpPr>
        <p:spPr>
          <a:xfrm>
            <a:off x="4818888" y="3429000"/>
            <a:ext cx="3840480" cy="256032"/>
          </a:xfrm>
          <a:prstGeom prst="rect">
            <a:avLst/>
          </a:prstGeom>
          <a:noFill/>
          <a:ln/>
        </p:spPr>
        <p:txBody>
          <a:bodyPr wrap="square" rtlCol="0" anchor="ctr"/>
          <a:lstStyle/>
          <a:p>
            <a:pPr marL="0" indent="0">
              <a:buNone/>
            </a:pPr>
            <a:r>
              <a:rPr lang="en-US" sz="1200" b="1">
                <a:solidFill>
                  <a:srgbClr val="FFFFFF"/>
                </a:solidFill>
              </a:rPr>
              <a:t>⚠️  Nhược điểm &amp; Hướng phát triển</a:t>
            </a:r>
            <a:endParaRPr lang="en-US" sz="1200"/>
          </a:p>
        </p:txBody>
      </p:sp>
      <p:sp>
        <p:nvSpPr>
          <p:cNvPr id="40" name="Text 38"/>
          <p:cNvSpPr/>
          <p:nvPr/>
        </p:nvSpPr>
        <p:spPr>
          <a:xfrm>
            <a:off x="4828032" y="3803904"/>
            <a:ext cx="3840480" cy="228600"/>
          </a:xfrm>
          <a:prstGeom prst="rect">
            <a:avLst/>
          </a:prstGeom>
          <a:noFill/>
          <a:ln/>
        </p:spPr>
        <p:txBody>
          <a:bodyPr wrap="square" rtlCol="0" anchor="ctr"/>
          <a:lstStyle/>
          <a:p>
            <a:pPr marL="0" indent="0">
              <a:buNone/>
            </a:pPr>
            <a:r>
              <a:rPr lang="en-US" sz="1100">
                <a:solidFill>
                  <a:srgbClr val="1E293B"/>
                </a:solidFill>
              </a:rPr>
              <a:t>• Chưa hiểu ngữ nghĩa sâu</a:t>
            </a:r>
            <a:endParaRPr lang="en-US" sz="1100"/>
          </a:p>
        </p:txBody>
      </p:sp>
      <p:sp>
        <p:nvSpPr>
          <p:cNvPr id="41" name="Text 39"/>
          <p:cNvSpPr/>
          <p:nvPr/>
        </p:nvSpPr>
        <p:spPr>
          <a:xfrm>
            <a:off x="4828032" y="4050792"/>
            <a:ext cx="3840480" cy="228600"/>
          </a:xfrm>
          <a:prstGeom prst="rect">
            <a:avLst/>
          </a:prstGeom>
          <a:noFill/>
          <a:ln/>
        </p:spPr>
        <p:txBody>
          <a:bodyPr wrap="square" rtlCol="0" anchor="ctr"/>
          <a:lstStyle/>
          <a:p>
            <a:pPr marL="0" indent="0">
              <a:buNone/>
            </a:pPr>
            <a:r>
              <a:rPr lang="en-US" sz="1100">
                <a:solidFill>
                  <a:srgbClr val="1E293B"/>
                </a:solidFill>
              </a:rPr>
              <a:t>• Phụ thuộc vào từ khóa</a:t>
            </a:r>
            <a:endParaRPr lang="en-US" sz="1100"/>
          </a:p>
        </p:txBody>
      </p:sp>
      <p:sp>
        <p:nvSpPr>
          <p:cNvPr id="42" name="Text 40"/>
          <p:cNvSpPr/>
          <p:nvPr/>
        </p:nvSpPr>
        <p:spPr>
          <a:xfrm>
            <a:off x="4828032" y="4297680"/>
            <a:ext cx="3840480" cy="228600"/>
          </a:xfrm>
          <a:prstGeom prst="rect">
            <a:avLst/>
          </a:prstGeom>
          <a:noFill/>
          <a:ln/>
        </p:spPr>
        <p:txBody>
          <a:bodyPr wrap="square" rtlCol="0" anchor="ctr"/>
          <a:lstStyle/>
          <a:p>
            <a:pPr marL="0" indent="0">
              <a:buNone/>
            </a:pPr>
            <a:r>
              <a:rPr lang="en-US" sz="1100">
                <a:solidFill>
                  <a:srgbClr val="1E293B"/>
                </a:solidFill>
              </a:rPr>
              <a:t>• Nâng cấp: tích hợp NLP / ML</a:t>
            </a:r>
            <a:endParaRPr lang="en-US" sz="1100"/>
          </a:p>
        </p:txBody>
      </p:sp>
      <p:sp>
        <p:nvSpPr>
          <p:cNvPr id="43" name="Text 41"/>
          <p:cNvSpPr/>
          <p:nvPr/>
        </p:nvSpPr>
        <p:spPr>
          <a:xfrm>
            <a:off x="4828032" y="4544568"/>
            <a:ext cx="3840480" cy="228600"/>
          </a:xfrm>
          <a:prstGeom prst="rect">
            <a:avLst/>
          </a:prstGeom>
          <a:noFill/>
          <a:ln/>
        </p:spPr>
        <p:txBody>
          <a:bodyPr wrap="square" rtlCol="0" anchor="ctr"/>
          <a:lstStyle/>
          <a:p>
            <a:pPr marL="0" indent="0">
              <a:buNone/>
            </a:pPr>
            <a:r>
              <a:rPr lang="en-US" sz="1100">
                <a:solidFill>
                  <a:srgbClr val="1E293B"/>
                </a:solidFill>
              </a:rPr>
              <a:t>• Đồng bộ dữ liệu đa thiết bị</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31520" y="3200400"/>
            <a:ext cx="3657600" cy="3657600"/>
          </a:xfrm>
          <a:prstGeom prst="ellipse">
            <a:avLst/>
          </a:prstGeom>
          <a:solidFill>
            <a:srgbClr val="0D9488">
              <a:alpha val="12000"/>
            </a:srgbClr>
          </a:solidFill>
          <a:ln w="12700">
            <a:solidFill>
              <a:srgbClr val="0D9488">
                <a:alpha val="12000"/>
              </a:srgbClr>
            </a:solidFill>
            <a:prstDash val="solid"/>
          </a:ln>
        </p:spPr>
      </p:sp>
      <p:sp>
        <p:nvSpPr>
          <p:cNvPr id="3" name="Shape 1"/>
          <p:cNvSpPr/>
          <p:nvPr/>
        </p:nvSpPr>
        <p:spPr>
          <a:xfrm>
            <a:off x="7498080" y="-731520"/>
            <a:ext cx="2743200" cy="2743200"/>
          </a:xfrm>
          <a:prstGeom prst="ellipse">
            <a:avLst/>
          </a:prstGeom>
          <a:solidFill>
            <a:srgbClr val="14B8A6">
              <a:alpha val="15000"/>
            </a:srgbClr>
          </a:solidFill>
          <a:ln w="12700">
            <a:solidFill>
              <a:srgbClr val="14B8A6">
                <a:alpha val="15000"/>
              </a:srgbClr>
            </a:solidFill>
            <a:prstDash val="solid"/>
          </a:ln>
        </p:spPr>
      </p:sp>
      <p:sp>
        <p:nvSpPr>
          <p:cNvPr id="4" name="Text 2"/>
          <p:cNvSpPr/>
          <p:nvPr/>
        </p:nvSpPr>
        <p:spPr>
          <a:xfrm>
            <a:off x="457200" y="228600"/>
            <a:ext cx="8229600" cy="502920"/>
          </a:xfrm>
          <a:prstGeom prst="rect">
            <a:avLst/>
          </a:prstGeom>
          <a:noFill/>
          <a:ln/>
        </p:spPr>
        <p:txBody>
          <a:bodyPr wrap="square" rtlCol="0" anchor="ctr"/>
          <a:lstStyle/>
          <a:p>
            <a:pPr marL="0" indent="0" algn="l">
              <a:buNone/>
            </a:pPr>
            <a:r>
              <a:rPr lang="en-US" sz="3000" b="1" kern="0" spc="300">
                <a:solidFill>
                  <a:srgbClr val="14B8A6"/>
                </a:solidFill>
              </a:rPr>
              <a:t>KẾT QUẢ ĐẠT ĐƯỢC</a:t>
            </a:r>
            <a:endParaRPr lang="en-US" sz="3000"/>
          </a:p>
        </p:txBody>
      </p:sp>
      <p:sp>
        <p:nvSpPr>
          <p:cNvPr id="5" name="Shape 3"/>
          <p:cNvSpPr/>
          <p:nvPr/>
        </p:nvSpPr>
        <p:spPr>
          <a:xfrm>
            <a:off x="457200" y="786384"/>
            <a:ext cx="4572000" cy="45720"/>
          </a:xfrm>
          <a:prstGeom prst="rect">
            <a:avLst/>
          </a:prstGeom>
          <a:solidFill>
            <a:srgbClr val="0D9488"/>
          </a:solidFill>
          <a:ln/>
        </p:spPr>
      </p:sp>
      <p:sp>
        <p:nvSpPr>
          <p:cNvPr id="6" name="Shape 4"/>
          <p:cNvSpPr/>
          <p:nvPr/>
        </p:nvSpPr>
        <p:spPr>
          <a:xfrm>
            <a:off x="457200" y="960120"/>
            <a:ext cx="8229600" cy="822960"/>
          </a:xfrm>
          <a:prstGeom prst="rect">
            <a:avLst/>
          </a:prstGeom>
          <a:solidFill>
            <a:srgbClr val="FFFFFF">
              <a:alpha val="7000"/>
            </a:srgbClr>
          </a:solidFill>
          <a:ln w="12700">
            <a:solidFill>
              <a:srgbClr val="0D9488">
                <a:alpha val="30000"/>
              </a:srgbClr>
            </a:solidFill>
            <a:prstDash val="solid"/>
          </a:ln>
        </p:spPr>
      </p:sp>
      <p:sp>
        <p:nvSpPr>
          <p:cNvPr id="7" name="Shape 5"/>
          <p:cNvSpPr/>
          <p:nvPr/>
        </p:nvSpPr>
        <p:spPr>
          <a:xfrm>
            <a:off x="457200" y="960120"/>
            <a:ext cx="54864" cy="822960"/>
          </a:xfrm>
          <a:prstGeom prst="rect">
            <a:avLst/>
          </a:prstGeom>
          <a:solidFill>
            <a:srgbClr val="0D9488"/>
          </a:solidFill>
          <a:ln/>
        </p:spPr>
      </p:sp>
      <p:sp>
        <p:nvSpPr>
          <p:cNvPr id="8" name="Text 6"/>
          <p:cNvSpPr/>
          <p:nvPr/>
        </p:nvSpPr>
        <p:spPr>
          <a:xfrm>
            <a:off x="566928" y="100584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9" name="Text 7"/>
          <p:cNvSpPr/>
          <p:nvPr/>
        </p:nvSpPr>
        <p:spPr>
          <a:xfrm>
            <a:off x="1097280" y="1024128"/>
            <a:ext cx="7452360" cy="640080"/>
          </a:xfrm>
          <a:prstGeom prst="rect">
            <a:avLst/>
          </a:prstGeom>
          <a:noFill/>
          <a:ln/>
        </p:spPr>
        <p:txBody>
          <a:bodyPr wrap="square" rtlCol="0" anchor="ctr"/>
          <a:lstStyle/>
          <a:p>
            <a:pPr marL="0" indent="0">
              <a:buNone/>
            </a:pPr>
            <a:r>
              <a:rPr lang="en-US" sz="1300">
                <a:solidFill>
                  <a:srgbClr val="FFFFFF"/>
                </a:solidFill>
              </a:rPr>
              <a:t>Website TMĐT hoàn chỉnh cho cửa hàng Gundam &amp; Figure, đặt hàng trực tuyến dễ dàng</a:t>
            </a:r>
            <a:endParaRPr lang="en-US" sz="1300"/>
          </a:p>
        </p:txBody>
      </p:sp>
      <p:sp>
        <p:nvSpPr>
          <p:cNvPr id="10" name="Shape 8"/>
          <p:cNvSpPr/>
          <p:nvPr/>
        </p:nvSpPr>
        <p:spPr>
          <a:xfrm>
            <a:off x="457200" y="1920240"/>
            <a:ext cx="8229600" cy="822960"/>
          </a:xfrm>
          <a:prstGeom prst="rect">
            <a:avLst/>
          </a:prstGeom>
          <a:solidFill>
            <a:srgbClr val="FFFFFF">
              <a:alpha val="7000"/>
            </a:srgbClr>
          </a:solidFill>
          <a:ln w="12700">
            <a:solidFill>
              <a:srgbClr val="0D9488">
                <a:alpha val="30000"/>
              </a:srgbClr>
            </a:solidFill>
            <a:prstDash val="solid"/>
          </a:ln>
        </p:spPr>
      </p:sp>
      <p:sp>
        <p:nvSpPr>
          <p:cNvPr id="11" name="Shape 9"/>
          <p:cNvSpPr/>
          <p:nvPr/>
        </p:nvSpPr>
        <p:spPr>
          <a:xfrm>
            <a:off x="457200" y="1920240"/>
            <a:ext cx="54864" cy="822960"/>
          </a:xfrm>
          <a:prstGeom prst="rect">
            <a:avLst/>
          </a:prstGeom>
          <a:solidFill>
            <a:srgbClr val="0D9488"/>
          </a:solidFill>
          <a:ln/>
        </p:spPr>
      </p:sp>
      <p:sp>
        <p:nvSpPr>
          <p:cNvPr id="12" name="Text 10"/>
          <p:cNvSpPr/>
          <p:nvPr/>
        </p:nvSpPr>
        <p:spPr>
          <a:xfrm>
            <a:off x="566928" y="196596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13" name="Text 11"/>
          <p:cNvSpPr/>
          <p:nvPr/>
        </p:nvSpPr>
        <p:spPr>
          <a:xfrm>
            <a:off x="1097280" y="1984248"/>
            <a:ext cx="7452360" cy="640080"/>
          </a:xfrm>
          <a:prstGeom prst="rect">
            <a:avLst/>
          </a:prstGeom>
          <a:noFill/>
          <a:ln/>
        </p:spPr>
        <p:txBody>
          <a:bodyPr wrap="square" rtlCol="0" anchor="ctr"/>
          <a:lstStyle/>
          <a:p>
            <a:pPr marL="0" indent="0">
              <a:buNone/>
            </a:pPr>
            <a:r>
              <a:rPr lang="en-US" sz="1300">
                <a:solidFill>
                  <a:srgbClr val="FFFFFF"/>
                </a:solidFill>
              </a:rPr>
              <a:t>Trang quản trị admin đầy đủ: quản lý SP, đơn hàng, người dùng, danh mục</a:t>
            </a:r>
            <a:endParaRPr lang="en-US" sz="1300"/>
          </a:p>
        </p:txBody>
      </p:sp>
      <p:sp>
        <p:nvSpPr>
          <p:cNvPr id="14" name="Shape 12"/>
          <p:cNvSpPr/>
          <p:nvPr/>
        </p:nvSpPr>
        <p:spPr>
          <a:xfrm>
            <a:off x="457200" y="2880360"/>
            <a:ext cx="8229600" cy="822960"/>
          </a:xfrm>
          <a:prstGeom prst="rect">
            <a:avLst/>
          </a:prstGeom>
          <a:solidFill>
            <a:srgbClr val="FFFFFF">
              <a:alpha val="7000"/>
            </a:srgbClr>
          </a:solidFill>
          <a:ln w="12700">
            <a:solidFill>
              <a:srgbClr val="0D9488">
                <a:alpha val="30000"/>
              </a:srgbClr>
            </a:solidFill>
            <a:prstDash val="solid"/>
          </a:ln>
        </p:spPr>
      </p:sp>
      <p:sp>
        <p:nvSpPr>
          <p:cNvPr id="15" name="Shape 13"/>
          <p:cNvSpPr/>
          <p:nvPr/>
        </p:nvSpPr>
        <p:spPr>
          <a:xfrm>
            <a:off x="457200" y="2880360"/>
            <a:ext cx="54864" cy="822960"/>
          </a:xfrm>
          <a:prstGeom prst="rect">
            <a:avLst/>
          </a:prstGeom>
          <a:solidFill>
            <a:srgbClr val="0D9488"/>
          </a:solidFill>
          <a:ln/>
        </p:spPr>
      </p:sp>
      <p:sp>
        <p:nvSpPr>
          <p:cNvPr id="16" name="Text 14"/>
          <p:cNvSpPr/>
          <p:nvPr/>
        </p:nvSpPr>
        <p:spPr>
          <a:xfrm>
            <a:off x="566928" y="292608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17" name="Text 15"/>
          <p:cNvSpPr/>
          <p:nvPr/>
        </p:nvSpPr>
        <p:spPr>
          <a:xfrm>
            <a:off x="1097280" y="2944368"/>
            <a:ext cx="7452360" cy="640080"/>
          </a:xfrm>
          <a:prstGeom prst="rect">
            <a:avLst/>
          </a:prstGeom>
          <a:noFill/>
          <a:ln/>
        </p:spPr>
        <p:txBody>
          <a:bodyPr wrap="square" rtlCol="0" anchor="ctr"/>
          <a:lstStyle/>
          <a:p>
            <a:pPr marL="0" indent="0">
              <a:buNone/>
            </a:pPr>
            <a:r>
              <a:rPr lang="en-US" sz="1300">
                <a:solidFill>
                  <a:srgbClr val="FFFFFF"/>
                </a:solidFill>
              </a:rPr>
              <a:t>Chatbot thông minh hỗ trợ FAQ, tìm kiếm theo giá/loại, gợi ý sản phẩm</a:t>
            </a:r>
            <a:endParaRPr lang="en-US" sz="1300"/>
          </a:p>
        </p:txBody>
      </p:sp>
      <p:sp>
        <p:nvSpPr>
          <p:cNvPr id="18" name="Shape 16"/>
          <p:cNvSpPr/>
          <p:nvPr/>
        </p:nvSpPr>
        <p:spPr>
          <a:xfrm>
            <a:off x="457200" y="3840480"/>
            <a:ext cx="8229600" cy="822960"/>
          </a:xfrm>
          <a:prstGeom prst="rect">
            <a:avLst/>
          </a:prstGeom>
          <a:solidFill>
            <a:srgbClr val="FFFFFF">
              <a:alpha val="7000"/>
            </a:srgbClr>
          </a:solidFill>
          <a:ln w="12700">
            <a:solidFill>
              <a:srgbClr val="0D9488">
                <a:alpha val="30000"/>
              </a:srgbClr>
            </a:solidFill>
            <a:prstDash val="solid"/>
          </a:ln>
        </p:spPr>
      </p:sp>
      <p:sp>
        <p:nvSpPr>
          <p:cNvPr id="19" name="Shape 17"/>
          <p:cNvSpPr/>
          <p:nvPr/>
        </p:nvSpPr>
        <p:spPr>
          <a:xfrm>
            <a:off x="457200" y="3840480"/>
            <a:ext cx="54864" cy="822960"/>
          </a:xfrm>
          <a:prstGeom prst="rect">
            <a:avLst/>
          </a:prstGeom>
          <a:solidFill>
            <a:srgbClr val="0D9488"/>
          </a:solidFill>
          <a:ln/>
        </p:spPr>
      </p:sp>
      <p:sp>
        <p:nvSpPr>
          <p:cNvPr id="20" name="Text 18"/>
          <p:cNvSpPr/>
          <p:nvPr/>
        </p:nvSpPr>
        <p:spPr>
          <a:xfrm>
            <a:off x="566928" y="388620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21" name="Text 19"/>
          <p:cNvSpPr/>
          <p:nvPr/>
        </p:nvSpPr>
        <p:spPr>
          <a:xfrm>
            <a:off x="1097280" y="3904488"/>
            <a:ext cx="7452360" cy="640080"/>
          </a:xfrm>
          <a:prstGeom prst="rect">
            <a:avLst/>
          </a:prstGeom>
          <a:noFill/>
          <a:ln/>
        </p:spPr>
        <p:txBody>
          <a:bodyPr wrap="square" rtlCol="0" anchor="ctr"/>
          <a:lstStyle/>
          <a:p>
            <a:pPr marL="0" indent="0">
              <a:buNone/>
            </a:pPr>
            <a:r>
              <a:rPr lang="en-US" sz="1300">
                <a:solidFill>
                  <a:srgbClr val="FFFFFF"/>
                </a:solidFill>
              </a:rPr>
              <a:t>Hệ thống recommendation dựa trên hành vi người dùng qua localStorage</a:t>
            </a:r>
            <a:endParaRPr lang="en-US" sz="1300"/>
          </a:p>
        </p:txBody>
      </p:sp>
    </p:spTree>
    <p:extLst>
      <p:ext uri="{BB962C8B-B14F-4D97-AF65-F5344CB8AC3E}">
        <p14:creationId xmlns:p14="http://schemas.microsoft.com/office/powerpoint/2010/main" val="4065188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31520" y="3200400"/>
            <a:ext cx="3657600" cy="3657600"/>
          </a:xfrm>
          <a:prstGeom prst="ellipse">
            <a:avLst/>
          </a:prstGeom>
          <a:solidFill>
            <a:srgbClr val="0D9488">
              <a:alpha val="12000"/>
            </a:srgbClr>
          </a:solidFill>
          <a:ln w="12700">
            <a:solidFill>
              <a:srgbClr val="0D9488">
                <a:alpha val="12000"/>
              </a:srgbClr>
            </a:solidFill>
            <a:prstDash val="solid"/>
          </a:ln>
        </p:spPr>
      </p:sp>
      <p:sp>
        <p:nvSpPr>
          <p:cNvPr id="3" name="Shape 1"/>
          <p:cNvSpPr/>
          <p:nvPr/>
        </p:nvSpPr>
        <p:spPr>
          <a:xfrm>
            <a:off x="7498080" y="-731520"/>
            <a:ext cx="2743200" cy="2743200"/>
          </a:xfrm>
          <a:prstGeom prst="ellipse">
            <a:avLst/>
          </a:prstGeom>
          <a:solidFill>
            <a:srgbClr val="14B8A6">
              <a:alpha val="15000"/>
            </a:srgbClr>
          </a:solidFill>
          <a:ln w="12700">
            <a:solidFill>
              <a:srgbClr val="14B8A6">
                <a:alpha val="15000"/>
              </a:srgbClr>
            </a:solidFill>
            <a:prstDash val="solid"/>
          </a:ln>
        </p:spPr>
      </p:sp>
      <p:sp>
        <p:nvSpPr>
          <p:cNvPr id="4" name="Text 2"/>
          <p:cNvSpPr/>
          <p:nvPr/>
        </p:nvSpPr>
        <p:spPr>
          <a:xfrm>
            <a:off x="457200" y="228600"/>
            <a:ext cx="8229600" cy="502920"/>
          </a:xfrm>
          <a:prstGeom prst="rect">
            <a:avLst/>
          </a:prstGeom>
          <a:noFill/>
          <a:ln/>
        </p:spPr>
        <p:txBody>
          <a:bodyPr wrap="square" rtlCol="0" anchor="ctr"/>
          <a:lstStyle/>
          <a:p>
            <a:pPr marL="0" indent="0" algn="l">
              <a:buNone/>
            </a:pPr>
            <a:r>
              <a:rPr lang="en-US" sz="3000" b="1" kern="0" spc="300">
                <a:solidFill>
                  <a:srgbClr val="14B8A6"/>
                </a:solidFill>
              </a:rPr>
              <a:t>HẠN CHẾ CÒN TỒN ĐỌNG</a:t>
            </a:r>
            <a:endParaRPr lang="en-US" sz="3000"/>
          </a:p>
        </p:txBody>
      </p:sp>
      <p:sp>
        <p:nvSpPr>
          <p:cNvPr id="5" name="Shape 3"/>
          <p:cNvSpPr/>
          <p:nvPr/>
        </p:nvSpPr>
        <p:spPr>
          <a:xfrm>
            <a:off x="457200" y="786384"/>
            <a:ext cx="4572000" cy="45720"/>
          </a:xfrm>
          <a:prstGeom prst="rect">
            <a:avLst/>
          </a:prstGeom>
          <a:solidFill>
            <a:srgbClr val="0D9488"/>
          </a:solidFill>
          <a:ln/>
        </p:spPr>
      </p:sp>
      <p:sp>
        <p:nvSpPr>
          <p:cNvPr id="6" name="Shape 4"/>
          <p:cNvSpPr/>
          <p:nvPr/>
        </p:nvSpPr>
        <p:spPr>
          <a:xfrm>
            <a:off x="457200" y="960120"/>
            <a:ext cx="8229600" cy="822960"/>
          </a:xfrm>
          <a:prstGeom prst="rect">
            <a:avLst/>
          </a:prstGeom>
          <a:solidFill>
            <a:srgbClr val="FFFFFF">
              <a:alpha val="7000"/>
            </a:srgbClr>
          </a:solidFill>
          <a:ln w="12700">
            <a:solidFill>
              <a:srgbClr val="0D9488">
                <a:alpha val="30000"/>
              </a:srgbClr>
            </a:solidFill>
            <a:prstDash val="solid"/>
          </a:ln>
        </p:spPr>
      </p:sp>
      <p:sp>
        <p:nvSpPr>
          <p:cNvPr id="7" name="Shape 5"/>
          <p:cNvSpPr/>
          <p:nvPr/>
        </p:nvSpPr>
        <p:spPr>
          <a:xfrm>
            <a:off x="457200" y="960120"/>
            <a:ext cx="54864" cy="822960"/>
          </a:xfrm>
          <a:prstGeom prst="rect">
            <a:avLst/>
          </a:prstGeom>
          <a:solidFill>
            <a:srgbClr val="0D9488"/>
          </a:solidFill>
          <a:ln/>
        </p:spPr>
      </p:sp>
      <p:sp>
        <p:nvSpPr>
          <p:cNvPr id="8" name="Text 6"/>
          <p:cNvSpPr/>
          <p:nvPr/>
        </p:nvSpPr>
        <p:spPr>
          <a:xfrm>
            <a:off x="566928" y="100584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9" name="Text 7"/>
          <p:cNvSpPr/>
          <p:nvPr/>
        </p:nvSpPr>
        <p:spPr>
          <a:xfrm>
            <a:off x="1097280" y="1024128"/>
            <a:ext cx="7452360" cy="640080"/>
          </a:xfrm>
          <a:prstGeom prst="rect">
            <a:avLst/>
          </a:prstGeom>
          <a:noFill/>
          <a:ln/>
        </p:spPr>
        <p:txBody>
          <a:bodyPr wrap="square" rtlCol="0" anchor="ctr"/>
          <a:lstStyle/>
          <a:p>
            <a:pPr marL="0" indent="0">
              <a:buNone/>
            </a:pPr>
            <a:r>
              <a:rPr lang="en-US" sz="1400">
                <a:solidFill>
                  <a:srgbClr val="FFFFFF"/>
                </a:solidFill>
              </a:rPr>
              <a:t>Website TMĐT </a:t>
            </a:r>
            <a:r>
              <a:rPr lang="vi-VN" sz="1400">
                <a:solidFill>
                  <a:schemeClr val="bg1"/>
                </a:solidFill>
                <a:effectLst/>
                <a:ea typeface="Calibri" panose="020F0502020204030204" pitchFamily="34" charset="0"/>
                <a:cs typeface="Calibri" panose="020F0502020204030204" pitchFamily="34" charset="0"/>
              </a:rPr>
              <a:t>chưa</a:t>
            </a:r>
            <a:r>
              <a:rPr lang="vi-VN" sz="1400" spc="-20">
                <a:solidFill>
                  <a:schemeClr val="bg1"/>
                </a:solidFill>
                <a:effectLst/>
                <a:ea typeface="Calibri" panose="020F0502020204030204" pitchFamily="34" charset="0"/>
                <a:cs typeface="Calibri" panose="020F0502020204030204" pitchFamily="34" charset="0"/>
              </a:rPr>
              <a:t> </a:t>
            </a:r>
            <a:r>
              <a:rPr lang="vi-VN" sz="1400">
                <a:solidFill>
                  <a:schemeClr val="bg1"/>
                </a:solidFill>
                <a:effectLst/>
                <a:ea typeface="Calibri" panose="020F0502020204030204" pitchFamily="34" charset="0"/>
                <a:cs typeface="Calibri" panose="020F0502020204030204" pitchFamily="34" charset="0"/>
              </a:rPr>
              <a:t>cho</a:t>
            </a:r>
            <a:r>
              <a:rPr lang="vi-VN" sz="1400" spc="-25">
                <a:solidFill>
                  <a:schemeClr val="bg1"/>
                </a:solidFill>
                <a:effectLst/>
                <a:ea typeface="Calibri" panose="020F0502020204030204" pitchFamily="34" charset="0"/>
                <a:cs typeface="Calibri" panose="020F0502020204030204" pitchFamily="34" charset="0"/>
              </a:rPr>
              <a:t> </a:t>
            </a:r>
            <a:r>
              <a:rPr lang="vi-VN" sz="1400">
                <a:solidFill>
                  <a:schemeClr val="bg1"/>
                </a:solidFill>
                <a:effectLst/>
                <a:ea typeface="Calibri" panose="020F0502020204030204" pitchFamily="34" charset="0"/>
                <a:cs typeface="Calibri" panose="020F0502020204030204" pitchFamily="34" charset="0"/>
              </a:rPr>
              <a:t>phép</a:t>
            </a:r>
            <a:r>
              <a:rPr lang="vi-VN" sz="1400" spc="-20">
                <a:solidFill>
                  <a:schemeClr val="bg1"/>
                </a:solidFill>
                <a:effectLst/>
                <a:ea typeface="Calibri" panose="020F0502020204030204" pitchFamily="34" charset="0"/>
                <a:cs typeface="Calibri" panose="020F0502020204030204" pitchFamily="34" charset="0"/>
              </a:rPr>
              <a:t> </a:t>
            </a:r>
            <a:r>
              <a:rPr lang="vi-VN" sz="1400">
                <a:solidFill>
                  <a:schemeClr val="bg1"/>
                </a:solidFill>
                <a:effectLst/>
                <a:ea typeface="Calibri" panose="020F0502020204030204" pitchFamily="34" charset="0"/>
                <a:cs typeface="Calibri" panose="020F0502020204030204" pitchFamily="34" charset="0"/>
              </a:rPr>
              <a:t>khách</a:t>
            </a:r>
            <a:r>
              <a:rPr lang="vi-VN" sz="1400" spc="-20">
                <a:solidFill>
                  <a:schemeClr val="bg1"/>
                </a:solidFill>
                <a:effectLst/>
                <a:ea typeface="Calibri" panose="020F0502020204030204" pitchFamily="34" charset="0"/>
                <a:cs typeface="Calibri" panose="020F0502020204030204" pitchFamily="34" charset="0"/>
              </a:rPr>
              <a:t> </a:t>
            </a:r>
            <a:r>
              <a:rPr lang="vi-VN" sz="1400">
                <a:solidFill>
                  <a:schemeClr val="bg1"/>
                </a:solidFill>
                <a:effectLst/>
                <a:ea typeface="Calibri" panose="020F0502020204030204" pitchFamily="34" charset="0"/>
                <a:cs typeface="Calibri" panose="020F0502020204030204" pitchFamily="34" charset="0"/>
              </a:rPr>
              <a:t>hàng</a:t>
            </a:r>
            <a:r>
              <a:rPr lang="vi-VN" sz="1400" spc="-25">
                <a:solidFill>
                  <a:schemeClr val="bg1"/>
                </a:solidFill>
                <a:effectLst/>
                <a:ea typeface="Calibri" panose="020F0502020204030204" pitchFamily="34" charset="0"/>
                <a:cs typeface="Calibri" panose="020F0502020204030204" pitchFamily="34" charset="0"/>
              </a:rPr>
              <a:t> </a:t>
            </a:r>
            <a:r>
              <a:rPr lang="vi-VN" sz="1400">
                <a:solidFill>
                  <a:schemeClr val="bg1"/>
                </a:solidFill>
                <a:effectLst/>
                <a:ea typeface="Calibri" panose="020F0502020204030204" pitchFamily="34" charset="0"/>
                <a:cs typeface="Calibri" panose="020F0502020204030204" pitchFamily="34" charset="0"/>
              </a:rPr>
              <a:t>thanh toán trực tuyến được, vẫn còn một số thủ tục thanh toán thủ</a:t>
            </a:r>
            <a:r>
              <a:rPr lang="vi-VN" sz="1400" spc="-45">
                <a:solidFill>
                  <a:schemeClr val="bg1"/>
                </a:solidFill>
                <a:effectLst/>
                <a:ea typeface="Calibri" panose="020F0502020204030204" pitchFamily="34" charset="0"/>
                <a:cs typeface="Calibri" panose="020F0502020204030204" pitchFamily="34" charset="0"/>
              </a:rPr>
              <a:t> </a:t>
            </a:r>
            <a:r>
              <a:rPr lang="vi-VN" sz="1400">
                <a:solidFill>
                  <a:schemeClr val="bg1"/>
                </a:solidFill>
                <a:effectLst/>
                <a:ea typeface="Calibri" panose="020F0502020204030204" pitchFamily="34" charset="0"/>
                <a:cs typeface="Calibri" panose="020F0502020204030204" pitchFamily="34" charset="0"/>
              </a:rPr>
              <a:t>công</a:t>
            </a:r>
            <a:endParaRPr lang="en-US" sz="1400">
              <a:solidFill>
                <a:schemeClr val="bg1"/>
              </a:solidFill>
              <a:ea typeface="Calibri" panose="020F0502020204030204" pitchFamily="34" charset="0"/>
              <a:cs typeface="Calibri" panose="020F0502020204030204" pitchFamily="34" charset="0"/>
            </a:endParaRPr>
          </a:p>
        </p:txBody>
      </p:sp>
      <p:sp>
        <p:nvSpPr>
          <p:cNvPr id="10" name="Shape 8"/>
          <p:cNvSpPr/>
          <p:nvPr/>
        </p:nvSpPr>
        <p:spPr>
          <a:xfrm>
            <a:off x="457200" y="1920240"/>
            <a:ext cx="8229600" cy="822960"/>
          </a:xfrm>
          <a:prstGeom prst="rect">
            <a:avLst/>
          </a:prstGeom>
          <a:solidFill>
            <a:srgbClr val="FFFFFF">
              <a:alpha val="7000"/>
            </a:srgbClr>
          </a:solidFill>
          <a:ln w="12700">
            <a:solidFill>
              <a:srgbClr val="0D9488">
                <a:alpha val="30000"/>
              </a:srgbClr>
            </a:solidFill>
            <a:prstDash val="solid"/>
          </a:ln>
        </p:spPr>
      </p:sp>
      <p:sp>
        <p:nvSpPr>
          <p:cNvPr id="11" name="Shape 9"/>
          <p:cNvSpPr/>
          <p:nvPr/>
        </p:nvSpPr>
        <p:spPr>
          <a:xfrm>
            <a:off x="457200" y="1920240"/>
            <a:ext cx="54864" cy="822960"/>
          </a:xfrm>
          <a:prstGeom prst="rect">
            <a:avLst/>
          </a:prstGeom>
          <a:solidFill>
            <a:srgbClr val="0D9488"/>
          </a:solidFill>
          <a:ln/>
        </p:spPr>
      </p:sp>
      <p:sp>
        <p:nvSpPr>
          <p:cNvPr id="12" name="Text 10"/>
          <p:cNvSpPr/>
          <p:nvPr/>
        </p:nvSpPr>
        <p:spPr>
          <a:xfrm>
            <a:off x="566928" y="196596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13" name="Text 11"/>
          <p:cNvSpPr/>
          <p:nvPr/>
        </p:nvSpPr>
        <p:spPr>
          <a:xfrm>
            <a:off x="1097280" y="1984248"/>
            <a:ext cx="7452360" cy="640080"/>
          </a:xfrm>
          <a:prstGeom prst="rect">
            <a:avLst/>
          </a:prstGeom>
          <a:noFill/>
          <a:ln/>
        </p:spPr>
        <p:txBody>
          <a:bodyPr wrap="square" rtlCol="0" anchor="ctr"/>
          <a:lstStyle/>
          <a:p>
            <a:pPr marL="0" indent="0">
              <a:buNone/>
            </a:pPr>
            <a:r>
              <a:rPr lang="vi-VN" sz="1400">
                <a:solidFill>
                  <a:schemeClr val="bg1"/>
                </a:solidFill>
                <a:effectLst/>
                <a:latin typeface="Calibri" panose="020F0502020204030204" pitchFamily="34" charset="0"/>
                <a:ea typeface="Calibri" panose="020F0502020204030204" pitchFamily="34" charset="0"/>
                <a:cs typeface="Calibri" panose="020F0502020204030204" pitchFamily="34" charset="0"/>
              </a:rPr>
              <a:t>Hệ thống chưa có các trợ giúp ngữ cảnh cho người dùng cấu hình tạo mới website. Một số chức năng vẫn còn chưa hoàn thiện và chưa đúng với mong muốn của đã đặt ra</a:t>
            </a:r>
            <a:endParaRPr lang="en-US" sz="14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Shape 12"/>
          <p:cNvSpPr/>
          <p:nvPr/>
        </p:nvSpPr>
        <p:spPr>
          <a:xfrm>
            <a:off x="457200" y="2880360"/>
            <a:ext cx="8229600" cy="822960"/>
          </a:xfrm>
          <a:prstGeom prst="rect">
            <a:avLst/>
          </a:prstGeom>
          <a:solidFill>
            <a:srgbClr val="FFFFFF">
              <a:alpha val="7000"/>
            </a:srgbClr>
          </a:solidFill>
          <a:ln w="12700">
            <a:solidFill>
              <a:srgbClr val="0D9488">
                <a:alpha val="30000"/>
              </a:srgbClr>
            </a:solidFill>
            <a:prstDash val="solid"/>
          </a:ln>
        </p:spPr>
      </p:sp>
      <p:sp>
        <p:nvSpPr>
          <p:cNvPr id="15" name="Shape 13"/>
          <p:cNvSpPr/>
          <p:nvPr/>
        </p:nvSpPr>
        <p:spPr>
          <a:xfrm>
            <a:off x="457200" y="2880360"/>
            <a:ext cx="54864" cy="822960"/>
          </a:xfrm>
          <a:prstGeom prst="rect">
            <a:avLst/>
          </a:prstGeom>
          <a:solidFill>
            <a:srgbClr val="0D9488"/>
          </a:solidFill>
          <a:ln/>
        </p:spPr>
      </p:sp>
      <p:sp>
        <p:nvSpPr>
          <p:cNvPr id="16" name="Text 14"/>
          <p:cNvSpPr/>
          <p:nvPr/>
        </p:nvSpPr>
        <p:spPr>
          <a:xfrm>
            <a:off x="566928" y="292608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17" name="Text 15"/>
          <p:cNvSpPr/>
          <p:nvPr/>
        </p:nvSpPr>
        <p:spPr>
          <a:xfrm>
            <a:off x="1097280" y="2944368"/>
            <a:ext cx="7452360" cy="640080"/>
          </a:xfrm>
          <a:prstGeom prst="rect">
            <a:avLst/>
          </a:prstGeom>
          <a:noFill/>
          <a:ln/>
        </p:spPr>
        <p:txBody>
          <a:bodyPr wrap="square" rtlCol="0" anchor="ctr"/>
          <a:lstStyle/>
          <a:p>
            <a:pPr marL="0" indent="0">
              <a:buNone/>
            </a:pPr>
            <a:r>
              <a:rPr lang="vi-VN" sz="1400">
                <a:solidFill>
                  <a:schemeClr val="bg1"/>
                </a:solidFill>
                <a:effectLst/>
                <a:latin typeface="Calibri" panose="020F0502020204030204" pitchFamily="34" charset="0"/>
                <a:ea typeface="Calibri" panose="020F0502020204030204" pitchFamily="34" charset="0"/>
                <a:cs typeface="Calibri" panose="020F0502020204030204" pitchFamily="34" charset="0"/>
              </a:rPr>
              <a:t>Mô-đun gợi ý hiện mới dừng ở mức rule-based và content-based cơ bản, chưa áp dụng các mô hình học máy hoặc xử lý ngôn ngữ tự nhiên nâng cao, do đó khả năng hiểu ngữ cảnh và cá nhân hóa còn hạn chế</a:t>
            </a:r>
            <a:endParaRPr lang="en-US" sz="14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Shape 16"/>
          <p:cNvSpPr/>
          <p:nvPr/>
        </p:nvSpPr>
        <p:spPr>
          <a:xfrm>
            <a:off x="457200" y="3840480"/>
            <a:ext cx="8229600" cy="822960"/>
          </a:xfrm>
          <a:prstGeom prst="rect">
            <a:avLst/>
          </a:prstGeom>
          <a:solidFill>
            <a:srgbClr val="FFFFFF">
              <a:alpha val="7000"/>
            </a:srgbClr>
          </a:solidFill>
          <a:ln w="12700">
            <a:solidFill>
              <a:srgbClr val="0D9488">
                <a:alpha val="30000"/>
              </a:srgbClr>
            </a:solidFill>
            <a:prstDash val="solid"/>
          </a:ln>
        </p:spPr>
      </p:sp>
      <p:sp>
        <p:nvSpPr>
          <p:cNvPr id="19" name="Shape 17"/>
          <p:cNvSpPr/>
          <p:nvPr/>
        </p:nvSpPr>
        <p:spPr>
          <a:xfrm>
            <a:off x="457200" y="3840480"/>
            <a:ext cx="54864" cy="822960"/>
          </a:xfrm>
          <a:prstGeom prst="rect">
            <a:avLst/>
          </a:prstGeom>
          <a:solidFill>
            <a:srgbClr val="0D9488"/>
          </a:solidFill>
          <a:ln/>
        </p:spPr>
      </p:sp>
      <p:sp>
        <p:nvSpPr>
          <p:cNvPr id="20" name="Text 18"/>
          <p:cNvSpPr/>
          <p:nvPr/>
        </p:nvSpPr>
        <p:spPr>
          <a:xfrm>
            <a:off x="566928" y="388620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21" name="Text 19"/>
          <p:cNvSpPr/>
          <p:nvPr/>
        </p:nvSpPr>
        <p:spPr>
          <a:xfrm>
            <a:off x="1097280" y="3904488"/>
            <a:ext cx="7452360" cy="640080"/>
          </a:xfrm>
          <a:prstGeom prst="rect">
            <a:avLst/>
          </a:prstGeom>
          <a:noFill/>
          <a:ln/>
        </p:spPr>
        <p:txBody>
          <a:bodyPr wrap="square" rtlCol="0" anchor="ctr"/>
          <a:lstStyle/>
          <a:p>
            <a:pPr marL="0" indent="0">
              <a:buNone/>
            </a:pPr>
            <a:r>
              <a:rPr lang="vi-VN" sz="1400">
                <a:solidFill>
                  <a:schemeClr val="bg1"/>
                </a:solidFill>
                <a:effectLst/>
                <a:latin typeface="Calibri" panose="020F0502020204030204" pitchFamily="34" charset="0"/>
                <a:ea typeface="Calibri" panose="020F0502020204030204" pitchFamily="34" charset="0"/>
                <a:cs typeface="Calibri" panose="020F0502020204030204" pitchFamily="34" charset="0"/>
              </a:rPr>
              <a:t>Cách thiết kế giao diện, màu sắc vẫn chưa được chuyên nghiệp. Một số chỗ vẫn còn chưa đúng và dư thừa</a:t>
            </a:r>
            <a:endParaRPr lang="en-US" sz="11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31520" y="3210147"/>
            <a:ext cx="3657600" cy="3657600"/>
          </a:xfrm>
          <a:prstGeom prst="ellipse">
            <a:avLst/>
          </a:prstGeom>
          <a:solidFill>
            <a:srgbClr val="0D9488">
              <a:alpha val="12000"/>
            </a:srgbClr>
          </a:solidFill>
          <a:ln w="12700">
            <a:solidFill>
              <a:srgbClr val="0D9488">
                <a:alpha val="12000"/>
              </a:srgbClr>
            </a:solidFill>
            <a:prstDash val="solid"/>
          </a:ln>
        </p:spPr>
      </p:sp>
      <p:sp>
        <p:nvSpPr>
          <p:cNvPr id="3" name="Shape 1"/>
          <p:cNvSpPr/>
          <p:nvPr/>
        </p:nvSpPr>
        <p:spPr>
          <a:xfrm>
            <a:off x="7498080" y="-731520"/>
            <a:ext cx="2743200" cy="2743200"/>
          </a:xfrm>
          <a:prstGeom prst="ellipse">
            <a:avLst/>
          </a:prstGeom>
          <a:solidFill>
            <a:srgbClr val="14B8A6">
              <a:alpha val="15000"/>
            </a:srgbClr>
          </a:solidFill>
          <a:ln w="12700">
            <a:solidFill>
              <a:srgbClr val="14B8A6">
                <a:alpha val="15000"/>
              </a:srgbClr>
            </a:solidFill>
            <a:prstDash val="solid"/>
          </a:ln>
        </p:spPr>
      </p:sp>
      <p:sp>
        <p:nvSpPr>
          <p:cNvPr id="4" name="Text 2"/>
          <p:cNvSpPr/>
          <p:nvPr/>
        </p:nvSpPr>
        <p:spPr>
          <a:xfrm>
            <a:off x="457200" y="228600"/>
            <a:ext cx="8229600" cy="502920"/>
          </a:xfrm>
          <a:prstGeom prst="rect">
            <a:avLst/>
          </a:prstGeom>
          <a:noFill/>
          <a:ln/>
        </p:spPr>
        <p:txBody>
          <a:bodyPr wrap="square" rtlCol="0" anchor="ctr"/>
          <a:lstStyle/>
          <a:p>
            <a:pPr marL="0" indent="0" algn="l">
              <a:buNone/>
            </a:pPr>
            <a:r>
              <a:rPr lang="en-US" sz="3000" b="1" kern="0" spc="300">
                <a:solidFill>
                  <a:srgbClr val="14B8A6"/>
                </a:solidFill>
              </a:rPr>
              <a:t>HƯỚNG PHÁT TRIỂN</a:t>
            </a:r>
            <a:endParaRPr lang="en-US" sz="3000"/>
          </a:p>
        </p:txBody>
      </p:sp>
      <p:sp>
        <p:nvSpPr>
          <p:cNvPr id="5" name="Shape 3"/>
          <p:cNvSpPr/>
          <p:nvPr/>
        </p:nvSpPr>
        <p:spPr>
          <a:xfrm>
            <a:off x="457200" y="786384"/>
            <a:ext cx="4572000" cy="45720"/>
          </a:xfrm>
          <a:prstGeom prst="rect">
            <a:avLst/>
          </a:prstGeom>
          <a:solidFill>
            <a:srgbClr val="0D9488"/>
          </a:solidFill>
          <a:ln/>
        </p:spPr>
      </p:sp>
      <p:sp>
        <p:nvSpPr>
          <p:cNvPr id="6" name="Shape 4"/>
          <p:cNvSpPr/>
          <p:nvPr/>
        </p:nvSpPr>
        <p:spPr>
          <a:xfrm>
            <a:off x="457200" y="960120"/>
            <a:ext cx="8229600" cy="822960"/>
          </a:xfrm>
          <a:prstGeom prst="rect">
            <a:avLst/>
          </a:prstGeom>
          <a:solidFill>
            <a:srgbClr val="FFFFFF">
              <a:alpha val="7000"/>
            </a:srgbClr>
          </a:solidFill>
          <a:ln w="12700">
            <a:solidFill>
              <a:srgbClr val="0D9488">
                <a:alpha val="30000"/>
              </a:srgbClr>
            </a:solidFill>
            <a:prstDash val="solid"/>
          </a:ln>
        </p:spPr>
      </p:sp>
      <p:sp>
        <p:nvSpPr>
          <p:cNvPr id="7" name="Shape 5"/>
          <p:cNvSpPr/>
          <p:nvPr/>
        </p:nvSpPr>
        <p:spPr>
          <a:xfrm>
            <a:off x="457200" y="960120"/>
            <a:ext cx="54864" cy="822960"/>
          </a:xfrm>
          <a:prstGeom prst="rect">
            <a:avLst/>
          </a:prstGeom>
          <a:solidFill>
            <a:srgbClr val="0D9488"/>
          </a:solidFill>
          <a:ln/>
        </p:spPr>
      </p:sp>
      <p:sp>
        <p:nvSpPr>
          <p:cNvPr id="8" name="Text 6"/>
          <p:cNvSpPr/>
          <p:nvPr/>
        </p:nvSpPr>
        <p:spPr>
          <a:xfrm>
            <a:off x="566928" y="100584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9" name="Text 7"/>
          <p:cNvSpPr/>
          <p:nvPr/>
        </p:nvSpPr>
        <p:spPr>
          <a:xfrm>
            <a:off x="1097280" y="1024128"/>
            <a:ext cx="7452360" cy="640080"/>
          </a:xfrm>
          <a:prstGeom prst="rect">
            <a:avLst/>
          </a:prstGeom>
          <a:noFill/>
          <a:ln/>
        </p:spPr>
        <p:txBody>
          <a:bodyPr wrap="square" rtlCol="0" anchor="ctr"/>
          <a:lstStyle/>
          <a:p>
            <a:pPr marL="0" indent="0">
              <a:buNone/>
            </a:pPr>
            <a:r>
              <a:rPr lang="vi-VN" sz="1400">
                <a:solidFill>
                  <a:schemeClr val="bg1"/>
                </a:solidFill>
                <a:effectLst/>
                <a:latin typeface="Calibri" panose="020F0502020204030204" pitchFamily="34" charset="0"/>
                <a:ea typeface="Calibri" panose="020F0502020204030204" pitchFamily="34" charset="0"/>
                <a:cs typeface="Calibri" panose="020F0502020204030204" pitchFamily="34" charset="0"/>
              </a:rPr>
              <a:t>Xây dựng thêm các Control làm phong phú trên việc tùy biến giao diện của website</a:t>
            </a:r>
            <a:endParaRPr lang="en-US" sz="110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Shape 8"/>
          <p:cNvSpPr/>
          <p:nvPr/>
        </p:nvSpPr>
        <p:spPr>
          <a:xfrm>
            <a:off x="457200" y="1920240"/>
            <a:ext cx="8229600" cy="822960"/>
          </a:xfrm>
          <a:prstGeom prst="rect">
            <a:avLst/>
          </a:prstGeom>
          <a:solidFill>
            <a:srgbClr val="FFFFFF">
              <a:alpha val="7000"/>
            </a:srgbClr>
          </a:solidFill>
          <a:ln w="12700">
            <a:solidFill>
              <a:srgbClr val="0D9488">
                <a:alpha val="30000"/>
              </a:srgbClr>
            </a:solidFill>
            <a:prstDash val="solid"/>
          </a:ln>
        </p:spPr>
      </p:sp>
      <p:sp>
        <p:nvSpPr>
          <p:cNvPr id="11" name="Shape 9"/>
          <p:cNvSpPr/>
          <p:nvPr/>
        </p:nvSpPr>
        <p:spPr>
          <a:xfrm>
            <a:off x="457200" y="1920240"/>
            <a:ext cx="54864" cy="822960"/>
          </a:xfrm>
          <a:prstGeom prst="rect">
            <a:avLst/>
          </a:prstGeom>
          <a:solidFill>
            <a:srgbClr val="0D9488"/>
          </a:solidFill>
          <a:ln/>
        </p:spPr>
      </p:sp>
      <p:sp>
        <p:nvSpPr>
          <p:cNvPr id="12" name="Text 10"/>
          <p:cNvSpPr/>
          <p:nvPr/>
        </p:nvSpPr>
        <p:spPr>
          <a:xfrm>
            <a:off x="566928" y="196596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13" name="Text 11"/>
          <p:cNvSpPr/>
          <p:nvPr/>
        </p:nvSpPr>
        <p:spPr>
          <a:xfrm>
            <a:off x="1097280" y="1984248"/>
            <a:ext cx="7452360" cy="640080"/>
          </a:xfrm>
          <a:prstGeom prst="rect">
            <a:avLst/>
          </a:prstGeom>
          <a:noFill/>
          <a:ln/>
        </p:spPr>
        <p:txBody>
          <a:bodyPr wrap="square" rtlCol="0" anchor="ctr"/>
          <a:lstStyle/>
          <a:p>
            <a:pPr marR="0" lvl="0" algn="just">
              <a:lnSpc>
                <a:spcPct val="150000"/>
              </a:lnSpc>
              <a:spcBef>
                <a:spcPts val="0"/>
              </a:spcBef>
              <a:spcAft>
                <a:spcPts val="600"/>
              </a:spcAft>
              <a:buSzPts val="1300"/>
              <a:tabLst>
                <a:tab pos="702310" algn="l"/>
              </a:tabLst>
            </a:pPr>
            <a:r>
              <a:rPr lang="vi-VN" sz="1400">
                <a:solidFill>
                  <a:schemeClr val="bg1"/>
                </a:solidFill>
                <a:effectLst/>
                <a:latin typeface="Calibri" panose="020F0502020204030204" pitchFamily="34" charset="0"/>
                <a:ea typeface="Calibri" panose="020F0502020204030204" pitchFamily="34" charset="0"/>
                <a:cs typeface="Calibri" panose="020F0502020204030204" pitchFamily="34" charset="0"/>
              </a:rPr>
              <a:t>Bổ sung các Module hỗ trợ cho các website giới thiệu sản phẩm và thương mại điện</a:t>
            </a:r>
            <a:r>
              <a:rPr lang="vi-VN" sz="1400" spc="-15">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lang="vi-VN" sz="1400">
                <a:solidFill>
                  <a:schemeClr val="bg1"/>
                </a:solidFill>
                <a:effectLst/>
                <a:latin typeface="Calibri" panose="020F0502020204030204" pitchFamily="34" charset="0"/>
                <a:ea typeface="Calibri" panose="020F0502020204030204" pitchFamily="34" charset="0"/>
                <a:cs typeface="Calibri" panose="020F0502020204030204" pitchFamily="34" charset="0"/>
              </a:rPr>
              <a:t>tử.</a:t>
            </a:r>
            <a:endParaRPr lang="en-US" sz="140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4" name="Shape 12"/>
          <p:cNvSpPr/>
          <p:nvPr/>
        </p:nvSpPr>
        <p:spPr>
          <a:xfrm>
            <a:off x="457200" y="2880360"/>
            <a:ext cx="8229600" cy="822960"/>
          </a:xfrm>
          <a:prstGeom prst="rect">
            <a:avLst/>
          </a:prstGeom>
          <a:solidFill>
            <a:srgbClr val="FFFFFF">
              <a:alpha val="7000"/>
            </a:srgbClr>
          </a:solidFill>
          <a:ln w="12700">
            <a:solidFill>
              <a:srgbClr val="0D9488">
                <a:alpha val="30000"/>
              </a:srgbClr>
            </a:solidFill>
            <a:prstDash val="solid"/>
          </a:ln>
        </p:spPr>
      </p:sp>
      <p:sp>
        <p:nvSpPr>
          <p:cNvPr id="15" name="Shape 13"/>
          <p:cNvSpPr/>
          <p:nvPr/>
        </p:nvSpPr>
        <p:spPr>
          <a:xfrm>
            <a:off x="457200" y="2880360"/>
            <a:ext cx="54864" cy="822960"/>
          </a:xfrm>
          <a:prstGeom prst="rect">
            <a:avLst/>
          </a:prstGeom>
          <a:solidFill>
            <a:srgbClr val="0D9488"/>
          </a:solidFill>
          <a:ln/>
        </p:spPr>
      </p:sp>
      <p:sp>
        <p:nvSpPr>
          <p:cNvPr id="16" name="Text 14"/>
          <p:cNvSpPr/>
          <p:nvPr/>
        </p:nvSpPr>
        <p:spPr>
          <a:xfrm>
            <a:off x="566928" y="292608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17" name="Text 15"/>
          <p:cNvSpPr/>
          <p:nvPr/>
        </p:nvSpPr>
        <p:spPr>
          <a:xfrm>
            <a:off x="1097280" y="2944368"/>
            <a:ext cx="7452360" cy="640080"/>
          </a:xfrm>
          <a:prstGeom prst="rect">
            <a:avLst/>
          </a:prstGeom>
          <a:noFill/>
          <a:ln/>
        </p:spPr>
        <p:txBody>
          <a:bodyPr wrap="square" rtlCol="0" anchor="ctr"/>
          <a:lstStyle/>
          <a:p>
            <a:pPr marR="0" lvl="0" algn="just">
              <a:lnSpc>
                <a:spcPct val="150000"/>
              </a:lnSpc>
              <a:spcBef>
                <a:spcPts val="0"/>
              </a:spcBef>
              <a:spcAft>
                <a:spcPts val="600"/>
              </a:spcAft>
              <a:buSzPts val="1300"/>
              <a:tabLst>
                <a:tab pos="702310" algn="l"/>
              </a:tabLst>
            </a:pPr>
            <a:r>
              <a:rPr lang="en-US" sz="1400">
                <a:solidFill>
                  <a:schemeClr val="bg1"/>
                </a:solidFill>
                <a:effectLst/>
                <a:ea typeface="Symbol" panose="05050102010706020507" pitchFamily="18" charset="2"/>
                <a:cs typeface="Symbol" panose="05050102010706020507" pitchFamily="18" charset="2"/>
              </a:rPr>
              <a:t>Xây dựng chatbox như của Shoppe, cho phép người dùng mua ngay lập tức trong lúc đang chat</a:t>
            </a:r>
          </a:p>
        </p:txBody>
      </p:sp>
      <p:sp>
        <p:nvSpPr>
          <p:cNvPr id="18" name="Shape 16"/>
          <p:cNvSpPr/>
          <p:nvPr/>
        </p:nvSpPr>
        <p:spPr>
          <a:xfrm>
            <a:off x="457200" y="3840480"/>
            <a:ext cx="8229600" cy="822960"/>
          </a:xfrm>
          <a:prstGeom prst="rect">
            <a:avLst/>
          </a:prstGeom>
          <a:solidFill>
            <a:srgbClr val="FFFFFF">
              <a:alpha val="7000"/>
            </a:srgbClr>
          </a:solidFill>
          <a:ln w="12700">
            <a:solidFill>
              <a:srgbClr val="0D9488">
                <a:alpha val="30000"/>
              </a:srgbClr>
            </a:solidFill>
            <a:prstDash val="solid"/>
          </a:ln>
        </p:spPr>
      </p:sp>
      <p:sp>
        <p:nvSpPr>
          <p:cNvPr id="19" name="Shape 17"/>
          <p:cNvSpPr/>
          <p:nvPr/>
        </p:nvSpPr>
        <p:spPr>
          <a:xfrm>
            <a:off x="457200" y="3840480"/>
            <a:ext cx="54864" cy="822960"/>
          </a:xfrm>
          <a:prstGeom prst="rect">
            <a:avLst/>
          </a:prstGeom>
          <a:solidFill>
            <a:srgbClr val="0D9488"/>
          </a:solidFill>
          <a:ln/>
        </p:spPr>
      </p:sp>
      <p:sp>
        <p:nvSpPr>
          <p:cNvPr id="20" name="Text 18"/>
          <p:cNvSpPr/>
          <p:nvPr/>
        </p:nvSpPr>
        <p:spPr>
          <a:xfrm>
            <a:off x="566928" y="3886200"/>
            <a:ext cx="457200" cy="457200"/>
          </a:xfrm>
          <a:prstGeom prst="rect">
            <a:avLst/>
          </a:prstGeom>
          <a:noFill/>
          <a:ln/>
        </p:spPr>
        <p:txBody>
          <a:bodyPr wrap="square" rtlCol="0" anchor="ctr"/>
          <a:lstStyle/>
          <a:p>
            <a:pPr marL="0" indent="0" algn="ctr">
              <a:buNone/>
            </a:pPr>
            <a:r>
              <a:rPr lang="en-US" sz="2000">
                <a:solidFill>
                  <a:srgbClr val="000000"/>
                </a:solidFill>
              </a:rPr>
              <a:t>💡</a:t>
            </a:r>
            <a:endParaRPr lang="en-US" sz="2000"/>
          </a:p>
        </p:txBody>
      </p:sp>
      <p:sp>
        <p:nvSpPr>
          <p:cNvPr id="21" name="Text 19"/>
          <p:cNvSpPr/>
          <p:nvPr/>
        </p:nvSpPr>
        <p:spPr>
          <a:xfrm>
            <a:off x="1097280" y="3904488"/>
            <a:ext cx="7452360" cy="640080"/>
          </a:xfrm>
          <a:prstGeom prst="rect">
            <a:avLst/>
          </a:prstGeom>
          <a:noFill/>
          <a:ln/>
        </p:spPr>
        <p:txBody>
          <a:bodyPr wrap="square" rtlCol="0" anchor="ctr"/>
          <a:lstStyle/>
          <a:p>
            <a:pPr marR="0" lvl="0" algn="just">
              <a:lnSpc>
                <a:spcPct val="150000"/>
              </a:lnSpc>
              <a:spcBef>
                <a:spcPts val="0"/>
              </a:spcBef>
              <a:spcAft>
                <a:spcPts val="600"/>
              </a:spcAft>
              <a:buSzPts val="1300"/>
              <a:tabLst>
                <a:tab pos="702310" algn="l"/>
              </a:tabLst>
            </a:pPr>
            <a:r>
              <a:rPr lang="en-US" sz="1400">
                <a:solidFill>
                  <a:schemeClr val="bg1"/>
                </a:solidFill>
                <a:effectLst/>
                <a:ea typeface="Symbol" panose="05050102010706020507" pitchFamily="18" charset="2"/>
                <a:cs typeface="Symbol" panose="05050102010706020507" pitchFamily="18" charset="2"/>
              </a:rPr>
              <a:t>Phát triển thêm tính năng thanh toán online kèm </a:t>
            </a:r>
            <a:r>
              <a:rPr lang="en-US" sz="1400">
                <a:solidFill>
                  <a:schemeClr val="bg1"/>
                </a:solidFill>
                <a:effectLst/>
                <a:ea typeface="Times New Roman" panose="02020603050405020304" pitchFamily="18" charset="0"/>
              </a:rPr>
              <a:t>Xuất hóa đơn pdf và gửi hóa đơn qua email cho khách hàng</a:t>
            </a:r>
            <a:endParaRPr lang="en-US" sz="1100">
              <a:solidFill>
                <a:schemeClr val="bg1"/>
              </a:solidFill>
            </a:endParaRPr>
          </a:p>
        </p:txBody>
      </p:sp>
      <p:sp>
        <p:nvSpPr>
          <p:cNvPr id="22" name="Text 20"/>
          <p:cNvSpPr/>
          <p:nvPr/>
        </p:nvSpPr>
        <p:spPr>
          <a:xfrm>
            <a:off x="457200" y="4663440"/>
            <a:ext cx="8229600" cy="365760"/>
          </a:xfrm>
          <a:prstGeom prst="rect">
            <a:avLst/>
          </a:prstGeom>
          <a:noFill/>
          <a:ln/>
        </p:spPr>
        <p:txBody>
          <a:bodyPr wrap="square" rtlCol="0" anchor="ctr"/>
          <a:lstStyle/>
          <a:p>
            <a:pPr marL="0" indent="0" algn="ctr">
              <a:buNone/>
            </a:pPr>
            <a:r>
              <a:rPr lang="en-US" sz="1600" b="1" i="1">
                <a:solidFill>
                  <a:srgbClr val="14B8A6"/>
                </a:solidFill>
              </a:rPr>
              <a:t>Cảm ơn Hội đồng đã lắng nghe!</a:t>
            </a:r>
            <a:endParaRPr lang="en-US" sz="1600"/>
          </a:p>
        </p:txBody>
      </p:sp>
    </p:spTree>
    <p:extLst>
      <p:ext uri="{BB962C8B-B14F-4D97-AF65-F5344CB8AC3E}">
        <p14:creationId xmlns:p14="http://schemas.microsoft.com/office/powerpoint/2010/main" val="2537905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159</TotalTime>
  <Words>2545</Words>
  <Application>Microsoft Office PowerPoint</Application>
  <PresentationFormat>On-screen Show (16:9)</PresentationFormat>
  <Paragraphs>483</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Aptos</vt:lpstr>
      <vt:lpstr>Arial</vt:lpstr>
      <vt:lpstr>Calibri</vt:lpstr>
      <vt:lpstr>Cambria</vt:lpstr>
      <vt:lpstr>Cambria Math</vt:lpstr>
      <vt:lpstr>Segoe UI Semilight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Đồ Án Tốt Nghiệp - Website TMĐT Gundam &amp; Figure</dc:title>
  <dc:subject>PptxGenJS Presentation</dc:subject>
  <dc:creator>PptxGenJS</dc:creator>
  <cp:lastModifiedBy>nguyen nguyen</cp:lastModifiedBy>
  <cp:revision>15</cp:revision>
  <dcterms:created xsi:type="dcterms:W3CDTF">2026-05-09T01:23:45Z</dcterms:created>
  <dcterms:modified xsi:type="dcterms:W3CDTF">2026-05-12T10:33:16Z</dcterms:modified>
</cp:coreProperties>
</file>