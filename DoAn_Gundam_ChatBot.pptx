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70" r:id="rId8"/>
    <p:sldId id="262" r:id="rId9"/>
    <p:sldId id="269" r:id="rId10"/>
    <p:sldId id="263" r:id="rId11"/>
    <p:sldId id="264" r:id="rId12"/>
    <p:sldId id="265" r:id="rId13"/>
    <p:sldId id="266" r:id="rId14"/>
    <p:sldId id="267" r:id="rId15"/>
    <p:sldId id="268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72" y="-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9063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2694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17952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0" y="-548640"/>
            <a:ext cx="3200400" cy="3200400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0" y="2926080"/>
            <a:ext cx="2011680" cy="2011680"/>
          </a:xfrm>
          <a:prstGeom prst="ellipse">
            <a:avLst/>
          </a:prstGeom>
          <a:solidFill>
            <a:srgbClr val="14B8A6">
              <a:alpha val="15000"/>
            </a:srgbClr>
          </a:solidFill>
          <a:ln w="12700">
            <a:solidFill>
              <a:srgbClr val="14B8A6">
                <a:alpha val="1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25603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14B8A6"/>
                </a:solidFill>
              </a:rPr>
              <a:t>TRƯỜNG ĐẠI HỌC CÔNG NGHIỆP HÀ NỘI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749808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</a:rPr>
              <a:t>XÂY DỰNG HỆ THỐNG WEBSITE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365760" y="1335024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</a:rPr>
              <a:t>THƯƠNG MẠI ĐIỆN TỬ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365760" y="184708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59E0B"/>
                </a:solidFill>
              </a:rPr>
              <a:t>BÁN MÔ HÌNH GUNDAM &amp; FIGURE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65760" y="2359152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14B8A6"/>
                </a:solidFill>
              </a:rPr>
              <a:t>TÍCH HỢP GỢI Ý SẢN PHẨM THÔNG MINH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65760" y="2926080"/>
            <a:ext cx="502920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309067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</a:rPr>
              <a:t>Sinh viên: </a:t>
            </a:r>
            <a:r>
              <a:rPr lang="en-US" sz="1300" b="1" dirty="0">
                <a:solidFill>
                  <a:srgbClr val="FFFFFF"/>
                </a:solidFill>
              </a:rPr>
              <a:t>Nguyễn Công Nguyên</a:t>
            </a:r>
            <a:r>
              <a:rPr lang="en-US" sz="1300" dirty="0">
                <a:solidFill>
                  <a:srgbClr val="E2E8F0"/>
                </a:solidFill>
              </a:rPr>
              <a:t>   |   MSSV: </a:t>
            </a:r>
            <a:r>
              <a:rPr lang="en-US" sz="1300" b="1" dirty="0">
                <a:solidFill>
                  <a:srgbClr val="FFFFFF"/>
                </a:solidFill>
              </a:rPr>
              <a:t>2018605575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340156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</a:rPr>
              <a:t>GVHD: </a:t>
            </a:r>
            <a:r>
              <a:rPr lang="en-US" sz="1300" b="1" dirty="0">
                <a:solidFill>
                  <a:srgbClr val="FFFFFF"/>
                </a:solidFill>
              </a:rPr>
              <a:t>TS. Phạm Đức Tĩnh</a:t>
            </a:r>
            <a:r>
              <a:rPr lang="en-US" sz="1300" dirty="0">
                <a:solidFill>
                  <a:srgbClr val="E2E8F0"/>
                </a:solidFill>
              </a:rPr>
              <a:t>   |   Hà Nội – 2026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kern="0" spc="100" dirty="0">
                <a:solidFill>
                  <a:srgbClr val="64748B"/>
                </a:solidFill>
              </a:rPr>
              <a:t>NGÀNH CÔNG NGHỆ THÔNG TIN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</a:rPr>
              <a:t>NỘI DUNG TRÌNH BÀY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078992"/>
            <a:ext cx="41148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78992"/>
            <a:ext cx="73152" cy="16916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438912" y="118872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D9488"/>
                </a:solidFill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38912" y="1627632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293B"/>
                </a:solidFill>
              </a:rPr>
              <a:t>Phần Mở Đầu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38912" y="2011680"/>
            <a:ext cx="3749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</a:rPr>
              <a:t>Lý do chọn đề tài • Mục tiêu • Phạm vi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09160" y="1078992"/>
            <a:ext cx="41148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1078992"/>
            <a:ext cx="73152" cy="16916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4873752" y="118872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D9488"/>
                </a:solidFill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873752" y="1627632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293B"/>
                </a:solidFill>
              </a:rPr>
              <a:t>Cơ Sở Lý Thuyết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873752" y="2011680"/>
            <a:ext cx="3749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</a:rPr>
              <a:t>HTML/CSS • ReactJS • NodeJS • MySQL • Chatbot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999232"/>
            <a:ext cx="41148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2999232"/>
            <a:ext cx="73152" cy="16916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6" name="Text 14"/>
          <p:cNvSpPr/>
          <p:nvPr/>
        </p:nvSpPr>
        <p:spPr>
          <a:xfrm>
            <a:off x="438912" y="310896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D9488"/>
                </a:solidFill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438912" y="3547872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293B"/>
                </a:solidFill>
              </a:rPr>
              <a:t>Phân Tích Hệ Thống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38912" y="3931920"/>
            <a:ext cx="3749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</a:rPr>
              <a:t>Use case • Biểu đồ lớp • CSDL • Thiết kế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09160" y="2999232"/>
            <a:ext cx="41148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09160" y="2999232"/>
            <a:ext cx="73152" cy="16916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1" name="Text 19"/>
          <p:cNvSpPr/>
          <p:nvPr/>
        </p:nvSpPr>
        <p:spPr>
          <a:xfrm>
            <a:off x="4873752" y="310896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D9488"/>
                </a:solidFill>
              </a:rPr>
              <a:t>04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4873752" y="3547872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293B"/>
                </a:solidFill>
              </a:rPr>
              <a:t>Xây Dựng ChatBot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873752" y="3931920"/>
            <a:ext cx="3749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</a:rPr>
              <a:t>Kiến trúc • Chức năng • Thuật toán • Đánh giá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B8A6"/>
                </a:solidFill>
              </a:rPr>
              <a:t>01  |  PHẦN MỞ ĐẦU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420624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Lý Do Chọn Đề Tài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8595360" cy="84124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1216152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05840" y="1143000"/>
            <a:ext cx="3200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</a:rPr>
              <a:t>Thị trường phát triển mạnh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453896"/>
            <a:ext cx="7680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Mô hình Gundam &amp; Figure ngày càng được ưa chuộng tại Việt Nam, nhu cầu mua sắm trực tuyến tăng cao.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2039112"/>
            <a:ext cx="8595360" cy="84124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11480" y="2203704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🛒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005840" y="2130552"/>
            <a:ext cx="3200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</a:rPr>
              <a:t>Thiếu nền tảng chuyên biệt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" y="2441448"/>
            <a:ext cx="7680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Chưa có website TMĐT chuyên nghiệp phục vụ riêng cho phân khúc Gundam &amp; Figure tại thị trường nội địa.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3026664"/>
            <a:ext cx="8595360" cy="84124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11480" y="3191256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005840" y="3118104"/>
            <a:ext cx="3200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</a:rPr>
              <a:t>Xu hướng AI &amp; Chatbot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05840" y="3429000"/>
            <a:ext cx="7680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Tích hợp chatbot thông minh và hệ thống gợi ý sản phẩm giúp nâng cao trải nghiệm người dùng.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4014216"/>
            <a:ext cx="8595360" cy="841248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4178808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💻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005840" y="4105656"/>
            <a:ext cx="3200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</a:rPr>
              <a:t>Ứng dụng công nghệ hiện đại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05840" y="4416552"/>
            <a:ext cx="7680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Áp dụng ReactJS, NestJS, MySQL – các công nghệ phổ biến trong phát triển web hiện đại.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B8A6"/>
                </a:solidFill>
              </a:rPr>
              <a:t>01  |  PHẦN MỞ ĐẦU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420624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Mục Tiêu &amp; Phạm Vi Nghiên Cứu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411480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005840"/>
            <a:ext cx="4114800" cy="4114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0515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🎯  MỤC TIÊU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508760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</a:rPr>
              <a:t>✓  </a:t>
            </a:r>
            <a:r>
              <a:rPr lang="en-US" sz="1200" dirty="0">
                <a:solidFill>
                  <a:srgbClr val="1E293B"/>
                </a:solidFill>
              </a:rPr>
              <a:t>Xây dựng website TMĐT hoàn chỉnh cho cửa hàng Gundam &amp; Figure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1965960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</a:rPr>
              <a:t>✓  </a:t>
            </a:r>
            <a:r>
              <a:rPr lang="en-US" sz="1200" dirty="0">
                <a:solidFill>
                  <a:srgbClr val="1E293B"/>
                </a:solidFill>
              </a:rPr>
              <a:t>Giao diện người dùng thân thiện, đa nền tảng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2423160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</a:rPr>
              <a:t>✓  </a:t>
            </a:r>
            <a:r>
              <a:rPr lang="en-US" sz="1200" dirty="0">
                <a:solidFill>
                  <a:srgbClr val="1E293B"/>
                </a:solidFill>
              </a:rPr>
              <a:t>Hệ thống quản trị dễ sử dụng cho admin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" y="2880360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</a:rPr>
              <a:t>✓  </a:t>
            </a:r>
            <a:r>
              <a:rPr lang="en-US" sz="1200" dirty="0">
                <a:solidFill>
                  <a:srgbClr val="1E293B"/>
                </a:solidFill>
              </a:rPr>
              <a:t>Tích hợp Chatbot hỗ trợ tìm kiếm &amp; tư vấn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3337560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</a:rPr>
              <a:t>✓  </a:t>
            </a:r>
            <a:r>
              <a:rPr lang="en-US" sz="1200" dirty="0">
                <a:solidFill>
                  <a:srgbClr val="1E293B"/>
                </a:solidFill>
              </a:rPr>
              <a:t>Xây dựng hệ thống gợi ý sản phẩm thông minh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1005840"/>
            <a:ext cx="411480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54880" y="1005840"/>
            <a:ext cx="4114800" cy="41148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10515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📌  PHẠM VI NGHIÊN CỨU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92040" y="1508760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Đối tượng:  </a:t>
            </a:r>
            <a:r>
              <a:rPr lang="en-US" sz="1200" dirty="0">
                <a:solidFill>
                  <a:srgbClr val="1E293B"/>
                </a:solidFill>
              </a:rPr>
              <a:t>Cửa hàng bán mô hình Gundam &amp; Figure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965960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Frontend:  </a:t>
            </a:r>
            <a:r>
              <a:rPr lang="en-US" sz="1200" dirty="0">
                <a:solidFill>
                  <a:srgbClr val="1E293B"/>
                </a:solidFill>
              </a:rPr>
              <a:t>ReactJS + Ant Design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92040" y="2423160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Backend:  </a:t>
            </a:r>
            <a:r>
              <a:rPr lang="en-US" sz="1200" dirty="0">
                <a:solidFill>
                  <a:srgbClr val="1E293B"/>
                </a:solidFill>
              </a:rPr>
              <a:t>NestJS (NodeJS framework)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92040" y="2880360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Database:  </a:t>
            </a:r>
            <a:r>
              <a:rPr lang="en-US" sz="1200" dirty="0">
                <a:solidFill>
                  <a:srgbClr val="1E293B"/>
                </a:solidFill>
              </a:rPr>
              <a:t>MySQL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92040" y="3337560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Chatbot:  </a:t>
            </a:r>
            <a:r>
              <a:rPr lang="en-US" sz="1200" dirty="0">
                <a:solidFill>
                  <a:srgbClr val="1E293B"/>
                </a:solidFill>
              </a:rPr>
              <a:t>Rule-based + Levenshtein + LocalStorage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92040" y="3794760"/>
            <a:ext cx="3840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Gợi ý:  </a:t>
            </a:r>
            <a:r>
              <a:rPr lang="en-US" sz="1200" dirty="0">
                <a:solidFill>
                  <a:srgbClr val="1E293B"/>
                </a:solidFill>
              </a:rPr>
              <a:t>Content-based Filtering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B8A6"/>
                </a:solidFill>
              </a:rPr>
              <a:t>02  |  CƠ SỞ LÝ THUYẾT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420624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Công Nghệ Sử Dụng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28600" y="1005840"/>
            <a:ext cx="2743200" cy="17830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1005840"/>
            <a:ext cx="2743200" cy="7315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338328" y="1152144"/>
            <a:ext cx="457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🌐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1152144"/>
            <a:ext cx="2011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</a:rPr>
              <a:t>HTML / CSS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38328" y="1609344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Ngôn ngữ đánh dấu và trình bày giao diện web cơ bản, đảm bảo hiển thị đúng trên mọi trình duyệt.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172968" y="1005840"/>
            <a:ext cx="2743200" cy="17830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72968" y="1005840"/>
            <a:ext cx="2743200" cy="73152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2" name="Text 10"/>
          <p:cNvSpPr/>
          <p:nvPr/>
        </p:nvSpPr>
        <p:spPr>
          <a:xfrm>
            <a:off x="3282696" y="1152144"/>
            <a:ext cx="457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⚛️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767328" y="1152144"/>
            <a:ext cx="2011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369A1"/>
                </a:solidFill>
              </a:rPr>
              <a:t>ReactJS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82696" y="1609344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Thư viện JavaScript xây dựng UI dựa trên component, hỗ trợ Virtual DOM và React Router.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17336" y="1005840"/>
            <a:ext cx="2743200" cy="17830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17336" y="1005840"/>
            <a:ext cx="2743200" cy="7315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7" name="Text 15"/>
          <p:cNvSpPr/>
          <p:nvPr/>
        </p:nvSpPr>
        <p:spPr>
          <a:xfrm>
            <a:off x="6227064" y="1152144"/>
            <a:ext cx="457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🟢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711696" y="1152144"/>
            <a:ext cx="2011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</a:rPr>
              <a:t>NodeJS / NestJS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27064" y="1609344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Runtime JavaScript phía server; NestJS cung cấp kiến trúc modular, TypeScript-first cho API.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28600" y="2999232"/>
            <a:ext cx="2743200" cy="17830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28600" y="2999232"/>
            <a:ext cx="2743200" cy="73152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2" name="Text 20"/>
          <p:cNvSpPr/>
          <p:nvPr/>
        </p:nvSpPr>
        <p:spPr>
          <a:xfrm>
            <a:off x="338328" y="3145536"/>
            <a:ext cx="457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🗄️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22960" y="3145536"/>
            <a:ext cx="2011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45309"/>
                </a:solidFill>
              </a:rPr>
              <a:t>MySQL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38328" y="3602736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Hệ quản trị CSDL quan hệ, lưu trữ dữ liệu User, Product, Category, Order.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172968" y="2999232"/>
            <a:ext cx="2743200" cy="17830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172968" y="2999232"/>
            <a:ext cx="2743200" cy="731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7" name="Text 25"/>
          <p:cNvSpPr/>
          <p:nvPr/>
        </p:nvSpPr>
        <p:spPr>
          <a:xfrm>
            <a:off x="3282696" y="3145536"/>
            <a:ext cx="457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3767328" y="3145536"/>
            <a:ext cx="2011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</a:rPr>
              <a:t>Chatbot Engine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282696" y="3602736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Rule-based kết hợp Levenshtein distance để nhận diện ý định, lưu hành vi qua localStorage.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117336" y="2999232"/>
            <a:ext cx="2743200" cy="17830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117336" y="2999232"/>
            <a:ext cx="2743200" cy="73152"/>
          </a:xfrm>
          <a:prstGeom prst="rect">
            <a:avLst/>
          </a:prstGeom>
          <a:solidFill>
            <a:srgbClr val="DB2777"/>
          </a:solidFill>
          <a:ln/>
        </p:spPr>
      </p:sp>
      <p:sp>
        <p:nvSpPr>
          <p:cNvPr id="32" name="Text 30"/>
          <p:cNvSpPr/>
          <p:nvPr/>
        </p:nvSpPr>
        <p:spPr>
          <a:xfrm>
            <a:off x="6227064" y="3145536"/>
            <a:ext cx="457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💡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6711696" y="3145536"/>
            <a:ext cx="20116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B2777"/>
                </a:solidFill>
              </a:rPr>
              <a:t>Recommendation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227064" y="3602736"/>
            <a:ext cx="252374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Content-based filtering + hành vi người dùng để gợi ý sản phẩm phù hợp.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B8A6"/>
                </a:solidFill>
              </a:rPr>
              <a:t>03  |  PHÂN TÍCH HỆ THỐNG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420624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Biểu Đồ Use Case &amp; Yêu Cầu Hệ Thống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274320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005840"/>
            <a:ext cx="2743200" cy="3657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384048" y="105156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👥  TÁC NHÂN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46304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▶  Khách hàng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1737360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   • Xem sản phẩm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1993392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   • Đặt hàng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249424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   • Đăng nhập/Đăng ký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2505456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   • Hỏi Chatbot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2852928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▶  Admin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11480" y="3127248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   • Quản lý sản phẩm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3383280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   • Quản lý đơn hàng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" y="3639312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   • Quản lý người dùng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11480" y="3895344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   • Quản lý danh mục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91840" y="1005840"/>
            <a:ext cx="557784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91840" y="1005840"/>
            <a:ext cx="5577840" cy="36576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20" name="Text 18"/>
          <p:cNvSpPr/>
          <p:nvPr/>
        </p:nvSpPr>
        <p:spPr>
          <a:xfrm>
            <a:off x="3401568" y="105156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📋  MÔ TẢ USE CASE CHÍNH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429000" y="1463040"/>
            <a:ext cx="5303520" cy="960120"/>
          </a:xfrm>
          <a:prstGeom prst="rect">
            <a:avLst/>
          </a:prstGeom>
          <a:solidFill>
            <a:srgbClr val="F0F9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29000" y="1463040"/>
            <a:ext cx="54864" cy="9601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3" name="Text 21"/>
          <p:cNvSpPr/>
          <p:nvPr/>
        </p:nvSpPr>
        <p:spPr>
          <a:xfrm>
            <a:off x="3566160" y="15087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</a:rPr>
              <a:t>Đặt hàng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566160" y="17830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Chọn SP → Thêm giỏ hàng → Xác nhận → Đặt đơn → Hệ thống lưu đơn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429000" y="2560320"/>
            <a:ext cx="5303520" cy="960120"/>
          </a:xfrm>
          <a:prstGeom prst="rect">
            <a:avLst/>
          </a:prstGeom>
          <a:solidFill>
            <a:srgbClr val="F0F9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29000" y="2560320"/>
            <a:ext cx="54864" cy="9601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7" name="Text 25"/>
          <p:cNvSpPr/>
          <p:nvPr/>
        </p:nvSpPr>
        <p:spPr>
          <a:xfrm>
            <a:off x="3566160" y="26060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</a:rPr>
              <a:t>Đăng nhập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566160" y="288036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Nhập thông tin → Xác thực → Cấp token → Chuyển hướng trang chủ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429000" y="3657600"/>
            <a:ext cx="5303520" cy="960120"/>
          </a:xfrm>
          <a:prstGeom prst="rect">
            <a:avLst/>
          </a:prstGeom>
          <a:solidFill>
            <a:srgbClr val="F0F9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29000" y="3657600"/>
            <a:ext cx="54864" cy="9601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1" name="Text 29"/>
          <p:cNvSpPr/>
          <p:nvPr/>
        </p:nvSpPr>
        <p:spPr>
          <a:xfrm>
            <a:off x="3566160" y="37033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</a:rPr>
              <a:t>Hỏi Chatbot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566160" y="397764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Nhập câu hỏi → Xử lý text → Phân tích intent → Trả kết quả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B8A6"/>
                </a:solidFill>
              </a:rPr>
              <a:t>03  |  PHÂN TÍCH HỆ THỐNG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420624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Biểu Đồ Use Case &amp; Yêu Cầu Hệ Thống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274320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005840"/>
            <a:ext cx="2743200" cy="3657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384048" y="105156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👥  </a:t>
            </a:r>
            <a:r>
              <a:rPr lang="en-US" sz="1200" b="1" dirty="0" err="1">
                <a:solidFill>
                  <a:srgbClr val="FFFFFF"/>
                </a:solidFill>
              </a:rPr>
              <a:t>TÁC</a:t>
            </a:r>
            <a:r>
              <a:rPr lang="en-US" sz="1200" b="1" dirty="0">
                <a:solidFill>
                  <a:srgbClr val="FFFFFF"/>
                </a:solidFill>
              </a:rPr>
              <a:t> </a:t>
            </a:r>
            <a:r>
              <a:rPr lang="en-US" sz="1200" b="1" dirty="0" err="1">
                <a:solidFill>
                  <a:srgbClr val="FFFFFF"/>
                </a:solidFill>
              </a:rPr>
              <a:t>NHÂN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46304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▶  Khách hàng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1737360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   • Xem sản phẩm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1993392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   • Đặt hàng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249424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   • Đăng nhập/Đăng ký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2505456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   • Hỏi Chatbot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2852928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▶  Admin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11480" y="3127248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   • Quản lý sản phẩm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3383280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   • Quản lý đơn hàng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" y="3639312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   • Quản lý người dùng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11480" y="3895344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   • Quản lý danh mục</a:t>
            </a:r>
            <a:endParaRPr lang="en-US" sz="1100" dirty="0"/>
          </a:p>
        </p:txBody>
      </p:sp>
      <p:sp>
        <p:nvSpPr>
          <p:cNvPr id="37" name="Shape 4">
            <a:extLst>
              <a:ext uri="{FF2B5EF4-FFF2-40B4-BE49-F238E27FC236}">
                <a16:creationId xmlns:a16="http://schemas.microsoft.com/office/drawing/2014/main" id="{7BA881D2-2B8C-FC64-657E-9B9B12AEA406}"/>
              </a:ext>
            </a:extLst>
          </p:cNvPr>
          <p:cNvSpPr/>
          <p:nvPr/>
        </p:nvSpPr>
        <p:spPr>
          <a:xfrm>
            <a:off x="3200400" y="1009759"/>
            <a:ext cx="5943600" cy="3657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0558DA5-5383-E698-13B8-689561786228}"/>
              </a:ext>
            </a:extLst>
          </p:cNvPr>
          <p:cNvSpPr txBox="1"/>
          <p:nvPr/>
        </p:nvSpPr>
        <p:spPr>
          <a:xfrm>
            <a:off x="3190673" y="1046202"/>
            <a:ext cx="578471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FFFF"/>
                </a:solidFill>
              </a:rPr>
              <a:t>👥  </a:t>
            </a:r>
            <a:r>
              <a:rPr lang="en-US" sz="1200" b="1" dirty="0" err="1">
                <a:solidFill>
                  <a:srgbClr val="FFFFFF"/>
                </a:solidFill>
              </a:rPr>
              <a:t>HÀNH</a:t>
            </a:r>
            <a:r>
              <a:rPr lang="en-US" sz="1200" b="1" dirty="0">
                <a:solidFill>
                  <a:srgbClr val="FFFFFF"/>
                </a:solidFill>
              </a:rPr>
              <a:t> </a:t>
            </a:r>
            <a:r>
              <a:rPr lang="en-US" sz="1200" b="1" dirty="0" err="1">
                <a:solidFill>
                  <a:srgbClr val="FFFFFF"/>
                </a:solidFill>
              </a:rPr>
              <a:t>ĐỘNG</a:t>
            </a:r>
            <a:r>
              <a:rPr lang="en-US" sz="1200" b="1" dirty="0">
                <a:solidFill>
                  <a:srgbClr val="FFFFFF"/>
                </a:solidFill>
              </a:rPr>
              <a:t> </a:t>
            </a:r>
            <a:r>
              <a:rPr lang="en-US" sz="1200" b="1" dirty="0" err="1">
                <a:solidFill>
                  <a:srgbClr val="FFFFFF"/>
                </a:solidFill>
              </a:rPr>
              <a:t>CẦN</a:t>
            </a:r>
            <a:r>
              <a:rPr lang="en-US" sz="1200" b="1" dirty="0">
                <a:solidFill>
                  <a:srgbClr val="FFFFFF"/>
                </a:solidFill>
              </a:rPr>
              <a:t> CON </a:t>
            </a:r>
            <a:r>
              <a:rPr lang="en-US" sz="1200" b="1" dirty="0" err="1">
                <a:solidFill>
                  <a:srgbClr val="FFFFFF"/>
                </a:solidFill>
              </a:rPr>
              <a:t>NGƯỜI</a:t>
            </a:r>
            <a:r>
              <a:rPr lang="en-US" sz="1200" b="1" dirty="0">
                <a:solidFill>
                  <a:srgbClr val="FFFFFF"/>
                </a:solidFill>
              </a:rPr>
              <a:t> CAN </a:t>
            </a:r>
            <a:r>
              <a:rPr lang="en-US" sz="1200" b="1" dirty="0" err="1">
                <a:solidFill>
                  <a:srgbClr val="FFFFFF"/>
                </a:solidFill>
              </a:rPr>
              <a:t>THIỆP</a:t>
            </a:r>
            <a:endParaRPr lang="en-US" sz="1200" b="1" dirty="0">
              <a:solidFill>
                <a:srgbClr val="FFFFFF"/>
              </a:solidFill>
            </a:endParaRPr>
          </a:p>
          <a:p>
            <a:endParaRPr lang="en-US" dirty="0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D64D0C5B-72E8-0E26-592E-08C484DDF6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3005" y="1376659"/>
            <a:ext cx="4287813" cy="3501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68395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B8A6"/>
                </a:solidFill>
              </a:rPr>
              <a:t>03  |  PHÂN TÍCH HỆ THỐNG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420624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Thiết Kế Cơ Sở Dữ Liệu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01168" y="1005840"/>
            <a:ext cx="283464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01168" y="1005840"/>
            <a:ext cx="2834640" cy="38404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292608" y="1051560"/>
            <a:ext cx="2651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Bảng USER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01168" y="1389888"/>
            <a:ext cx="2834640" cy="2560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" name="Text 7"/>
          <p:cNvSpPr/>
          <p:nvPr/>
        </p:nvSpPr>
        <p:spPr>
          <a:xfrm>
            <a:off x="246888" y="1408176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Trường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207008" y="1408176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Kiểu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121408" y="1408176"/>
            <a:ext cx="868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Ghi chú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01168" y="1636776"/>
            <a:ext cx="2834640" cy="34747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3" name="Text 11"/>
          <p:cNvSpPr/>
          <p:nvPr/>
        </p:nvSpPr>
        <p:spPr>
          <a:xfrm>
            <a:off x="246888" y="1664208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id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207008" y="1664208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Int(11)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121408" y="1664208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9488"/>
                </a:solidFill>
              </a:rPr>
              <a:t>PK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46888" y="2011680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name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207008" y="201168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Varchar(255)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121408" y="2011680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Not null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01168" y="2331720"/>
            <a:ext cx="2834640" cy="34747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0" name="Text 18"/>
          <p:cNvSpPr/>
          <p:nvPr/>
        </p:nvSpPr>
        <p:spPr>
          <a:xfrm>
            <a:off x="246888" y="2359152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password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207008" y="2359152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Varchar(255)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2121408" y="2359152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Not null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46888" y="2706624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email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270662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Varchar(255)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121408" y="2706624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Not null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01168" y="3026664"/>
            <a:ext cx="2834640" cy="34747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7" name="Text 25"/>
          <p:cNvSpPr/>
          <p:nvPr/>
        </p:nvSpPr>
        <p:spPr>
          <a:xfrm>
            <a:off x="246888" y="3054096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 err="1">
                <a:solidFill>
                  <a:srgbClr val="1E293B"/>
                </a:solidFill>
              </a:rPr>
              <a:t>phone_no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3054096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Varchar(50)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121408" y="3054096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Default”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46888" y="3401568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address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207008" y="3401568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Varchar(500)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121408" y="3401568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Default “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172968" y="1005840"/>
            <a:ext cx="283464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172968" y="1005840"/>
            <a:ext cx="2834640" cy="384048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5" name="Text 33"/>
          <p:cNvSpPr/>
          <p:nvPr/>
        </p:nvSpPr>
        <p:spPr>
          <a:xfrm>
            <a:off x="3264408" y="1051560"/>
            <a:ext cx="2651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Bảng CATEGORY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172968" y="1389888"/>
            <a:ext cx="2834640" cy="2560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7" name="Text 35"/>
          <p:cNvSpPr/>
          <p:nvPr/>
        </p:nvSpPr>
        <p:spPr>
          <a:xfrm>
            <a:off x="3218688" y="1408176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Trường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178808" y="1408176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Kiểu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093208" y="1408176"/>
            <a:ext cx="868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Ghi chú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3172968" y="1636776"/>
            <a:ext cx="2834640" cy="34747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1" name="Text 39"/>
          <p:cNvSpPr/>
          <p:nvPr/>
        </p:nvSpPr>
        <p:spPr>
          <a:xfrm>
            <a:off x="3218688" y="1664208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id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178808" y="1664208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Int(11)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093208" y="1664208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9488"/>
                </a:solidFill>
              </a:rPr>
              <a:t>PK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3218688" y="2011680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name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178808" y="201168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Varchar(255)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5093208" y="2011680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Not null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3172968" y="2331720"/>
            <a:ext cx="2834640" cy="34747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51" name="Text 49"/>
          <p:cNvSpPr/>
          <p:nvPr/>
        </p:nvSpPr>
        <p:spPr>
          <a:xfrm>
            <a:off x="3264408" y="3403092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 err="1">
                <a:solidFill>
                  <a:srgbClr val="1E293B"/>
                </a:solidFill>
              </a:rPr>
              <a:t>active_flg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4178808" y="3374136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Int(11)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5093208" y="3395472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Default 1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3172968" y="3026664"/>
            <a:ext cx="2834640" cy="34747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55" name="Text 53"/>
          <p:cNvSpPr/>
          <p:nvPr/>
        </p:nvSpPr>
        <p:spPr>
          <a:xfrm>
            <a:off x="3218688" y="2389632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 err="1">
                <a:solidFill>
                  <a:srgbClr val="1E293B"/>
                </a:solidFill>
              </a:rPr>
              <a:t>create_date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178808" y="237744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Datetime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5093208" y="2395728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Default null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3218688" y="2688336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 err="1">
                <a:solidFill>
                  <a:srgbClr val="1E293B"/>
                </a:solidFill>
              </a:rPr>
              <a:t>update_date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4178808" y="2723388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Datetime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5093208" y="2729484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Default null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6108192" y="925286"/>
            <a:ext cx="283464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6108192" y="925286"/>
            <a:ext cx="2834640" cy="3840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63" name="Text 61"/>
          <p:cNvSpPr/>
          <p:nvPr/>
        </p:nvSpPr>
        <p:spPr>
          <a:xfrm>
            <a:off x="6199632" y="971006"/>
            <a:ext cx="2651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Bảng PRODUCT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6108192" y="1309334"/>
            <a:ext cx="2834640" cy="2560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5" name="Text 63"/>
          <p:cNvSpPr/>
          <p:nvPr/>
        </p:nvSpPr>
        <p:spPr>
          <a:xfrm>
            <a:off x="6153912" y="1327622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Trường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7114032" y="1327622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Kiểu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8028432" y="1327622"/>
            <a:ext cx="868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Ghi chú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108192" y="1556222"/>
            <a:ext cx="2834640" cy="34747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69" name="Text 67"/>
          <p:cNvSpPr/>
          <p:nvPr/>
        </p:nvSpPr>
        <p:spPr>
          <a:xfrm>
            <a:off x="6153912" y="1583654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id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7114032" y="158365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Int(11)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8028432" y="1583654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9488"/>
                </a:solidFill>
              </a:rPr>
              <a:t>PK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6153912" y="1931126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 err="1">
                <a:solidFill>
                  <a:srgbClr val="1E293B"/>
                </a:solidFill>
              </a:rPr>
              <a:t>categoryid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7114032" y="1931126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Int(11)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8028432" y="1931126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C3AED"/>
                </a:solidFill>
              </a:rPr>
              <a:t>FK → Category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6108192" y="2251166"/>
            <a:ext cx="2834640" cy="34747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76" name="Text 74"/>
          <p:cNvSpPr/>
          <p:nvPr/>
        </p:nvSpPr>
        <p:spPr>
          <a:xfrm>
            <a:off x="6153912" y="2278598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name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7114032" y="2278598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Varchar(255)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8028432" y="2278598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Not null</a:t>
            </a:r>
            <a:endParaRPr lang="en-US" sz="950" dirty="0"/>
          </a:p>
        </p:txBody>
      </p:sp>
      <p:sp>
        <p:nvSpPr>
          <p:cNvPr id="79" name="Text 77"/>
          <p:cNvSpPr/>
          <p:nvPr/>
        </p:nvSpPr>
        <p:spPr>
          <a:xfrm>
            <a:off x="6153912" y="2626070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price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7114032" y="262607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Int(11)</a:t>
            </a:r>
            <a:endParaRPr lang="en-US" sz="950" dirty="0"/>
          </a:p>
        </p:txBody>
      </p:sp>
      <p:sp>
        <p:nvSpPr>
          <p:cNvPr id="81" name="Text 79"/>
          <p:cNvSpPr/>
          <p:nvPr/>
        </p:nvSpPr>
        <p:spPr>
          <a:xfrm>
            <a:off x="8028432" y="2626070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Not null</a:t>
            </a:r>
            <a:endParaRPr lang="en-US" sz="950" dirty="0"/>
          </a:p>
        </p:txBody>
      </p:sp>
      <p:sp>
        <p:nvSpPr>
          <p:cNvPr id="82" name="Shape 80"/>
          <p:cNvSpPr/>
          <p:nvPr/>
        </p:nvSpPr>
        <p:spPr>
          <a:xfrm>
            <a:off x="6108192" y="2946110"/>
            <a:ext cx="2834640" cy="34747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83" name="Text 81"/>
          <p:cNvSpPr/>
          <p:nvPr/>
        </p:nvSpPr>
        <p:spPr>
          <a:xfrm>
            <a:off x="6153912" y="2973542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image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7114032" y="2973542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Varchar(255)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8028432" y="2973542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Not null</a:t>
            </a:r>
            <a:endParaRPr lang="en-US" sz="950" dirty="0"/>
          </a:p>
        </p:txBody>
      </p:sp>
      <p:sp>
        <p:nvSpPr>
          <p:cNvPr id="86" name="Text 84"/>
          <p:cNvSpPr/>
          <p:nvPr/>
        </p:nvSpPr>
        <p:spPr>
          <a:xfrm>
            <a:off x="6153912" y="3321014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size / weight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7114032" y="332101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Varchar(255)</a:t>
            </a:r>
            <a:endParaRPr lang="en-US" sz="950" dirty="0"/>
          </a:p>
        </p:txBody>
      </p:sp>
      <p:sp>
        <p:nvSpPr>
          <p:cNvPr id="88" name="Text 86"/>
          <p:cNvSpPr/>
          <p:nvPr/>
        </p:nvSpPr>
        <p:spPr>
          <a:xfrm>
            <a:off x="8028432" y="3321014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Not null</a:t>
            </a:r>
            <a:endParaRPr lang="en-US" sz="950" dirty="0"/>
          </a:p>
        </p:txBody>
      </p:sp>
      <p:sp>
        <p:nvSpPr>
          <p:cNvPr id="89" name="Shape 52">
            <a:extLst>
              <a:ext uri="{FF2B5EF4-FFF2-40B4-BE49-F238E27FC236}">
                <a16:creationId xmlns:a16="http://schemas.microsoft.com/office/drawing/2014/main" id="{36D9A420-26E9-2004-DAA1-29EEA8F0BC25}"/>
              </a:ext>
            </a:extLst>
          </p:cNvPr>
          <p:cNvSpPr/>
          <p:nvPr/>
        </p:nvSpPr>
        <p:spPr>
          <a:xfrm>
            <a:off x="201168" y="3672622"/>
            <a:ext cx="2834640" cy="34747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90" name="Text 53">
            <a:extLst>
              <a:ext uri="{FF2B5EF4-FFF2-40B4-BE49-F238E27FC236}">
                <a16:creationId xmlns:a16="http://schemas.microsoft.com/office/drawing/2014/main" id="{531475CC-ABBD-DF67-0BA5-EE8411567D04}"/>
              </a:ext>
            </a:extLst>
          </p:cNvPr>
          <p:cNvSpPr/>
          <p:nvPr/>
        </p:nvSpPr>
        <p:spPr>
          <a:xfrm>
            <a:off x="245582" y="3683726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 err="1">
                <a:solidFill>
                  <a:srgbClr val="1E293B"/>
                </a:solidFill>
              </a:rPr>
              <a:t>create_date</a:t>
            </a:r>
            <a:endParaRPr lang="en-US" sz="1000" dirty="0"/>
          </a:p>
        </p:txBody>
      </p:sp>
      <p:sp>
        <p:nvSpPr>
          <p:cNvPr id="91" name="Text 54">
            <a:extLst>
              <a:ext uri="{FF2B5EF4-FFF2-40B4-BE49-F238E27FC236}">
                <a16:creationId xmlns:a16="http://schemas.microsoft.com/office/drawing/2014/main" id="{02A956B3-C885-27EB-D68F-32E109FE1EB7}"/>
              </a:ext>
            </a:extLst>
          </p:cNvPr>
          <p:cNvSpPr/>
          <p:nvPr/>
        </p:nvSpPr>
        <p:spPr>
          <a:xfrm>
            <a:off x="1207008" y="3683726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Datetime</a:t>
            </a:r>
            <a:endParaRPr lang="en-US" sz="950" dirty="0"/>
          </a:p>
        </p:txBody>
      </p:sp>
      <p:sp>
        <p:nvSpPr>
          <p:cNvPr id="92" name="Text 55">
            <a:extLst>
              <a:ext uri="{FF2B5EF4-FFF2-40B4-BE49-F238E27FC236}">
                <a16:creationId xmlns:a16="http://schemas.microsoft.com/office/drawing/2014/main" id="{8C3982AA-67AD-CF52-D957-25DB3DD79EA7}"/>
              </a:ext>
            </a:extLst>
          </p:cNvPr>
          <p:cNvSpPr/>
          <p:nvPr/>
        </p:nvSpPr>
        <p:spPr>
          <a:xfrm>
            <a:off x="2120102" y="3721608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Default null</a:t>
            </a:r>
            <a:endParaRPr lang="en-US" sz="950" dirty="0"/>
          </a:p>
        </p:txBody>
      </p:sp>
      <p:sp>
        <p:nvSpPr>
          <p:cNvPr id="93" name="Text 56">
            <a:extLst>
              <a:ext uri="{FF2B5EF4-FFF2-40B4-BE49-F238E27FC236}">
                <a16:creationId xmlns:a16="http://schemas.microsoft.com/office/drawing/2014/main" id="{B1C63294-0CF9-E856-1F4D-8C7D19F4D4CA}"/>
              </a:ext>
            </a:extLst>
          </p:cNvPr>
          <p:cNvSpPr/>
          <p:nvPr/>
        </p:nvSpPr>
        <p:spPr>
          <a:xfrm>
            <a:off x="246888" y="3991356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 err="1">
                <a:solidFill>
                  <a:srgbClr val="1E293B"/>
                </a:solidFill>
              </a:rPr>
              <a:t>update_date</a:t>
            </a:r>
            <a:endParaRPr lang="en-US" sz="1000" dirty="0"/>
          </a:p>
        </p:txBody>
      </p:sp>
      <p:sp>
        <p:nvSpPr>
          <p:cNvPr id="94" name="Text 54">
            <a:extLst>
              <a:ext uri="{FF2B5EF4-FFF2-40B4-BE49-F238E27FC236}">
                <a16:creationId xmlns:a16="http://schemas.microsoft.com/office/drawing/2014/main" id="{3BC72CDF-4091-1F3F-3A27-11E9AC2DB21F}"/>
              </a:ext>
            </a:extLst>
          </p:cNvPr>
          <p:cNvSpPr/>
          <p:nvPr/>
        </p:nvSpPr>
        <p:spPr>
          <a:xfrm>
            <a:off x="1205702" y="402009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Datetime</a:t>
            </a:r>
            <a:endParaRPr lang="en-US" sz="950" dirty="0"/>
          </a:p>
        </p:txBody>
      </p:sp>
      <p:sp>
        <p:nvSpPr>
          <p:cNvPr id="96" name="Text 55">
            <a:extLst>
              <a:ext uri="{FF2B5EF4-FFF2-40B4-BE49-F238E27FC236}">
                <a16:creationId xmlns:a16="http://schemas.microsoft.com/office/drawing/2014/main" id="{7F1738DA-C4BD-C941-7866-2E7786F46A3C}"/>
              </a:ext>
            </a:extLst>
          </p:cNvPr>
          <p:cNvSpPr/>
          <p:nvPr/>
        </p:nvSpPr>
        <p:spPr>
          <a:xfrm>
            <a:off x="2121408" y="4006596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Default null</a:t>
            </a:r>
            <a:endParaRPr lang="en-US" sz="950" dirty="0"/>
          </a:p>
        </p:txBody>
      </p:sp>
      <p:sp>
        <p:nvSpPr>
          <p:cNvPr id="97" name="Text 49">
            <a:extLst>
              <a:ext uri="{FF2B5EF4-FFF2-40B4-BE49-F238E27FC236}">
                <a16:creationId xmlns:a16="http://schemas.microsoft.com/office/drawing/2014/main" id="{CC85F1B0-3C3D-B507-56C7-F8410BB263CB}"/>
              </a:ext>
            </a:extLst>
          </p:cNvPr>
          <p:cNvSpPr/>
          <p:nvPr/>
        </p:nvSpPr>
        <p:spPr>
          <a:xfrm>
            <a:off x="245582" y="4332732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Active_flg</a:t>
            </a:r>
            <a:endParaRPr lang="en-US" sz="1000" dirty="0"/>
          </a:p>
        </p:txBody>
      </p:sp>
      <p:sp>
        <p:nvSpPr>
          <p:cNvPr id="98" name="Shape 45">
            <a:extLst>
              <a:ext uri="{FF2B5EF4-FFF2-40B4-BE49-F238E27FC236}">
                <a16:creationId xmlns:a16="http://schemas.microsoft.com/office/drawing/2014/main" id="{6DA80034-D52A-425C-B087-ADD3C42FA26A}"/>
              </a:ext>
            </a:extLst>
          </p:cNvPr>
          <p:cNvSpPr/>
          <p:nvPr/>
        </p:nvSpPr>
        <p:spPr>
          <a:xfrm>
            <a:off x="201168" y="4277868"/>
            <a:ext cx="2834640" cy="347472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99" name="Text 53">
            <a:extLst>
              <a:ext uri="{FF2B5EF4-FFF2-40B4-BE49-F238E27FC236}">
                <a16:creationId xmlns:a16="http://schemas.microsoft.com/office/drawing/2014/main" id="{E9EAB4BD-6EED-54A9-067E-A3354607868A}"/>
              </a:ext>
            </a:extLst>
          </p:cNvPr>
          <p:cNvSpPr/>
          <p:nvPr/>
        </p:nvSpPr>
        <p:spPr>
          <a:xfrm>
            <a:off x="245582" y="4312702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 err="1">
                <a:solidFill>
                  <a:srgbClr val="1E293B"/>
                </a:solidFill>
              </a:rPr>
              <a:t>active_flg</a:t>
            </a:r>
            <a:endParaRPr lang="en-US" sz="1000" dirty="0"/>
          </a:p>
        </p:txBody>
      </p:sp>
      <p:sp>
        <p:nvSpPr>
          <p:cNvPr id="100" name="Text 12">
            <a:extLst>
              <a:ext uri="{FF2B5EF4-FFF2-40B4-BE49-F238E27FC236}">
                <a16:creationId xmlns:a16="http://schemas.microsoft.com/office/drawing/2014/main" id="{6DE7859F-9788-02F1-F9D3-766819548468}"/>
              </a:ext>
            </a:extLst>
          </p:cNvPr>
          <p:cNvSpPr/>
          <p:nvPr/>
        </p:nvSpPr>
        <p:spPr>
          <a:xfrm>
            <a:off x="1207008" y="4312702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Int(11)</a:t>
            </a:r>
            <a:endParaRPr lang="en-US" sz="950" dirty="0"/>
          </a:p>
        </p:txBody>
      </p:sp>
      <p:sp>
        <p:nvSpPr>
          <p:cNvPr id="101" name="Text 27">
            <a:extLst>
              <a:ext uri="{FF2B5EF4-FFF2-40B4-BE49-F238E27FC236}">
                <a16:creationId xmlns:a16="http://schemas.microsoft.com/office/drawing/2014/main" id="{646A539F-3C07-2ED0-6E8F-6279F7E0D1A2}"/>
              </a:ext>
            </a:extLst>
          </p:cNvPr>
          <p:cNvSpPr/>
          <p:nvPr/>
        </p:nvSpPr>
        <p:spPr>
          <a:xfrm>
            <a:off x="2121408" y="4283964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Default 1</a:t>
            </a:r>
            <a:endParaRPr lang="en-US" sz="950" dirty="0"/>
          </a:p>
        </p:txBody>
      </p:sp>
      <p:sp>
        <p:nvSpPr>
          <p:cNvPr id="103" name="Text 56">
            <a:extLst>
              <a:ext uri="{FF2B5EF4-FFF2-40B4-BE49-F238E27FC236}">
                <a16:creationId xmlns:a16="http://schemas.microsoft.com/office/drawing/2014/main" id="{02032193-ADD7-79CD-B62A-57C271576622}"/>
              </a:ext>
            </a:extLst>
          </p:cNvPr>
          <p:cNvSpPr/>
          <p:nvPr/>
        </p:nvSpPr>
        <p:spPr>
          <a:xfrm>
            <a:off x="245582" y="4547616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status</a:t>
            </a:r>
            <a:endParaRPr lang="en-US" sz="1000" dirty="0"/>
          </a:p>
        </p:txBody>
      </p:sp>
      <p:sp>
        <p:nvSpPr>
          <p:cNvPr id="105" name="Text 12">
            <a:extLst>
              <a:ext uri="{FF2B5EF4-FFF2-40B4-BE49-F238E27FC236}">
                <a16:creationId xmlns:a16="http://schemas.microsoft.com/office/drawing/2014/main" id="{3F7F3E15-C11A-97F8-7BD4-6088FC0F2CD6}"/>
              </a:ext>
            </a:extLst>
          </p:cNvPr>
          <p:cNvSpPr/>
          <p:nvPr/>
        </p:nvSpPr>
        <p:spPr>
          <a:xfrm>
            <a:off x="1205702" y="456873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Int(11)</a:t>
            </a:r>
            <a:endParaRPr lang="en-US" sz="950" dirty="0"/>
          </a:p>
        </p:txBody>
      </p:sp>
      <p:sp>
        <p:nvSpPr>
          <p:cNvPr id="107" name="Text 27">
            <a:extLst>
              <a:ext uri="{FF2B5EF4-FFF2-40B4-BE49-F238E27FC236}">
                <a16:creationId xmlns:a16="http://schemas.microsoft.com/office/drawing/2014/main" id="{79987192-309F-E32B-35F2-187F8B2BBF0B}"/>
              </a:ext>
            </a:extLst>
          </p:cNvPr>
          <p:cNvSpPr/>
          <p:nvPr/>
        </p:nvSpPr>
        <p:spPr>
          <a:xfrm>
            <a:off x="2121408" y="4582668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Default 1</a:t>
            </a:r>
            <a:endParaRPr lang="en-US" sz="950" dirty="0"/>
          </a:p>
        </p:txBody>
      </p:sp>
      <p:sp>
        <p:nvSpPr>
          <p:cNvPr id="112" name="Text 12">
            <a:extLst>
              <a:ext uri="{FF2B5EF4-FFF2-40B4-BE49-F238E27FC236}">
                <a16:creationId xmlns:a16="http://schemas.microsoft.com/office/drawing/2014/main" id="{9F6F8959-1C18-FDDB-0E53-B6C642AE7A50}"/>
              </a:ext>
            </a:extLst>
          </p:cNvPr>
          <p:cNvSpPr/>
          <p:nvPr/>
        </p:nvSpPr>
        <p:spPr>
          <a:xfrm>
            <a:off x="4178808" y="3092958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Int(11)</a:t>
            </a:r>
            <a:endParaRPr lang="en-US" sz="950" dirty="0"/>
          </a:p>
        </p:txBody>
      </p:sp>
      <p:sp>
        <p:nvSpPr>
          <p:cNvPr id="113" name="Text 27">
            <a:extLst>
              <a:ext uri="{FF2B5EF4-FFF2-40B4-BE49-F238E27FC236}">
                <a16:creationId xmlns:a16="http://schemas.microsoft.com/office/drawing/2014/main" id="{C8D67DD4-C71A-121B-F3A9-CA453813AD6E}"/>
              </a:ext>
            </a:extLst>
          </p:cNvPr>
          <p:cNvSpPr/>
          <p:nvPr/>
        </p:nvSpPr>
        <p:spPr>
          <a:xfrm>
            <a:off x="5093208" y="3099816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Default 1</a:t>
            </a:r>
            <a:endParaRPr lang="en-US" sz="950" dirty="0"/>
          </a:p>
        </p:txBody>
      </p:sp>
      <p:sp>
        <p:nvSpPr>
          <p:cNvPr id="114" name="Shape 45">
            <a:extLst>
              <a:ext uri="{FF2B5EF4-FFF2-40B4-BE49-F238E27FC236}">
                <a16:creationId xmlns:a16="http://schemas.microsoft.com/office/drawing/2014/main" id="{6C8531A0-27AF-D3DC-D1BD-19127D4A6372}"/>
              </a:ext>
            </a:extLst>
          </p:cNvPr>
          <p:cNvSpPr/>
          <p:nvPr/>
        </p:nvSpPr>
        <p:spPr>
          <a:xfrm>
            <a:off x="6108192" y="3613622"/>
            <a:ext cx="2834640" cy="34747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16" name="Text 46">
            <a:extLst>
              <a:ext uri="{FF2B5EF4-FFF2-40B4-BE49-F238E27FC236}">
                <a16:creationId xmlns:a16="http://schemas.microsoft.com/office/drawing/2014/main" id="{71076187-7C64-8445-C755-F5A52773D4DD}"/>
              </a:ext>
            </a:extLst>
          </p:cNvPr>
          <p:cNvSpPr/>
          <p:nvPr/>
        </p:nvSpPr>
        <p:spPr>
          <a:xfrm>
            <a:off x="6153912" y="3697660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description</a:t>
            </a:r>
            <a:endParaRPr lang="en-US" sz="1000" dirty="0"/>
          </a:p>
        </p:txBody>
      </p:sp>
      <p:sp>
        <p:nvSpPr>
          <p:cNvPr id="117" name="Text 47">
            <a:extLst>
              <a:ext uri="{FF2B5EF4-FFF2-40B4-BE49-F238E27FC236}">
                <a16:creationId xmlns:a16="http://schemas.microsoft.com/office/drawing/2014/main" id="{450E528C-96A1-30DE-4D53-C62F9C7D0F69}"/>
              </a:ext>
            </a:extLst>
          </p:cNvPr>
          <p:cNvSpPr/>
          <p:nvPr/>
        </p:nvSpPr>
        <p:spPr>
          <a:xfrm>
            <a:off x="7114032" y="3653028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Varchar(255)</a:t>
            </a:r>
            <a:endParaRPr lang="en-US" sz="950" dirty="0"/>
          </a:p>
        </p:txBody>
      </p:sp>
      <p:sp>
        <p:nvSpPr>
          <p:cNvPr id="118" name="Text 48">
            <a:extLst>
              <a:ext uri="{FF2B5EF4-FFF2-40B4-BE49-F238E27FC236}">
                <a16:creationId xmlns:a16="http://schemas.microsoft.com/office/drawing/2014/main" id="{5CF502B4-6614-7C73-E1DE-97F2FF6D5852}"/>
              </a:ext>
            </a:extLst>
          </p:cNvPr>
          <p:cNvSpPr/>
          <p:nvPr/>
        </p:nvSpPr>
        <p:spPr>
          <a:xfrm>
            <a:off x="8028432" y="3624290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Not null</a:t>
            </a:r>
            <a:endParaRPr lang="en-US" sz="950" dirty="0"/>
          </a:p>
        </p:txBody>
      </p:sp>
      <p:sp>
        <p:nvSpPr>
          <p:cNvPr id="119" name="Text 53">
            <a:extLst>
              <a:ext uri="{FF2B5EF4-FFF2-40B4-BE49-F238E27FC236}">
                <a16:creationId xmlns:a16="http://schemas.microsoft.com/office/drawing/2014/main" id="{99C78409-8B69-65C7-128A-C69F7009D50C}"/>
              </a:ext>
            </a:extLst>
          </p:cNvPr>
          <p:cNvSpPr/>
          <p:nvPr/>
        </p:nvSpPr>
        <p:spPr>
          <a:xfrm>
            <a:off x="3264408" y="3092958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status</a:t>
            </a:r>
            <a:endParaRPr lang="en-US" sz="1000" dirty="0"/>
          </a:p>
        </p:txBody>
      </p:sp>
      <p:sp>
        <p:nvSpPr>
          <p:cNvPr id="120" name="Shape 45">
            <a:extLst>
              <a:ext uri="{FF2B5EF4-FFF2-40B4-BE49-F238E27FC236}">
                <a16:creationId xmlns:a16="http://schemas.microsoft.com/office/drawing/2014/main" id="{ADAC43ED-D47F-0385-7977-58B3C7857D94}"/>
              </a:ext>
            </a:extLst>
          </p:cNvPr>
          <p:cNvSpPr/>
          <p:nvPr/>
        </p:nvSpPr>
        <p:spPr>
          <a:xfrm>
            <a:off x="6108192" y="4290278"/>
            <a:ext cx="2834640" cy="34747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21" name="Text 53">
            <a:extLst>
              <a:ext uri="{FF2B5EF4-FFF2-40B4-BE49-F238E27FC236}">
                <a16:creationId xmlns:a16="http://schemas.microsoft.com/office/drawing/2014/main" id="{55DD1F50-6DFC-A7AA-D6E9-8F1581479F4E}"/>
              </a:ext>
            </a:extLst>
          </p:cNvPr>
          <p:cNvSpPr/>
          <p:nvPr/>
        </p:nvSpPr>
        <p:spPr>
          <a:xfrm>
            <a:off x="6153912" y="4299422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 err="1">
                <a:solidFill>
                  <a:srgbClr val="1E293B"/>
                </a:solidFill>
              </a:rPr>
              <a:t>update_date</a:t>
            </a:r>
            <a:endParaRPr lang="en-US" sz="1000" dirty="0"/>
          </a:p>
        </p:txBody>
      </p:sp>
      <p:sp>
        <p:nvSpPr>
          <p:cNvPr id="122" name="Text 54">
            <a:extLst>
              <a:ext uri="{FF2B5EF4-FFF2-40B4-BE49-F238E27FC236}">
                <a16:creationId xmlns:a16="http://schemas.microsoft.com/office/drawing/2014/main" id="{43C11B1B-0ED1-63FE-1B1A-73BE4E774169}"/>
              </a:ext>
            </a:extLst>
          </p:cNvPr>
          <p:cNvSpPr/>
          <p:nvPr/>
        </p:nvSpPr>
        <p:spPr>
          <a:xfrm>
            <a:off x="7114032" y="428396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Datetime</a:t>
            </a:r>
            <a:endParaRPr lang="en-US" sz="950" dirty="0"/>
          </a:p>
        </p:txBody>
      </p:sp>
      <p:sp>
        <p:nvSpPr>
          <p:cNvPr id="123" name="Text 55">
            <a:extLst>
              <a:ext uri="{FF2B5EF4-FFF2-40B4-BE49-F238E27FC236}">
                <a16:creationId xmlns:a16="http://schemas.microsoft.com/office/drawing/2014/main" id="{7D7ABDE2-B005-B11B-A102-3A26CD7160EB}"/>
              </a:ext>
            </a:extLst>
          </p:cNvPr>
          <p:cNvSpPr/>
          <p:nvPr/>
        </p:nvSpPr>
        <p:spPr>
          <a:xfrm>
            <a:off x="8028432" y="4294052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Default null</a:t>
            </a:r>
            <a:endParaRPr lang="en-US" sz="950" dirty="0"/>
          </a:p>
        </p:txBody>
      </p:sp>
      <p:sp>
        <p:nvSpPr>
          <p:cNvPr id="125" name="Text 53">
            <a:extLst>
              <a:ext uri="{FF2B5EF4-FFF2-40B4-BE49-F238E27FC236}">
                <a16:creationId xmlns:a16="http://schemas.microsoft.com/office/drawing/2014/main" id="{15B795B9-2E39-7E00-4C6B-93D7F46E02E7}"/>
              </a:ext>
            </a:extLst>
          </p:cNvPr>
          <p:cNvSpPr/>
          <p:nvPr/>
        </p:nvSpPr>
        <p:spPr>
          <a:xfrm>
            <a:off x="6153912" y="4051010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 err="1">
                <a:solidFill>
                  <a:srgbClr val="1E293B"/>
                </a:solidFill>
              </a:rPr>
              <a:t>create_date</a:t>
            </a:r>
            <a:endParaRPr lang="en-US" sz="1000" dirty="0"/>
          </a:p>
        </p:txBody>
      </p:sp>
      <p:sp>
        <p:nvSpPr>
          <p:cNvPr id="127" name="Text 54">
            <a:extLst>
              <a:ext uri="{FF2B5EF4-FFF2-40B4-BE49-F238E27FC236}">
                <a16:creationId xmlns:a16="http://schemas.microsoft.com/office/drawing/2014/main" id="{BE263C62-CB93-EC7A-4ED8-38A7A9EA1B46}"/>
              </a:ext>
            </a:extLst>
          </p:cNvPr>
          <p:cNvSpPr/>
          <p:nvPr/>
        </p:nvSpPr>
        <p:spPr>
          <a:xfrm>
            <a:off x="7114032" y="4032722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Datetime</a:t>
            </a:r>
            <a:endParaRPr lang="en-US" sz="950" dirty="0"/>
          </a:p>
        </p:txBody>
      </p:sp>
      <p:sp>
        <p:nvSpPr>
          <p:cNvPr id="128" name="Text 55">
            <a:extLst>
              <a:ext uri="{FF2B5EF4-FFF2-40B4-BE49-F238E27FC236}">
                <a16:creationId xmlns:a16="http://schemas.microsoft.com/office/drawing/2014/main" id="{57F768B0-1127-161E-5031-AE28440954C9}"/>
              </a:ext>
            </a:extLst>
          </p:cNvPr>
          <p:cNvSpPr/>
          <p:nvPr/>
        </p:nvSpPr>
        <p:spPr>
          <a:xfrm>
            <a:off x="8028432" y="4051010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Default null</a:t>
            </a:r>
            <a:endParaRPr lang="en-US" sz="950" dirty="0"/>
          </a:p>
        </p:txBody>
      </p:sp>
      <p:sp>
        <p:nvSpPr>
          <p:cNvPr id="129" name="Text 49">
            <a:extLst>
              <a:ext uri="{FF2B5EF4-FFF2-40B4-BE49-F238E27FC236}">
                <a16:creationId xmlns:a16="http://schemas.microsoft.com/office/drawing/2014/main" id="{2462221C-EE9B-72D5-7E2D-506CB149D73C}"/>
              </a:ext>
            </a:extLst>
          </p:cNvPr>
          <p:cNvSpPr/>
          <p:nvPr/>
        </p:nvSpPr>
        <p:spPr>
          <a:xfrm>
            <a:off x="6198326" y="4720046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Active_flg</a:t>
            </a:r>
            <a:endParaRPr lang="en-US" sz="1000" dirty="0"/>
          </a:p>
        </p:txBody>
      </p:sp>
      <p:sp>
        <p:nvSpPr>
          <p:cNvPr id="130" name="Shape 45">
            <a:extLst>
              <a:ext uri="{FF2B5EF4-FFF2-40B4-BE49-F238E27FC236}">
                <a16:creationId xmlns:a16="http://schemas.microsoft.com/office/drawing/2014/main" id="{8E27998C-D95C-891A-52B9-E076C9265A8C}"/>
              </a:ext>
            </a:extLst>
          </p:cNvPr>
          <p:cNvSpPr/>
          <p:nvPr/>
        </p:nvSpPr>
        <p:spPr>
          <a:xfrm>
            <a:off x="6108192" y="4601682"/>
            <a:ext cx="2834640" cy="347472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31" name="Text 53">
            <a:extLst>
              <a:ext uri="{FF2B5EF4-FFF2-40B4-BE49-F238E27FC236}">
                <a16:creationId xmlns:a16="http://schemas.microsoft.com/office/drawing/2014/main" id="{CB2A0751-B4D8-8530-F3EB-A13B1A219CB2}"/>
              </a:ext>
            </a:extLst>
          </p:cNvPr>
          <p:cNvSpPr/>
          <p:nvPr/>
        </p:nvSpPr>
        <p:spPr>
          <a:xfrm>
            <a:off x="6153912" y="4473158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 err="1">
                <a:solidFill>
                  <a:srgbClr val="1E293B"/>
                </a:solidFill>
              </a:rPr>
              <a:t>active_flg</a:t>
            </a:r>
            <a:endParaRPr lang="en-US" sz="1000" dirty="0"/>
          </a:p>
        </p:txBody>
      </p:sp>
      <p:sp>
        <p:nvSpPr>
          <p:cNvPr id="132" name="Text 12">
            <a:extLst>
              <a:ext uri="{FF2B5EF4-FFF2-40B4-BE49-F238E27FC236}">
                <a16:creationId xmlns:a16="http://schemas.microsoft.com/office/drawing/2014/main" id="{F71DFDDA-1322-01B7-EA68-C57D34EE5FF4}"/>
              </a:ext>
            </a:extLst>
          </p:cNvPr>
          <p:cNvSpPr/>
          <p:nvPr/>
        </p:nvSpPr>
        <p:spPr>
          <a:xfrm>
            <a:off x="7114032" y="447773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Int(11)</a:t>
            </a:r>
            <a:endParaRPr lang="en-US" sz="950" dirty="0"/>
          </a:p>
        </p:txBody>
      </p:sp>
      <p:sp>
        <p:nvSpPr>
          <p:cNvPr id="133" name="Text 27">
            <a:extLst>
              <a:ext uri="{FF2B5EF4-FFF2-40B4-BE49-F238E27FC236}">
                <a16:creationId xmlns:a16="http://schemas.microsoft.com/office/drawing/2014/main" id="{3D5C7232-7D82-676E-96B6-B17F1C85787A}"/>
              </a:ext>
            </a:extLst>
          </p:cNvPr>
          <p:cNvSpPr/>
          <p:nvPr/>
        </p:nvSpPr>
        <p:spPr>
          <a:xfrm>
            <a:off x="8028432" y="4473158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Default 1</a:t>
            </a:r>
            <a:endParaRPr lang="en-US" sz="950" dirty="0"/>
          </a:p>
        </p:txBody>
      </p:sp>
      <p:sp>
        <p:nvSpPr>
          <p:cNvPr id="134" name="Text 56">
            <a:extLst>
              <a:ext uri="{FF2B5EF4-FFF2-40B4-BE49-F238E27FC236}">
                <a16:creationId xmlns:a16="http://schemas.microsoft.com/office/drawing/2014/main" id="{E1608ECF-873F-2318-5188-617B2D6DCA0C}"/>
              </a:ext>
            </a:extLst>
          </p:cNvPr>
          <p:cNvSpPr/>
          <p:nvPr/>
        </p:nvSpPr>
        <p:spPr>
          <a:xfrm>
            <a:off x="6153912" y="4625340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status</a:t>
            </a:r>
            <a:endParaRPr lang="en-US" sz="1000" dirty="0"/>
          </a:p>
        </p:txBody>
      </p:sp>
      <p:sp>
        <p:nvSpPr>
          <p:cNvPr id="135" name="Text 12">
            <a:extLst>
              <a:ext uri="{FF2B5EF4-FFF2-40B4-BE49-F238E27FC236}">
                <a16:creationId xmlns:a16="http://schemas.microsoft.com/office/drawing/2014/main" id="{659E151F-112E-435F-48D5-A0961E6D61B8}"/>
              </a:ext>
            </a:extLst>
          </p:cNvPr>
          <p:cNvSpPr/>
          <p:nvPr/>
        </p:nvSpPr>
        <p:spPr>
          <a:xfrm>
            <a:off x="7114032" y="4635428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Int(11)</a:t>
            </a:r>
            <a:endParaRPr lang="en-US" sz="950" dirty="0"/>
          </a:p>
        </p:txBody>
      </p:sp>
      <p:sp>
        <p:nvSpPr>
          <p:cNvPr id="136" name="Text 27">
            <a:extLst>
              <a:ext uri="{FF2B5EF4-FFF2-40B4-BE49-F238E27FC236}">
                <a16:creationId xmlns:a16="http://schemas.microsoft.com/office/drawing/2014/main" id="{0D556321-65C3-DFEE-E10E-75969149EEDE}"/>
              </a:ext>
            </a:extLst>
          </p:cNvPr>
          <p:cNvSpPr/>
          <p:nvPr/>
        </p:nvSpPr>
        <p:spPr>
          <a:xfrm>
            <a:off x="8028432" y="4646894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Default 1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B8A6"/>
                </a:solidFill>
              </a:rPr>
              <a:t>03  |  PHÂN TÍCH HỆ THỐNG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420624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Thiết Kế Cơ Sở Dữ Liệu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01168" y="1005840"/>
            <a:ext cx="283464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01168" y="1005840"/>
            <a:ext cx="2834640" cy="38404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292608" y="1051560"/>
            <a:ext cx="2651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FFFFFF"/>
                </a:solidFill>
              </a:rPr>
              <a:t>Bảng</a:t>
            </a:r>
            <a:r>
              <a:rPr lang="en-US" sz="1200" b="1" dirty="0">
                <a:solidFill>
                  <a:srgbClr val="FFFFFF"/>
                </a:solidFill>
              </a:rPr>
              <a:t> ORDER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01168" y="1389888"/>
            <a:ext cx="2834640" cy="2560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" name="Text 7"/>
          <p:cNvSpPr/>
          <p:nvPr/>
        </p:nvSpPr>
        <p:spPr>
          <a:xfrm>
            <a:off x="246888" y="1408176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Trường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207008" y="1408176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Kiểu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121408" y="1408176"/>
            <a:ext cx="868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Ghi chú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01168" y="1636776"/>
            <a:ext cx="2834640" cy="34747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3" name="Text 11"/>
          <p:cNvSpPr/>
          <p:nvPr/>
        </p:nvSpPr>
        <p:spPr>
          <a:xfrm>
            <a:off x="246888" y="1664208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id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207008" y="1664208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Int(11)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121408" y="1664208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9488"/>
                </a:solidFill>
              </a:rPr>
              <a:t>PK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46888" y="2011680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 err="1">
                <a:solidFill>
                  <a:srgbClr val="1E293B"/>
                </a:solidFill>
              </a:rPr>
              <a:t>orderNumber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207008" y="201168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Varchar(255)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121408" y="2011680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Not null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01168" y="2331720"/>
            <a:ext cx="2834640" cy="34747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0" name="Text 18"/>
          <p:cNvSpPr/>
          <p:nvPr/>
        </p:nvSpPr>
        <p:spPr>
          <a:xfrm>
            <a:off x="246888" y="2359152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 err="1">
                <a:solidFill>
                  <a:srgbClr val="1E293B"/>
                </a:solidFill>
              </a:rPr>
              <a:t>totalAmount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207008" y="2359152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Int(11)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2121408" y="2359152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Not null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46888" y="2706624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 err="1">
                <a:solidFill>
                  <a:srgbClr val="1E293B"/>
                </a:solidFill>
              </a:rPr>
              <a:t>userid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270662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Int(11)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121408" y="2706624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Not null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172968" y="1005840"/>
            <a:ext cx="283464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172968" y="1005840"/>
            <a:ext cx="2834640" cy="384048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35" name="Text 33"/>
          <p:cNvSpPr/>
          <p:nvPr/>
        </p:nvSpPr>
        <p:spPr>
          <a:xfrm>
            <a:off x="3264408" y="1051560"/>
            <a:ext cx="2651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FFFFFF"/>
                </a:solidFill>
              </a:rPr>
              <a:t>Bảng</a:t>
            </a:r>
            <a:r>
              <a:rPr lang="en-US" sz="1200" b="1" dirty="0">
                <a:solidFill>
                  <a:srgbClr val="FFFFFF"/>
                </a:solidFill>
              </a:rPr>
              <a:t> </a:t>
            </a:r>
            <a:r>
              <a:rPr lang="en-US" sz="1200" b="1" dirty="0" err="1">
                <a:solidFill>
                  <a:srgbClr val="FFFFFF"/>
                </a:solidFill>
              </a:rPr>
              <a:t>ORDERDETAIL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172968" y="1389888"/>
            <a:ext cx="2834640" cy="2560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7" name="Text 35"/>
          <p:cNvSpPr/>
          <p:nvPr/>
        </p:nvSpPr>
        <p:spPr>
          <a:xfrm>
            <a:off x="3218688" y="1408176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Trường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178808" y="1408176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Kiểu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093208" y="1408176"/>
            <a:ext cx="868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Ghi chú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3172968" y="1636776"/>
            <a:ext cx="2834640" cy="34747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1" name="Text 39"/>
          <p:cNvSpPr/>
          <p:nvPr/>
        </p:nvSpPr>
        <p:spPr>
          <a:xfrm>
            <a:off x="3218688" y="1664208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id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178808" y="1664208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Int(11)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093208" y="1664208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D9488"/>
                </a:solidFill>
              </a:rPr>
              <a:t>PK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3218688" y="2011680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productid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178808" y="201168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Int(11)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5093208" y="2011680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dirty="0">
                <a:solidFill>
                  <a:srgbClr val="7C3AED"/>
                </a:solidFill>
              </a:rPr>
              <a:t>FK → Product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3172968" y="2331720"/>
            <a:ext cx="2834640" cy="34747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8" name="Text 46"/>
          <p:cNvSpPr/>
          <p:nvPr/>
        </p:nvSpPr>
        <p:spPr>
          <a:xfrm>
            <a:off x="3218688" y="2359152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 err="1">
                <a:solidFill>
                  <a:srgbClr val="1E293B"/>
                </a:solidFill>
              </a:rPr>
              <a:t>orderid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4178808" y="2359152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Int(11)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5093208" y="2359152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dirty="0">
                <a:solidFill>
                  <a:srgbClr val="7C3AED"/>
                </a:solidFill>
              </a:rPr>
              <a:t>FK → Order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3218688" y="2706624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quantity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4178808" y="270662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Int(11)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5093208" y="2706624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Not null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6236208" y="1051560"/>
            <a:ext cx="2651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Bảng PRODUCT</a:t>
            </a:r>
            <a:endParaRPr lang="en-US" sz="1200" dirty="0"/>
          </a:p>
        </p:txBody>
      </p:sp>
      <p:sp>
        <p:nvSpPr>
          <p:cNvPr id="96" name="Shape 45">
            <a:extLst>
              <a:ext uri="{FF2B5EF4-FFF2-40B4-BE49-F238E27FC236}">
                <a16:creationId xmlns:a16="http://schemas.microsoft.com/office/drawing/2014/main" id="{93DF5D1D-89B2-C768-E6C1-9202B3027BBE}"/>
              </a:ext>
            </a:extLst>
          </p:cNvPr>
          <p:cNvSpPr/>
          <p:nvPr/>
        </p:nvSpPr>
        <p:spPr>
          <a:xfrm>
            <a:off x="201168" y="2935224"/>
            <a:ext cx="2834640" cy="34747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97" name="Text 53">
            <a:extLst>
              <a:ext uri="{FF2B5EF4-FFF2-40B4-BE49-F238E27FC236}">
                <a16:creationId xmlns:a16="http://schemas.microsoft.com/office/drawing/2014/main" id="{972098E6-F1BD-51BF-CFE4-43C0BE35C894}"/>
              </a:ext>
            </a:extLst>
          </p:cNvPr>
          <p:cNvSpPr/>
          <p:nvPr/>
        </p:nvSpPr>
        <p:spPr>
          <a:xfrm>
            <a:off x="246888" y="2993136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 err="1">
                <a:solidFill>
                  <a:srgbClr val="1E293B"/>
                </a:solidFill>
              </a:rPr>
              <a:t>create_date</a:t>
            </a:r>
            <a:endParaRPr lang="en-US" sz="1000" dirty="0"/>
          </a:p>
        </p:txBody>
      </p:sp>
      <p:sp>
        <p:nvSpPr>
          <p:cNvPr id="98" name="Text 54">
            <a:extLst>
              <a:ext uri="{FF2B5EF4-FFF2-40B4-BE49-F238E27FC236}">
                <a16:creationId xmlns:a16="http://schemas.microsoft.com/office/drawing/2014/main" id="{9924050D-FE11-3812-24B6-959BD4A2C862}"/>
              </a:ext>
            </a:extLst>
          </p:cNvPr>
          <p:cNvSpPr/>
          <p:nvPr/>
        </p:nvSpPr>
        <p:spPr>
          <a:xfrm>
            <a:off x="1207008" y="298094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Datetime</a:t>
            </a:r>
            <a:endParaRPr lang="en-US" sz="950" dirty="0"/>
          </a:p>
        </p:txBody>
      </p:sp>
      <p:sp>
        <p:nvSpPr>
          <p:cNvPr id="99" name="Text 55">
            <a:extLst>
              <a:ext uri="{FF2B5EF4-FFF2-40B4-BE49-F238E27FC236}">
                <a16:creationId xmlns:a16="http://schemas.microsoft.com/office/drawing/2014/main" id="{29D4D6FF-6836-0A0E-8CEC-5969E404ECD8}"/>
              </a:ext>
            </a:extLst>
          </p:cNvPr>
          <p:cNvSpPr/>
          <p:nvPr/>
        </p:nvSpPr>
        <p:spPr>
          <a:xfrm>
            <a:off x="2121408" y="2999232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Default null</a:t>
            </a:r>
            <a:endParaRPr lang="en-US" sz="950" dirty="0"/>
          </a:p>
        </p:txBody>
      </p:sp>
      <p:sp>
        <p:nvSpPr>
          <p:cNvPr id="100" name="Text 56">
            <a:extLst>
              <a:ext uri="{FF2B5EF4-FFF2-40B4-BE49-F238E27FC236}">
                <a16:creationId xmlns:a16="http://schemas.microsoft.com/office/drawing/2014/main" id="{7CC0274A-BBB2-F1A2-4FB9-C6BD8D13876D}"/>
              </a:ext>
            </a:extLst>
          </p:cNvPr>
          <p:cNvSpPr/>
          <p:nvPr/>
        </p:nvSpPr>
        <p:spPr>
          <a:xfrm>
            <a:off x="246888" y="3291840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 err="1">
                <a:solidFill>
                  <a:srgbClr val="1E293B"/>
                </a:solidFill>
              </a:rPr>
              <a:t>update_date</a:t>
            </a:r>
            <a:endParaRPr lang="en-US" sz="1000" dirty="0"/>
          </a:p>
        </p:txBody>
      </p:sp>
      <p:sp>
        <p:nvSpPr>
          <p:cNvPr id="101" name="Text 57">
            <a:extLst>
              <a:ext uri="{FF2B5EF4-FFF2-40B4-BE49-F238E27FC236}">
                <a16:creationId xmlns:a16="http://schemas.microsoft.com/office/drawing/2014/main" id="{48DF74EB-60BB-D5BD-DB69-96469024F693}"/>
              </a:ext>
            </a:extLst>
          </p:cNvPr>
          <p:cNvSpPr/>
          <p:nvPr/>
        </p:nvSpPr>
        <p:spPr>
          <a:xfrm>
            <a:off x="1207008" y="3326892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Datetime</a:t>
            </a:r>
            <a:endParaRPr lang="en-US" sz="950" dirty="0"/>
          </a:p>
        </p:txBody>
      </p:sp>
      <p:sp>
        <p:nvSpPr>
          <p:cNvPr id="102" name="Text 58">
            <a:extLst>
              <a:ext uri="{FF2B5EF4-FFF2-40B4-BE49-F238E27FC236}">
                <a16:creationId xmlns:a16="http://schemas.microsoft.com/office/drawing/2014/main" id="{280AEA33-D354-68C9-E682-7911A091BC48}"/>
              </a:ext>
            </a:extLst>
          </p:cNvPr>
          <p:cNvSpPr/>
          <p:nvPr/>
        </p:nvSpPr>
        <p:spPr>
          <a:xfrm>
            <a:off x="2121408" y="3332988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Default null</a:t>
            </a:r>
            <a:endParaRPr lang="en-US" sz="950" dirty="0"/>
          </a:p>
        </p:txBody>
      </p:sp>
      <p:sp>
        <p:nvSpPr>
          <p:cNvPr id="103" name="Shape 52">
            <a:extLst>
              <a:ext uri="{FF2B5EF4-FFF2-40B4-BE49-F238E27FC236}">
                <a16:creationId xmlns:a16="http://schemas.microsoft.com/office/drawing/2014/main" id="{E3100B7A-DA4E-201E-C10B-C7736579A377}"/>
              </a:ext>
            </a:extLst>
          </p:cNvPr>
          <p:cNvSpPr/>
          <p:nvPr/>
        </p:nvSpPr>
        <p:spPr>
          <a:xfrm>
            <a:off x="201168" y="3557016"/>
            <a:ext cx="2834640" cy="34747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04" name="Text 12">
            <a:extLst>
              <a:ext uri="{FF2B5EF4-FFF2-40B4-BE49-F238E27FC236}">
                <a16:creationId xmlns:a16="http://schemas.microsoft.com/office/drawing/2014/main" id="{BDA8A154-7939-E386-C9E5-FC44ED1D1EC5}"/>
              </a:ext>
            </a:extLst>
          </p:cNvPr>
          <p:cNvSpPr/>
          <p:nvPr/>
        </p:nvSpPr>
        <p:spPr>
          <a:xfrm>
            <a:off x="1207008" y="362331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Int(11)</a:t>
            </a:r>
            <a:endParaRPr lang="en-US" sz="950" dirty="0"/>
          </a:p>
        </p:txBody>
      </p:sp>
      <p:sp>
        <p:nvSpPr>
          <p:cNvPr id="105" name="Text 27">
            <a:extLst>
              <a:ext uri="{FF2B5EF4-FFF2-40B4-BE49-F238E27FC236}">
                <a16:creationId xmlns:a16="http://schemas.microsoft.com/office/drawing/2014/main" id="{556B9264-5B2E-20C0-1B9D-7A283FD53250}"/>
              </a:ext>
            </a:extLst>
          </p:cNvPr>
          <p:cNvSpPr/>
          <p:nvPr/>
        </p:nvSpPr>
        <p:spPr>
          <a:xfrm>
            <a:off x="2121408" y="3630168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Default 1</a:t>
            </a:r>
            <a:endParaRPr lang="en-US" sz="950" dirty="0"/>
          </a:p>
        </p:txBody>
      </p:sp>
      <p:sp>
        <p:nvSpPr>
          <p:cNvPr id="106" name="Text 53">
            <a:extLst>
              <a:ext uri="{FF2B5EF4-FFF2-40B4-BE49-F238E27FC236}">
                <a16:creationId xmlns:a16="http://schemas.microsoft.com/office/drawing/2014/main" id="{C637E8A7-B4B7-B385-3CBA-71C61EB17F07}"/>
              </a:ext>
            </a:extLst>
          </p:cNvPr>
          <p:cNvSpPr/>
          <p:nvPr/>
        </p:nvSpPr>
        <p:spPr>
          <a:xfrm>
            <a:off x="246888" y="3599180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status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4108505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B8A6"/>
                </a:solidFill>
              </a:rPr>
              <a:t>03  |  PHÂN TÍCH HỆ THỐNG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420624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Giao Diện Hệ Thống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411480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005840"/>
            <a:ext cx="4114800" cy="38404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384048" y="1051560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🖥️  GIAO DIỆN NGƯỜI DÙNG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481328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9488"/>
                </a:solidFill>
              </a:rPr>
              <a:t>▸  </a:t>
            </a:r>
            <a:r>
              <a:rPr lang="en-US" sz="1150" dirty="0">
                <a:solidFill>
                  <a:srgbClr val="1E293B"/>
                </a:solidFill>
              </a:rPr>
              <a:t>Trang chủ: banner, sản phẩm nổi bật, bán chạy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11480" y="1901952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9488"/>
                </a:solidFill>
              </a:rPr>
              <a:t>▸  </a:t>
            </a:r>
            <a:r>
              <a:rPr lang="en-US" sz="1150" dirty="0">
                <a:solidFill>
                  <a:srgbClr val="1E293B"/>
                </a:solidFill>
              </a:rPr>
              <a:t>Danh sách sản phẩm theo danh mục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11480" y="2322576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9488"/>
                </a:solidFill>
              </a:rPr>
              <a:t>▸  </a:t>
            </a:r>
            <a:r>
              <a:rPr lang="en-US" sz="1150" dirty="0">
                <a:solidFill>
                  <a:srgbClr val="1E293B"/>
                </a:solidFill>
              </a:rPr>
              <a:t>Trang chi tiết sản phẩm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11480" y="2743200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9488"/>
                </a:solidFill>
              </a:rPr>
              <a:t>▸  </a:t>
            </a:r>
            <a:r>
              <a:rPr lang="en-US" sz="1150" dirty="0">
                <a:solidFill>
                  <a:srgbClr val="1E293B"/>
                </a:solidFill>
              </a:rPr>
              <a:t>Nhãn hàng và footer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11480" y="3163824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9488"/>
                </a:solidFill>
              </a:rPr>
              <a:t>▸  </a:t>
            </a:r>
            <a:r>
              <a:rPr lang="en-US" sz="1150" dirty="0">
                <a:solidFill>
                  <a:srgbClr val="1E293B"/>
                </a:solidFill>
              </a:rPr>
              <a:t>Giỏ hàng &amp; thanh toán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11480" y="3584448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D9488"/>
                </a:solidFill>
              </a:rPr>
              <a:t>▸  </a:t>
            </a:r>
            <a:r>
              <a:rPr lang="en-US" sz="1150" dirty="0">
                <a:solidFill>
                  <a:srgbClr val="1E293B"/>
                </a:solidFill>
              </a:rPr>
              <a:t>Chatbot tư vấn sản phẩm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754880" y="1005840"/>
            <a:ext cx="4114800" cy="38404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54880" y="1005840"/>
            <a:ext cx="4114800" cy="384048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16" name="Text 14"/>
          <p:cNvSpPr/>
          <p:nvPr/>
        </p:nvSpPr>
        <p:spPr>
          <a:xfrm>
            <a:off x="4864608" y="1051560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⚙️  GIAO DIỆN QUẢN TRỊ (ADMIN)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81328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9E0B"/>
                </a:solidFill>
              </a:rPr>
              <a:t>▸  </a:t>
            </a:r>
            <a:r>
              <a:rPr lang="en-US" sz="1150" dirty="0">
                <a:solidFill>
                  <a:srgbClr val="1E293B"/>
                </a:solidFill>
              </a:rPr>
              <a:t>Dashboard tổng quan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892040" y="1901952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9E0B"/>
                </a:solidFill>
              </a:rPr>
              <a:t>▸  </a:t>
            </a:r>
            <a:r>
              <a:rPr lang="en-US" sz="1150" dirty="0">
                <a:solidFill>
                  <a:srgbClr val="1E293B"/>
                </a:solidFill>
              </a:rPr>
              <a:t>Quản lý người dùng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892040" y="2322576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9E0B"/>
                </a:solidFill>
              </a:rPr>
              <a:t>▸  </a:t>
            </a:r>
            <a:r>
              <a:rPr lang="en-US" sz="1150" dirty="0">
                <a:solidFill>
                  <a:srgbClr val="1E293B"/>
                </a:solidFill>
              </a:rPr>
              <a:t>Quản lý danh mục sản phẩm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892040" y="2743200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9E0B"/>
                </a:solidFill>
              </a:rPr>
              <a:t>▸  </a:t>
            </a:r>
            <a:r>
              <a:rPr lang="en-US" sz="1150" dirty="0">
                <a:solidFill>
                  <a:srgbClr val="1E293B"/>
                </a:solidFill>
              </a:rPr>
              <a:t>Quản lý sản phẩm (thêm/sửa/xóa)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892040" y="3163824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9E0B"/>
                </a:solidFill>
              </a:rPr>
              <a:t>▸  </a:t>
            </a:r>
            <a:r>
              <a:rPr lang="en-US" sz="1150" dirty="0">
                <a:solidFill>
                  <a:srgbClr val="1E293B"/>
                </a:solidFill>
              </a:rPr>
              <a:t>Quản lý đơn hàng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892040" y="3584448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9E0B"/>
                </a:solidFill>
              </a:rPr>
              <a:t>▸  </a:t>
            </a:r>
            <a:r>
              <a:rPr lang="en-US" sz="1150" dirty="0">
                <a:solidFill>
                  <a:srgbClr val="1E293B"/>
                </a:solidFill>
              </a:rPr>
              <a:t>Chi tiết hóa đơn &amp; chỉnh sửa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B8A6"/>
                </a:solidFill>
              </a:rPr>
              <a:t>04  |  XÂY DỰNG CHATBOT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420624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Kiến Trúc &amp; Luồng Xử Lý ChatBot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56032" y="1051560"/>
            <a:ext cx="128016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56032" y="1051560"/>
            <a:ext cx="1280160" cy="7315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256032" y="11430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💬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56032" y="149047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D1B2A"/>
                </a:solidFill>
              </a:rPr>
              <a:t>ChatBox UI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56032" y="1801368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Giao diện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nhập tin nhắn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554480" y="1719072"/>
            <a:ext cx="146304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72768" y="1618488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D9488"/>
                </a:solidFill>
              </a:rPr>
              <a:t>▶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719072" y="1051560"/>
            <a:ext cx="128016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1719072" y="1051560"/>
            <a:ext cx="1280160" cy="7315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4" name="Text 12"/>
          <p:cNvSpPr/>
          <p:nvPr/>
        </p:nvSpPr>
        <p:spPr>
          <a:xfrm>
            <a:off x="1719072" y="11430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🔍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719072" y="149047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D1B2A"/>
                </a:solidFill>
              </a:rPr>
              <a:t>Xử lý Text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19072" y="1801368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Chuẩn hóa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nội dung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017520" y="1719072"/>
            <a:ext cx="146304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35808" y="1618488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D9488"/>
                </a:solidFill>
              </a:rPr>
              <a:t>▶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182112" y="1051560"/>
            <a:ext cx="128016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182112" y="1051560"/>
            <a:ext cx="1280160" cy="7315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1" name="Text 19"/>
          <p:cNvSpPr/>
          <p:nvPr/>
        </p:nvSpPr>
        <p:spPr>
          <a:xfrm>
            <a:off x="3182112" y="11430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🧠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3182112" y="149047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D1B2A"/>
                </a:solidFill>
              </a:rPr>
              <a:t>Phân tích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0D1B2A"/>
                </a:solidFill>
              </a:rPr>
              <a:t>Intent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182112" y="1801368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Xác định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ý định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480560" y="1719072"/>
            <a:ext cx="146304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98848" y="1618488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D9488"/>
                </a:solidFill>
              </a:rPr>
              <a:t>▶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645152" y="1051560"/>
            <a:ext cx="128016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45152" y="1051560"/>
            <a:ext cx="1280160" cy="7315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8" name="Text 26"/>
          <p:cNvSpPr/>
          <p:nvPr/>
        </p:nvSpPr>
        <p:spPr>
          <a:xfrm>
            <a:off x="4645152" y="11430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🗃️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4645152" y="149047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D1B2A"/>
                </a:solidFill>
              </a:rPr>
              <a:t>Lấy dữ liệu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645152" y="1801368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FrontEnd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Data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943600" y="1719072"/>
            <a:ext cx="146304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61888" y="1618488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D9488"/>
                </a:solidFill>
              </a:rPr>
              <a:t>▶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108192" y="1051560"/>
            <a:ext cx="128016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108192" y="1051560"/>
            <a:ext cx="1280160" cy="7315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5" name="Text 33"/>
          <p:cNvSpPr/>
          <p:nvPr/>
        </p:nvSpPr>
        <p:spPr>
          <a:xfrm>
            <a:off x="6108192" y="11430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💾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6108192" y="149047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D1B2A"/>
                </a:solidFill>
              </a:rPr>
              <a:t>LocalStorage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108192" y="1801368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Lưu hành vi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người dùng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7406640" y="1719072"/>
            <a:ext cx="146304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424928" y="1618488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D9488"/>
                </a:solidFill>
              </a:rPr>
              <a:t>▶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7571232" y="1051560"/>
            <a:ext cx="128016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7571232" y="1051560"/>
            <a:ext cx="1280160" cy="7315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2" name="Text 40"/>
          <p:cNvSpPr/>
          <p:nvPr/>
        </p:nvSpPr>
        <p:spPr>
          <a:xfrm>
            <a:off x="7571232" y="114300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📤</a:t>
            </a:r>
            <a:endParaRPr lang="en-US" sz="2000" dirty="0"/>
          </a:p>
        </p:txBody>
      </p:sp>
      <p:sp>
        <p:nvSpPr>
          <p:cNvPr id="43" name="Text 41"/>
          <p:cNvSpPr/>
          <p:nvPr/>
        </p:nvSpPr>
        <p:spPr>
          <a:xfrm>
            <a:off x="7571232" y="149047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D1B2A"/>
                </a:solidFill>
              </a:rPr>
              <a:t>Trả kết quả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571232" y="1801368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Hiển thị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phản hồi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274320" y="2606040"/>
            <a:ext cx="859536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274320" y="2606040"/>
            <a:ext cx="8595360" cy="347472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47" name="Text 45"/>
          <p:cNvSpPr/>
          <p:nvPr/>
        </p:nvSpPr>
        <p:spPr>
          <a:xfrm>
            <a:off x="384048" y="26517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🧩  THÀNH PHẦN CHÍNH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65760" y="3017520"/>
            <a:ext cx="4114800" cy="731520"/>
          </a:xfrm>
          <a:prstGeom prst="rect">
            <a:avLst/>
          </a:prstGeom>
          <a:solidFill>
            <a:srgbClr val="F0F9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65760" y="3017520"/>
            <a:ext cx="45720" cy="7315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50" name="Text 48"/>
          <p:cNvSpPr/>
          <p:nvPr/>
        </p:nvSpPr>
        <p:spPr>
          <a:xfrm>
            <a:off x="411480" y="3044952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</a:rPr>
              <a:t>ChatBox Component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411480" y="3319272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Quản lý UI nhập/hiện tin nhắn, useState &amp; useEffect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663440" y="3017520"/>
            <a:ext cx="4114800" cy="731520"/>
          </a:xfrm>
          <a:prstGeom prst="rect">
            <a:avLst/>
          </a:prstGeom>
          <a:solidFill>
            <a:srgbClr val="F0F9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663440" y="3017520"/>
            <a:ext cx="45720" cy="7315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54" name="Text 52"/>
          <p:cNvSpPr/>
          <p:nvPr/>
        </p:nvSpPr>
        <p:spPr>
          <a:xfrm>
            <a:off x="4709160" y="3044952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</a:rPr>
              <a:t>handleBotResponse()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4709160" y="3319272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Hàm xử lý trung tâm, điều phối toàn bộ logic chatbot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365760" y="3822192"/>
            <a:ext cx="4114800" cy="731520"/>
          </a:xfrm>
          <a:prstGeom prst="rect">
            <a:avLst/>
          </a:prstGeom>
          <a:solidFill>
            <a:srgbClr val="F0F9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65760" y="3822192"/>
            <a:ext cx="45720" cy="7315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58" name="Text 56"/>
          <p:cNvSpPr/>
          <p:nvPr/>
        </p:nvSpPr>
        <p:spPr>
          <a:xfrm>
            <a:off x="411480" y="3849624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</a:rPr>
              <a:t>Text Processor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411480" y="412394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Chuẩn hóa lowercase, loại ký tự đặc biệt, chuẩn hóa tiếng Việt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4663440" y="3822192"/>
            <a:ext cx="4114800" cy="731520"/>
          </a:xfrm>
          <a:prstGeom prst="rect">
            <a:avLst/>
          </a:prstGeom>
          <a:solidFill>
            <a:srgbClr val="F0F9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663440" y="3822192"/>
            <a:ext cx="45720" cy="7315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2" name="Text 60"/>
          <p:cNvSpPr/>
          <p:nvPr/>
        </p:nvSpPr>
        <p:spPr>
          <a:xfrm>
            <a:off x="4709160" y="3849624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</a:rPr>
              <a:t>Intent Classifier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4709160" y="412394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Rule-based: giá, loại SP, FAQ, bán chạy, mới, gợi ý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B8A6"/>
                </a:solidFill>
              </a:rPr>
              <a:t>04  |  XÂY DỰNG CHATBOT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420624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Các Chức Năng Chính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28600" y="1005840"/>
            <a:ext cx="2788920" cy="17830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1005840"/>
            <a:ext cx="64008" cy="17830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Shape 5"/>
          <p:cNvSpPr/>
          <p:nvPr/>
        </p:nvSpPr>
        <p:spPr>
          <a:xfrm>
            <a:off x="356616" y="1133856"/>
            <a:ext cx="457200" cy="4572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" y="11338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86968" y="1152144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</a:rPr>
              <a:t>Trả lời FAQ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56616" y="1682496"/>
            <a:ext cx="2560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Dữ liệu từ file .txt (câu hỏi–trả lời). Dùng Levenshtein để khớp câu hỏi gần giống nhất.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72968" y="1005840"/>
            <a:ext cx="2788920" cy="17830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172968" y="1005840"/>
            <a:ext cx="64008" cy="178308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3" name="Shape 11"/>
          <p:cNvSpPr/>
          <p:nvPr/>
        </p:nvSpPr>
        <p:spPr>
          <a:xfrm>
            <a:off x="3300984" y="1133856"/>
            <a:ext cx="457200" cy="457200"/>
          </a:xfrm>
          <a:prstGeom prst="ellipse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00984" y="11338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💰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831336" y="1152144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369A1"/>
                </a:solidFill>
              </a:rPr>
              <a:t>Tìm kiếm theo giá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00984" y="1682496"/>
            <a:ext cx="2560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Ví dụ: "dưới 300k", "từ 100k đến 500k". Trích xuất số bằng regex, lọc sản phẩm theo khoảng.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17336" y="1005840"/>
            <a:ext cx="2788920" cy="17830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17336" y="1005840"/>
            <a:ext cx="64008" cy="17830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9" name="Shape 17"/>
          <p:cNvSpPr/>
          <p:nvPr/>
        </p:nvSpPr>
        <p:spPr>
          <a:xfrm>
            <a:off x="6245352" y="1133856"/>
            <a:ext cx="457200" cy="4572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45352" y="11338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🏷️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775704" y="1152144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A34A"/>
                </a:solidFill>
              </a:rPr>
              <a:t>Lọc theo loại SP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245352" y="1682496"/>
            <a:ext cx="2560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Hỗ trợ: HG, RG, MG, PG, Figure. Ví dụ: "HG dưới 300k". Kết hợp lọc loại và giá.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28600" y="2999232"/>
            <a:ext cx="2788920" cy="17830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28600" y="2999232"/>
            <a:ext cx="64008" cy="178308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5" name="Shape 23"/>
          <p:cNvSpPr/>
          <p:nvPr/>
        </p:nvSpPr>
        <p:spPr>
          <a:xfrm>
            <a:off x="356616" y="3127248"/>
            <a:ext cx="457200" cy="45720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56616" y="31272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🔥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86968" y="3145536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</a:rPr>
              <a:t>Sản phẩm bán chạy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56616" y="3675888"/>
            <a:ext cx="2560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Từ khóa: "bán chạy", "hot", "best seller". Gọi API lấy top sản phẩm bán nhiều nhất.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172968" y="2999232"/>
            <a:ext cx="2788920" cy="17830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172968" y="2999232"/>
            <a:ext cx="64008" cy="17830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1" name="Shape 29"/>
          <p:cNvSpPr/>
          <p:nvPr/>
        </p:nvSpPr>
        <p:spPr>
          <a:xfrm>
            <a:off x="3300984" y="3127248"/>
            <a:ext cx="457200" cy="4572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300984" y="31272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✨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831336" y="3145536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</a:rPr>
              <a:t>Sản phẩm mới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300984" y="3675888"/>
            <a:ext cx="2560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Từ khóa: "mới", "new". Sắp xếp sản phẩm theo ngày tạo, trả về danh sách mới nhất.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117336" y="2999232"/>
            <a:ext cx="2788920" cy="17830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117336" y="2999232"/>
            <a:ext cx="64008" cy="1783080"/>
          </a:xfrm>
          <a:prstGeom prst="rect">
            <a:avLst/>
          </a:prstGeom>
          <a:solidFill>
            <a:srgbClr val="DB2777"/>
          </a:solidFill>
          <a:ln/>
        </p:spPr>
      </p:sp>
      <p:sp>
        <p:nvSpPr>
          <p:cNvPr id="37" name="Shape 35"/>
          <p:cNvSpPr/>
          <p:nvPr/>
        </p:nvSpPr>
        <p:spPr>
          <a:xfrm>
            <a:off x="6245352" y="3127248"/>
            <a:ext cx="457200" cy="457200"/>
          </a:xfrm>
          <a:prstGeom prst="ellipse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245352" y="31272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🎯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775704" y="3145536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B2777"/>
                </a:solidFill>
              </a:rPr>
              <a:t>Gợi ý thông minh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245352" y="3675888"/>
            <a:ext cx="2560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Dựa trên hành vi người dùng lưu trong localStorage + loại/giá ưa thích. "gợi ý riêng" cho kết quả cá nhân.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B8A6"/>
                </a:solidFill>
              </a:rPr>
              <a:t>04  |  XÂY DỰNG CHATBOT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420624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Thuật Toán Xử Lý Cốt Lõi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502920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005840"/>
            <a:ext cx="5029200" cy="38404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384048" y="1051560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📐  Thuật toán Levenshtein Distance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46304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</a:rPr>
              <a:t>Đo độ tương đồng giữa hai chuỗi ký tự để nhận diện câu hỏi gần giống và xử lý lỗi chính tả.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65760" y="2029968"/>
            <a:ext cx="4846320" cy="685800"/>
          </a:xfrm>
          <a:prstGeom prst="rect">
            <a:avLst/>
          </a:prstGeom>
          <a:solidFill>
            <a:srgbClr val="F0F9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066544"/>
            <a:ext cx="4663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lev(i,j) = max(i,j) nếu min(i,j) = 0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min( lev(i-1,j)+1, lev(i,j-1)+1, lev(i-1,j-1)+[aᵢ≠bⱼ] ) ngược lại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11480" y="27889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9488"/>
                </a:solidFill>
              </a:rPr>
              <a:t>✓ Nhận diện câu hỏi gần giống  ✓ Xử lý lỗi chính tả  ✓ Không phân biệt dấu/không dấu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577840" y="1005840"/>
            <a:ext cx="329184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577840" y="1005840"/>
            <a:ext cx="3291840" cy="384048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14" name="Text 12"/>
          <p:cNvSpPr/>
          <p:nvPr/>
        </p:nvSpPr>
        <p:spPr>
          <a:xfrm>
            <a:off x="5687568" y="1051560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⚙️  Các kỹ thuật khác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687568" y="1481328"/>
            <a:ext cx="3017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</a:rPr>
              <a:t>Chuẩn hóa đầu vào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87568" y="1682496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Lowercase, loại ký tự đặc biệt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687568" y="1901952"/>
            <a:ext cx="3017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</a:rPr>
              <a:t>Advanced Matching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87568" y="2103120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Đếm từ trùng, cụm từ liên tiếp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687568" y="2322576"/>
            <a:ext cx="3017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</a:rPr>
              <a:t>Regex Price Extract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687568" y="2523744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Trích xuất min/max giá từ câu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87568" y="2743200"/>
            <a:ext cx="3017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</a:rPr>
              <a:t>Content-based Filter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87568" y="2944368"/>
            <a:ext cx="3017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Lọc theo loại SP + kết hợp random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74320" y="3401568"/>
            <a:ext cx="859536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74320" y="3401568"/>
            <a:ext cx="8595360" cy="34747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5" name="Text 23"/>
          <p:cNvSpPr/>
          <p:nvPr/>
        </p:nvSpPr>
        <p:spPr>
          <a:xfrm>
            <a:off x="384048" y="344728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💾  Cơ chế lưu hành vi người dùng (LocalStorage)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11480" y="3822192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</a:rPr>
              <a:t>User chat  →  </a:t>
            </a:r>
            <a:r>
              <a:rPr lang="en-US" sz="1150" b="1" dirty="0">
                <a:solidFill>
                  <a:srgbClr val="0D9488"/>
                </a:solidFill>
              </a:rPr>
              <a:t>Phân tích text  →  Lưu loại SP &amp; giá  →  Cộng dồn hành vi  →  Xác định sở thích  →  </a:t>
            </a:r>
            <a:r>
              <a:rPr lang="en-US" sz="1150" b="1" dirty="0">
                <a:solidFill>
                  <a:srgbClr val="7C3AED"/>
                </a:solidFill>
              </a:rPr>
              <a:t>Recommend sản phẩm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B8A6"/>
                </a:solidFill>
              </a:rPr>
              <a:t>04  |  XÂY DỰNG CHATBOT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420624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Kết Quả Kiểm Thử &amp; Đánh Giá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859536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005840"/>
            <a:ext cx="8595360" cy="34747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384048" y="10515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🧪  Kết Quả Kiểm Thử Chức Năng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353312"/>
            <a:ext cx="8595360" cy="2560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" name="Text 7"/>
          <p:cNvSpPr/>
          <p:nvPr/>
        </p:nvSpPr>
        <p:spPr>
          <a:xfrm>
            <a:off x="347472" y="1371600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93B"/>
                </a:solidFill>
              </a:rPr>
              <a:t>Input mẫu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127248" y="1371600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93B"/>
                </a:solidFill>
              </a:rPr>
              <a:t>Kết quả mong đợi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821424" y="1371600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93B"/>
                </a:solidFill>
              </a:rPr>
              <a:t>Thực tế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4320" y="1627632"/>
            <a:ext cx="8595360" cy="32004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3" name="Text 11"/>
          <p:cNvSpPr/>
          <p:nvPr/>
        </p:nvSpPr>
        <p:spPr>
          <a:xfrm>
            <a:off x="347472" y="1645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"hàng mới" / "hang moi"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127248" y="1645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5 sản phẩm mới nhất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21424" y="16459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Đúng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47472" y="1965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"HG dưới 300k" / "HG duoi 300k"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127248" y="1965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SP HG có giá &lt; 300k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21424" y="19659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Đúng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" y="2267712"/>
            <a:ext cx="8595360" cy="32004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0" name="Text 18"/>
          <p:cNvSpPr/>
          <p:nvPr/>
        </p:nvSpPr>
        <p:spPr>
          <a:xfrm>
            <a:off x="347472" y="2286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"hot" / "best seller"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127248" y="2286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Top 5 bán chạy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21424" y="22860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Đúng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47472" y="2606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"gợi ý riêng" (có lịch sử)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127248" y="2606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SP theo loại quan tâm nhất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821424" y="2606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Đúng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74320" y="2907792"/>
            <a:ext cx="8595360" cy="32004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7" name="Text 25"/>
          <p:cNvSpPr/>
          <p:nvPr/>
        </p:nvSpPr>
        <p:spPr>
          <a:xfrm>
            <a:off x="347472" y="29260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"1/144 1/100" (FAQ thiếu ngữ cảnh)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127248" y="2926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Câu trả lời FAQ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821424" y="29260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D97706"/>
                </a:solidFill>
              </a:rPr>
              <a:t>⚠️ Default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74320" y="3383280"/>
            <a:ext cx="4160520" cy="15087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74320" y="3383280"/>
            <a:ext cx="4160520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2" name="Text 30"/>
          <p:cNvSpPr/>
          <p:nvPr/>
        </p:nvSpPr>
        <p:spPr>
          <a:xfrm>
            <a:off x="384048" y="342900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✅  Ưu điểm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11480" y="3803904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• Phản hồi nhanh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11480" y="4050792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• Dễ triển khai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11480" y="429768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• Tích hợp tốt với hệ thống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11480" y="4544568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• Không cần backend phức tạp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709160" y="3383280"/>
            <a:ext cx="4160520" cy="15087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09160" y="3383280"/>
            <a:ext cx="4160520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9" name="Text 37"/>
          <p:cNvSpPr/>
          <p:nvPr/>
        </p:nvSpPr>
        <p:spPr>
          <a:xfrm>
            <a:off x="4818888" y="342900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⚠️  Nhược điểm &amp; Hướng phát triển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828032" y="3803904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• Chưa hiểu ngữ nghĩa sâu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828032" y="4050792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• Phụ thuộc vào từ khóa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828032" y="429768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• Nâng cấp: tích hợp NLP / ML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828032" y="4544568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• Đồng bộ dữ liệu đa thiết bị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31520" y="3200400"/>
            <a:ext cx="3657600" cy="3657600"/>
          </a:xfrm>
          <a:prstGeom prst="ellipse">
            <a:avLst/>
          </a:prstGeom>
          <a:solidFill>
            <a:srgbClr val="0D9488">
              <a:alpha val="12000"/>
            </a:srgbClr>
          </a:solidFill>
          <a:ln w="12700">
            <a:solidFill>
              <a:srgbClr val="0D9488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-731520"/>
            <a:ext cx="2743200" cy="2743200"/>
          </a:xfrm>
          <a:prstGeom prst="ellipse">
            <a:avLst/>
          </a:prstGeom>
          <a:solidFill>
            <a:srgbClr val="14B8A6">
              <a:alpha val="15000"/>
            </a:srgbClr>
          </a:solidFill>
          <a:ln w="12700">
            <a:solidFill>
              <a:srgbClr val="14B8A6">
                <a:alpha val="15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kern="0" spc="300" dirty="0">
                <a:solidFill>
                  <a:srgbClr val="14B8A6"/>
                </a:solidFill>
              </a:rPr>
              <a:t>KẾT LUẬN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786384"/>
            <a:ext cx="45720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960120"/>
            <a:ext cx="8229600" cy="822960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960120"/>
            <a:ext cx="54864" cy="8229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1005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🌐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097280" y="1024128"/>
            <a:ext cx="7452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Website TMĐT hoàn chỉnh cho cửa hàng Gundam &amp; Figure, đặt hàng trực tuyến dễ dàng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920240"/>
            <a:ext cx="8229600" cy="822960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920240"/>
            <a:ext cx="54864" cy="8229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1965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⚙️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097280" y="1984248"/>
            <a:ext cx="7452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Trang quản trị admin đầy đủ: quản lý SP, đơn hàng, người dùng, danh mục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2880360"/>
            <a:ext cx="8229600" cy="822960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2880360"/>
            <a:ext cx="54864" cy="8229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926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097280" y="2944368"/>
            <a:ext cx="7452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Chatbot thông minh hỗ trợ FAQ, tìm kiếm theo giá/loại, gợi ý sản phẩm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840480"/>
            <a:ext cx="8229600" cy="822960"/>
          </a:xfrm>
          <a:prstGeom prst="rect">
            <a:avLst/>
          </a:prstGeom>
          <a:solidFill>
            <a:srgbClr val="FFFFFF">
              <a:alpha val="7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840480"/>
            <a:ext cx="54864" cy="8229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0" name="Text 18"/>
          <p:cNvSpPr/>
          <p:nvPr/>
        </p:nvSpPr>
        <p:spPr>
          <a:xfrm>
            <a:off x="566928" y="3886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💡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097280" y="3904488"/>
            <a:ext cx="7452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Hệ thống recommendation dựa trên hành vi người dùng qua localStorage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14B8A6"/>
                </a:solidFill>
              </a:rPr>
              <a:t>Cảm ơn Hội đồng đã lắng nghe!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1905</Words>
  <Application>Microsoft Office PowerPoint</Application>
  <PresentationFormat>On-screen Show (16:9)</PresentationFormat>
  <Paragraphs>396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Đồ Án Tốt Nghiệp - Website TMĐT Gundam &amp; Figure</dc:title>
  <dc:subject>PptxGenJS Presentation</dc:subject>
  <dc:creator>PptxGenJS</dc:creator>
  <cp:lastModifiedBy>nguyen nguyen</cp:lastModifiedBy>
  <cp:revision>12</cp:revision>
  <dcterms:created xsi:type="dcterms:W3CDTF">2026-05-09T01:23:45Z</dcterms:created>
  <dcterms:modified xsi:type="dcterms:W3CDTF">2026-05-09T02:39:50Z</dcterms:modified>
</cp:coreProperties>
</file>